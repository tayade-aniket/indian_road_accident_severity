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4.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9" d="100"/>
          <a:sy n="99" d="100"/>
        </p:scale>
        <p:origin x="54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3A5F"/>
                </a:solidFill>
                <a:latin typeface="Calibri"/>
              </a:defRPr>
            </a:pPr>
            <a:r>
              <a:rPr lang="en-US" sz="1300" b="0" i="0" u="none" strike="noStrike">
                <a:solidFill>
                  <a:srgbClr val="1B3A5F"/>
                </a:solidFill>
                <a:latin typeface="Calibri"/>
              </a:rPr>
              <a:t>Crashes by severity (n = 20,000)</a:t>
            </a:r>
          </a:p>
        </c:rich>
      </c:tx>
      <c:overlay val="0"/>
    </c:title>
    <c:autoTitleDeleted val="0"/>
    <c:plotArea>
      <c:layout/>
      <c:barChart>
        <c:barDir val="col"/>
        <c:grouping val="clustered"/>
        <c:varyColors val="0"/>
        <c:ser>
          <c:idx val="0"/>
          <c:order val="0"/>
          <c:tx>
            <c:strRef>
              <c:f>Sheet1!$B$1</c:f>
              <c:strCache>
                <c:ptCount val="1"/>
                <c:pt idx="0">
                  <c:v>Crashes</c:v>
                </c:pt>
              </c:strCache>
            </c:strRef>
          </c:tx>
          <c:spPr>
            <a:solidFill>
              <a:srgbClr val="2E8B8B"/>
            </a:solidFill>
            <a:effectLst/>
          </c:spPr>
          <c:invertIfNegative val="0"/>
          <c:dPt>
            <c:idx val="0"/>
            <c:invertIfNegative val="0"/>
            <c:bubble3D val="0"/>
            <c:extLst>
              <c:ext xmlns:c16="http://schemas.microsoft.com/office/drawing/2014/chart" uri="{C3380CC4-5D6E-409C-BE32-E72D297353CC}">
                <c16:uniqueId val="{00000001-A1AF-49C2-8308-0C4240D23051}"/>
              </c:ext>
            </c:extLst>
          </c:dPt>
          <c:dPt>
            <c:idx val="1"/>
            <c:invertIfNegative val="0"/>
            <c:bubble3D val="0"/>
            <c:spPr>
              <a:solidFill>
                <a:srgbClr val="1B3A5F"/>
              </a:solidFill>
              <a:effectLst/>
            </c:spPr>
            <c:extLst>
              <c:ext xmlns:c16="http://schemas.microsoft.com/office/drawing/2014/chart" uri="{C3380CC4-5D6E-409C-BE32-E72D297353CC}">
                <c16:uniqueId val="{00000003-A1AF-49C2-8308-0C4240D23051}"/>
              </c:ext>
            </c:extLst>
          </c:dPt>
          <c:dPt>
            <c:idx val="2"/>
            <c:invertIfNegative val="0"/>
            <c:bubble3D val="0"/>
            <c:spPr>
              <a:solidFill>
                <a:srgbClr val="C75B39"/>
              </a:solidFill>
              <a:effectLst/>
            </c:spPr>
            <c:extLst>
              <c:ext xmlns:c16="http://schemas.microsoft.com/office/drawing/2014/chart" uri="{C3380CC4-5D6E-409C-BE32-E72D297353CC}">
                <c16:uniqueId val="{00000005-A1AF-49C2-8308-0C4240D23051}"/>
              </c:ext>
            </c:extLst>
          </c:dPt>
          <c:dLbls>
            <c:numFmt formatCode="#,##0" sourceLinked="0"/>
            <c:spPr>
              <a:noFill/>
              <a:ln>
                <a:noFill/>
              </a:ln>
              <a:effectLst/>
            </c:spPr>
            <c:txPr>
              <a:bodyPr/>
              <a:lstStyle/>
              <a:p>
                <a:pPr>
                  <a:defRPr sz="11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Minor</c:v>
                </c:pt>
                <c:pt idx="1">
                  <c:v>Major</c:v>
                </c:pt>
                <c:pt idx="2">
                  <c:v>Fatal</c:v>
                </c:pt>
              </c:strCache>
            </c:strRef>
          </c:cat>
          <c:val>
            <c:numRef>
              <c:f>Sheet1!$B$2:$B$4</c:f>
              <c:numCache>
                <c:formatCode>General</c:formatCode>
                <c:ptCount val="3"/>
                <c:pt idx="0">
                  <c:v>11025</c:v>
                </c:pt>
                <c:pt idx="1">
                  <c:v>5988</c:v>
                </c:pt>
                <c:pt idx="2">
                  <c:v>2987</c:v>
                </c:pt>
              </c:numCache>
            </c:numRef>
          </c:val>
          <c:extLst>
            <c:ext xmlns:c16="http://schemas.microsoft.com/office/drawing/2014/chart" uri="{C3380CC4-5D6E-409C-BE32-E72D297353CC}">
              <c16:uniqueId val="{00000006-A1AF-49C2-8308-0C4240D2305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title>
          <c:tx>
            <c:rich>
              <a:bodyPr/>
              <a:lstStyle/>
              <a:p>
                <a:pPr>
                  <a:defRPr sz="1050" b="0" i="0" u="none" strike="noStrike">
                    <a:solidFill>
                      <a:srgbClr val="6B7785"/>
                    </a:solidFill>
                    <a:latin typeface="Arial"/>
                  </a:defRPr>
                </a:pPr>
                <a:r>
                  <a:rPr lang="en-IN" sz="1050" b="0" i="0" u="none" strike="noStrike">
                    <a:solidFill>
                      <a:srgbClr val="6B7785"/>
                    </a:solidFill>
                    <a:latin typeface="Arial"/>
                  </a:rPr>
                  <a:t>Severity class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max val="12000"/>
          <c:min val="0"/>
        </c:scaling>
        <c:delete val="0"/>
        <c:axPos val="l"/>
        <c:majorGridlines>
          <c:spPr>
            <a:ln w="6350" cap="flat">
              <a:solidFill>
                <a:srgbClr val="E3E8EE"/>
              </a:solidFill>
              <a:prstDash val="solid"/>
              <a:round/>
            </a:ln>
          </c:spPr>
        </c:majorGridlines>
        <c:title>
          <c:tx>
            <c:rich>
              <a:bodyPr/>
              <a:lstStyle/>
              <a:p>
                <a:pPr>
                  <a:defRPr sz="1050" b="0" i="0" u="none" strike="noStrike">
                    <a:solidFill>
                      <a:srgbClr val="6B7785"/>
                    </a:solidFill>
                    <a:latin typeface="Arial"/>
                  </a:defRPr>
                </a:pPr>
                <a:r>
                  <a:rPr lang="en-IN" sz="1050" b="0" i="0" u="none" strike="noStrike">
                    <a:solidFill>
                      <a:srgbClr val="6B7785"/>
                    </a:solidFill>
                    <a:latin typeface="Arial"/>
                  </a:rPr>
                  <a:t>Number of crashes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33333"/>
                </a:solidFill>
                <a:latin typeface="Arial"/>
              </a:defRPr>
            </a:pPr>
            <a:endParaRPr lang="en-US"/>
          </a:p>
        </c:txPr>
        <c:crossAx val="2094734554"/>
        <c:crosses val="autoZero"/>
        <c:crossBetween val="between"/>
        <c:majorUnit val="300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3A5F"/>
                </a:solidFill>
                <a:latin typeface="Calibri"/>
              </a:defRPr>
            </a:pPr>
            <a:r>
              <a:rPr lang="en-US" sz="1300" b="0" i="0" u="none" strike="noStrike">
                <a:solidFill>
                  <a:srgbClr val="1B3A5F"/>
                </a:solidFill>
                <a:latin typeface="Calibri"/>
              </a:rPr>
              <a:t>Fatal share of crashes by weekday</a:t>
            </a:r>
          </a:p>
        </c:rich>
      </c:tx>
      <c:overlay val="0"/>
    </c:title>
    <c:autoTitleDeleted val="0"/>
    <c:plotArea>
      <c:layout/>
      <c:barChart>
        <c:barDir val="col"/>
        <c:grouping val="clustered"/>
        <c:varyColors val="0"/>
        <c:ser>
          <c:idx val="0"/>
          <c:order val="0"/>
          <c:tx>
            <c:strRef>
              <c:f>Sheet1!$B$1</c:f>
              <c:strCache>
                <c:ptCount val="1"/>
                <c:pt idx="0">
                  <c:v>Fatal share of that day’s crashes</c:v>
                </c:pt>
              </c:strCache>
            </c:strRef>
          </c:tx>
          <c:spPr>
            <a:solidFill>
              <a:srgbClr val="C75B39"/>
            </a:solidFill>
            <a:effectLst/>
          </c:spPr>
          <c:invertIfNegative val="0"/>
          <c:dLbls>
            <c:numFmt formatCode="0.0" sourceLinked="0"/>
            <c:spPr>
              <a:noFill/>
              <a:ln>
                <a:noFill/>
              </a:ln>
              <a:effectLst/>
            </c:spPr>
            <c:txPr>
              <a:bodyPr/>
              <a:lstStyle/>
              <a:p>
                <a:pPr>
                  <a:defRPr sz="1000" b="1" i="0" u="none" strike="noStrike">
                    <a:solidFill>
                      <a:srgbClr val="FFFFFF"/>
                    </a:solidFill>
                    <a:latin typeface="Arial"/>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15.4</c:v>
                </c:pt>
                <c:pt idx="1">
                  <c:v>14.7</c:v>
                </c:pt>
                <c:pt idx="2">
                  <c:v>15.3</c:v>
                </c:pt>
                <c:pt idx="3">
                  <c:v>14.2</c:v>
                </c:pt>
                <c:pt idx="4">
                  <c:v>14.8</c:v>
                </c:pt>
                <c:pt idx="5">
                  <c:v>14.3</c:v>
                </c:pt>
                <c:pt idx="6">
                  <c:v>15.9</c:v>
                </c:pt>
              </c:numCache>
            </c:numRef>
          </c:val>
          <c:extLst>
            <c:ext xmlns:c16="http://schemas.microsoft.com/office/drawing/2014/chart" uri="{C3380CC4-5D6E-409C-BE32-E72D297353CC}">
              <c16:uniqueId val="{00000000-A957-4C5E-AD67-7D4BCA9AAFCD}"/>
            </c:ext>
          </c:extLst>
        </c:ser>
        <c:dLbls>
          <c:dLblPos val="inBase"/>
          <c:showLegendKey val="0"/>
          <c:showVal val="1"/>
          <c:showCatName val="0"/>
          <c:showSerName val="0"/>
          <c:showPercent val="0"/>
          <c:showBubbleSize val="0"/>
        </c:dLbls>
        <c:gapWidth val="55"/>
        <c:axId val="2094734554"/>
        <c:axId val="2094734552"/>
      </c:barChart>
      <c:lineChart>
        <c:grouping val="standard"/>
        <c:varyColors val="0"/>
        <c:ser>
          <c:idx val="1"/>
          <c:order val="1"/>
          <c:tx>
            <c:strRef>
              <c:f>Sheet1!$C$1</c:f>
              <c:strCache>
                <c:ptCount val="1"/>
                <c:pt idx="0">
                  <c:v>Overall average (14.9%)</c:v>
                </c:pt>
              </c:strCache>
            </c:strRef>
          </c:tx>
          <c:spPr>
            <a:ln w="31750" cap="flat">
              <a:solidFill>
                <a:srgbClr val="1B3A5F"/>
              </a:solidFill>
              <a:prstDash val="solid"/>
              <a:round/>
            </a:ln>
            <a:effectLst/>
          </c:spPr>
          <c:marker>
            <c:symbol val="none"/>
          </c:marker>
          <c:cat>
            <c:strRef>
              <c:f>Sheet1!$A$2:$A$8</c:f>
              <c:strCache>
                <c:ptCount val="7"/>
                <c:pt idx="0">
                  <c:v>Mon</c:v>
                </c:pt>
                <c:pt idx="1">
                  <c:v>Tue</c:v>
                </c:pt>
                <c:pt idx="2">
                  <c:v>Wed</c:v>
                </c:pt>
                <c:pt idx="3">
                  <c:v>Thu</c:v>
                </c:pt>
                <c:pt idx="4">
                  <c:v>Fri</c:v>
                </c:pt>
                <c:pt idx="5">
                  <c:v>Sat</c:v>
                </c:pt>
                <c:pt idx="6">
                  <c:v>Sun</c:v>
                </c:pt>
              </c:strCache>
            </c:strRef>
          </c:cat>
          <c:val>
            <c:numRef>
              <c:f>Sheet1!$C$2:$C$8</c:f>
              <c:numCache>
                <c:formatCode>General</c:formatCode>
                <c:ptCount val="7"/>
                <c:pt idx="0">
                  <c:v>14.9</c:v>
                </c:pt>
                <c:pt idx="1">
                  <c:v>14.9</c:v>
                </c:pt>
                <c:pt idx="2">
                  <c:v>14.9</c:v>
                </c:pt>
                <c:pt idx="3">
                  <c:v>14.9</c:v>
                </c:pt>
                <c:pt idx="4">
                  <c:v>14.9</c:v>
                </c:pt>
                <c:pt idx="5">
                  <c:v>14.9</c:v>
                </c:pt>
                <c:pt idx="6">
                  <c:v>14.9</c:v>
                </c:pt>
              </c:numCache>
            </c:numRef>
          </c:val>
          <c:smooth val="0"/>
          <c:extLst>
            <c:ext xmlns:c16="http://schemas.microsoft.com/office/drawing/2014/chart" uri="{C3380CC4-5D6E-409C-BE32-E72D297353CC}">
              <c16:uniqueId val="{00000001-A957-4C5E-AD67-7D4BCA9AAFC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50" b="0" i="0" u="none" strike="noStrike">
                    <a:solidFill>
                      <a:srgbClr val="6B7785"/>
                    </a:solidFill>
                    <a:latin typeface="Arial"/>
                  </a:defRPr>
                </a:pPr>
                <a:r>
                  <a:rPr lang="en-IN" sz="1050" b="0" i="0" u="none" strike="noStrike">
                    <a:solidFill>
                      <a:srgbClr val="6B7785"/>
                    </a:solidFill>
                    <a:latin typeface="Arial"/>
                  </a:rPr>
                  <a:t>Day of the week</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max val="20"/>
          <c:min val="0"/>
        </c:scaling>
        <c:delete val="0"/>
        <c:axPos val="l"/>
        <c:majorGridlines>
          <c:spPr>
            <a:ln w="6350" cap="flat">
              <a:solidFill>
                <a:srgbClr val="E3E8EE"/>
              </a:solidFill>
              <a:prstDash val="solid"/>
              <a:round/>
            </a:ln>
          </c:spPr>
        </c:majorGridlines>
        <c:title>
          <c:tx>
            <c:rich>
              <a:bodyPr/>
              <a:lstStyle/>
              <a:p>
                <a:pPr>
                  <a:defRPr sz="1050" b="0" i="0" u="none" strike="noStrike">
                    <a:solidFill>
                      <a:srgbClr val="6B7785"/>
                    </a:solidFill>
                    <a:latin typeface="Arial"/>
                  </a:defRPr>
                </a:pPr>
                <a:r>
                  <a:rPr lang="en-IN" sz="1050" b="0" i="0" u="none" strike="noStrike">
                    <a:solidFill>
                      <a:srgbClr val="6B7785"/>
                    </a:solidFill>
                    <a:latin typeface="Arial"/>
                  </a:rPr>
                  <a:t>Fatal crashes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33333"/>
                </a:solidFill>
                <a:latin typeface="Arial"/>
              </a:defRPr>
            </a:pPr>
            <a:endParaRPr lang="en-US"/>
          </a:p>
        </c:txPr>
        <c:crossAx val="2094734554"/>
        <c:crosses val="autoZero"/>
        <c:crossBetween val="between"/>
        <c:majorUnit val="5"/>
      </c:valAx>
      <c:spPr>
        <a:noFill/>
        <a:ln>
          <a:noFill/>
        </a:ln>
        <a:effectLst/>
      </c:spPr>
    </c:plotArea>
    <c:legend>
      <c:legendPos val="b"/>
      <c:overlay val="0"/>
      <c:txPr>
        <a:bodyPr/>
        <a:lstStyle/>
        <a:p>
          <a:pPr>
            <a:defRPr sz="1000">
              <a:solidFill>
                <a:srgbClr val="333333"/>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3A5F"/>
                </a:solidFill>
                <a:latin typeface="Calibri"/>
              </a:defRPr>
            </a:pPr>
            <a:r>
              <a:rPr lang="en-US" sz="1300" b="0" i="0" u="none" strike="noStrike">
                <a:solidFill>
                  <a:srgbClr val="1B3A5F"/>
                </a:solidFill>
                <a:latin typeface="Calibri"/>
              </a:rPr>
              <a:t>Score on the 4,000-crash test set</a:t>
            </a:r>
          </a:p>
        </c:rich>
      </c:tx>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1B3A5F"/>
            </a:solidFill>
            <a:effectLst/>
          </c:spPr>
          <c:invertIfNegative val="0"/>
          <c:dLbls>
            <c:numFmt formatCode="0.0" sourceLinked="0"/>
            <c:spPr>
              <a:noFill/>
              <a:ln>
                <a:noFill/>
              </a:ln>
              <a:effectLst/>
            </c:spPr>
            <c:txPr>
              <a:bodyPr/>
              <a:lstStyle/>
              <a:p>
                <a:pPr>
                  <a:defRPr sz="85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Decision tree</c:v>
                </c:pt>
                <c:pt idx="1">
                  <c:v>Logistic reg.</c:v>
                </c:pt>
                <c:pt idx="2">
                  <c:v>Random forest</c:v>
                </c:pt>
                <c:pt idx="3">
                  <c:v>XGBoost</c:v>
                </c:pt>
              </c:strCache>
            </c:strRef>
          </c:cat>
          <c:val>
            <c:numRef>
              <c:f>Sheet1!$B$2:$B$5</c:f>
              <c:numCache>
                <c:formatCode>General</c:formatCode>
                <c:ptCount val="4"/>
                <c:pt idx="0">
                  <c:v>94.15</c:v>
                </c:pt>
                <c:pt idx="1">
                  <c:v>94.48</c:v>
                </c:pt>
                <c:pt idx="2">
                  <c:v>94.65</c:v>
                </c:pt>
                <c:pt idx="3">
                  <c:v>95.28</c:v>
                </c:pt>
              </c:numCache>
            </c:numRef>
          </c:val>
          <c:extLst>
            <c:ext xmlns:c16="http://schemas.microsoft.com/office/drawing/2014/chart" uri="{C3380CC4-5D6E-409C-BE32-E72D297353CC}">
              <c16:uniqueId val="{00000000-BA7D-42DC-A8D4-435FFA027530}"/>
            </c:ext>
          </c:extLst>
        </c:ser>
        <c:ser>
          <c:idx val="1"/>
          <c:order val="1"/>
          <c:tx>
            <c:strRef>
              <c:f>Sheet1!$C$1</c:f>
              <c:strCache>
                <c:ptCount val="1"/>
                <c:pt idx="0">
                  <c:v>Macro-F1</c:v>
                </c:pt>
              </c:strCache>
            </c:strRef>
          </c:tx>
          <c:spPr>
            <a:solidFill>
              <a:srgbClr val="C75B39"/>
            </a:solidFill>
            <a:effectLst/>
          </c:spPr>
          <c:invertIfNegative val="0"/>
          <c:dLbls>
            <c:numFmt formatCode="0.0" sourceLinked="0"/>
            <c:spPr>
              <a:noFill/>
              <a:ln>
                <a:noFill/>
              </a:ln>
              <a:effectLst/>
            </c:spPr>
            <c:txPr>
              <a:bodyPr/>
              <a:lstStyle/>
              <a:p>
                <a:pPr>
                  <a:defRPr sz="85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Decision tree</c:v>
                </c:pt>
                <c:pt idx="1">
                  <c:v>Logistic reg.</c:v>
                </c:pt>
                <c:pt idx="2">
                  <c:v>Random forest</c:v>
                </c:pt>
                <c:pt idx="3">
                  <c:v>XGBoost</c:v>
                </c:pt>
              </c:strCache>
            </c:strRef>
          </c:cat>
          <c:val>
            <c:numRef>
              <c:f>Sheet1!$C$2:$C$5</c:f>
              <c:numCache>
                <c:formatCode>General</c:formatCode>
                <c:ptCount val="4"/>
                <c:pt idx="0">
                  <c:v>92.99</c:v>
                </c:pt>
                <c:pt idx="1">
                  <c:v>93.3</c:v>
                </c:pt>
                <c:pt idx="2">
                  <c:v>93.65</c:v>
                </c:pt>
                <c:pt idx="3">
                  <c:v>94.23</c:v>
                </c:pt>
              </c:numCache>
            </c:numRef>
          </c:val>
          <c:extLst>
            <c:ext xmlns:c16="http://schemas.microsoft.com/office/drawing/2014/chart" uri="{C3380CC4-5D6E-409C-BE32-E72D297353CC}">
              <c16:uniqueId val="{00000001-BA7D-42DC-A8D4-435FFA02753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title>
          <c:tx>
            <c:rich>
              <a:bodyPr/>
              <a:lstStyle/>
              <a:p>
                <a:pPr>
                  <a:defRPr sz="1000" b="0" i="0" u="none" strike="noStrike">
                    <a:solidFill>
                      <a:srgbClr val="6B7785"/>
                    </a:solidFill>
                    <a:latin typeface="Arial"/>
                  </a:defRPr>
                </a:pPr>
                <a:r>
                  <a:rPr lang="en-IN" sz="1000" b="0" i="0" u="none" strike="noStrike">
                    <a:solidFill>
                      <a:srgbClr val="6B7785"/>
                    </a:solidFill>
                    <a:latin typeface="Arial"/>
                  </a:rPr>
                  <a:t>Model</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max val="96"/>
          <c:min val="90"/>
        </c:scaling>
        <c:delete val="0"/>
        <c:axPos val="l"/>
        <c:majorGridlines>
          <c:spPr>
            <a:ln w="6350" cap="flat">
              <a:solidFill>
                <a:srgbClr val="E3E8EE"/>
              </a:solidFill>
              <a:prstDash val="solid"/>
              <a:round/>
            </a:ln>
          </c:spPr>
        </c:majorGridlines>
        <c:title>
          <c:tx>
            <c:rich>
              <a:bodyPr/>
              <a:lstStyle/>
              <a:p>
                <a:pPr>
                  <a:defRPr sz="1000" b="0" i="0" u="none" strike="noStrike">
                    <a:solidFill>
                      <a:srgbClr val="6B7785"/>
                    </a:solidFill>
                    <a:latin typeface="Arial"/>
                  </a:defRPr>
                </a:pPr>
                <a:r>
                  <a:rPr lang="en-IN" sz="1000" b="0" i="0" u="none" strike="noStrike">
                    <a:solidFill>
                      <a:srgbClr val="6B7785"/>
                    </a:solidFill>
                    <a:latin typeface="Arial"/>
                  </a:rPr>
                  <a:t>Score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333333"/>
                </a:solidFill>
                <a:latin typeface="Arial"/>
              </a:defRPr>
            </a:pPr>
            <a:endParaRPr lang="en-US"/>
          </a:p>
        </c:txPr>
        <c:crossAx val="2094734554"/>
        <c:crosses val="autoZero"/>
        <c:crossBetween val="between"/>
        <c:majorUnit val="2"/>
      </c:valAx>
      <c:spPr>
        <a:noFill/>
        <a:ln>
          <a:noFill/>
        </a:ln>
        <a:effectLst/>
      </c:spPr>
    </c:plotArea>
    <c:legend>
      <c:legendPos val="b"/>
      <c:overlay val="0"/>
      <c:txPr>
        <a:bodyPr/>
        <a:lstStyle/>
        <a:p>
          <a:pPr>
            <a:defRPr sz="1000">
              <a:solidFill>
                <a:srgbClr val="333333"/>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3A5F"/>
                </a:solidFill>
                <a:latin typeface="Calibri"/>
              </a:defRPr>
            </a:pPr>
            <a:r>
              <a:rPr lang="en-US" sz="1300" b="0" i="0" u="none" strike="noStrike">
                <a:solidFill>
                  <a:srgbClr val="1B3A5F"/>
                </a:solidFill>
                <a:latin typeface="Calibri"/>
              </a:rPr>
              <a:t>Top 10 features by model importance</a:t>
            </a:r>
          </a:p>
        </c:rich>
      </c:tx>
      <c:overlay val="0"/>
    </c:title>
    <c:autoTitleDeleted val="0"/>
    <c:plotArea>
      <c:layout/>
      <c:barChart>
        <c:barDir val="bar"/>
        <c:grouping val="clustered"/>
        <c:varyColors val="0"/>
        <c:ser>
          <c:idx val="0"/>
          <c:order val="0"/>
          <c:tx>
            <c:strRef>
              <c:f>Sheet1!$B$1</c:f>
              <c:strCache>
                <c:ptCount val="1"/>
                <c:pt idx="0">
                  <c:v>Importance (%)</c:v>
                </c:pt>
              </c:strCache>
            </c:strRef>
          </c:tx>
          <c:spPr>
            <a:solidFill>
              <a:srgbClr val="C75B39"/>
            </a:solidFill>
            <a:effectLst/>
          </c:spPr>
          <c:invertIfNegative val="0"/>
          <c:dPt>
            <c:idx val="0"/>
            <c:invertIfNegative val="0"/>
            <c:bubble3D val="0"/>
            <c:extLst>
              <c:ext xmlns:c16="http://schemas.microsoft.com/office/drawing/2014/chart" uri="{C3380CC4-5D6E-409C-BE32-E72D297353CC}">
                <c16:uniqueId val="{00000001-AC2C-47E5-B007-15C1CEF0687D}"/>
              </c:ext>
            </c:extLst>
          </c:dPt>
          <c:dPt>
            <c:idx val="1"/>
            <c:invertIfNegative val="0"/>
            <c:bubble3D val="0"/>
            <c:spPr>
              <a:solidFill>
                <a:srgbClr val="2E8B8B"/>
              </a:solidFill>
              <a:effectLst/>
            </c:spPr>
            <c:extLst>
              <c:ext xmlns:c16="http://schemas.microsoft.com/office/drawing/2014/chart" uri="{C3380CC4-5D6E-409C-BE32-E72D297353CC}">
                <c16:uniqueId val="{00000003-AC2C-47E5-B007-15C1CEF0687D}"/>
              </c:ext>
            </c:extLst>
          </c:dPt>
          <c:dPt>
            <c:idx val="2"/>
            <c:invertIfNegative val="0"/>
            <c:bubble3D val="0"/>
            <c:spPr>
              <a:solidFill>
                <a:srgbClr val="2E8B8B"/>
              </a:solidFill>
              <a:effectLst/>
            </c:spPr>
            <c:extLst>
              <c:ext xmlns:c16="http://schemas.microsoft.com/office/drawing/2014/chart" uri="{C3380CC4-5D6E-409C-BE32-E72D297353CC}">
                <c16:uniqueId val="{00000005-AC2C-47E5-B007-15C1CEF0687D}"/>
              </c:ext>
            </c:extLst>
          </c:dPt>
          <c:dPt>
            <c:idx val="3"/>
            <c:invertIfNegative val="0"/>
            <c:bubble3D val="0"/>
            <c:spPr>
              <a:solidFill>
                <a:srgbClr val="2E8B8B"/>
              </a:solidFill>
              <a:effectLst/>
            </c:spPr>
            <c:extLst>
              <c:ext xmlns:c16="http://schemas.microsoft.com/office/drawing/2014/chart" uri="{C3380CC4-5D6E-409C-BE32-E72D297353CC}">
                <c16:uniqueId val="{00000007-AC2C-47E5-B007-15C1CEF0687D}"/>
              </c:ext>
            </c:extLst>
          </c:dPt>
          <c:dPt>
            <c:idx val="4"/>
            <c:invertIfNegative val="0"/>
            <c:bubble3D val="0"/>
            <c:spPr>
              <a:solidFill>
                <a:srgbClr val="2E8B8B"/>
              </a:solidFill>
              <a:effectLst/>
            </c:spPr>
            <c:extLst>
              <c:ext xmlns:c16="http://schemas.microsoft.com/office/drawing/2014/chart" uri="{C3380CC4-5D6E-409C-BE32-E72D297353CC}">
                <c16:uniqueId val="{00000009-AC2C-47E5-B007-15C1CEF0687D}"/>
              </c:ext>
            </c:extLst>
          </c:dPt>
          <c:dPt>
            <c:idx val="5"/>
            <c:invertIfNegative val="0"/>
            <c:bubble3D val="0"/>
            <c:spPr>
              <a:solidFill>
                <a:srgbClr val="2E8B8B"/>
              </a:solidFill>
              <a:effectLst/>
            </c:spPr>
            <c:extLst>
              <c:ext xmlns:c16="http://schemas.microsoft.com/office/drawing/2014/chart" uri="{C3380CC4-5D6E-409C-BE32-E72D297353CC}">
                <c16:uniqueId val="{0000000B-AC2C-47E5-B007-15C1CEF0687D}"/>
              </c:ext>
            </c:extLst>
          </c:dPt>
          <c:dPt>
            <c:idx val="6"/>
            <c:invertIfNegative val="0"/>
            <c:bubble3D val="0"/>
            <c:spPr>
              <a:solidFill>
                <a:srgbClr val="2E8B8B"/>
              </a:solidFill>
              <a:effectLst/>
            </c:spPr>
            <c:extLst>
              <c:ext xmlns:c16="http://schemas.microsoft.com/office/drawing/2014/chart" uri="{C3380CC4-5D6E-409C-BE32-E72D297353CC}">
                <c16:uniqueId val="{0000000D-AC2C-47E5-B007-15C1CEF0687D}"/>
              </c:ext>
            </c:extLst>
          </c:dPt>
          <c:dPt>
            <c:idx val="7"/>
            <c:invertIfNegative val="0"/>
            <c:bubble3D val="0"/>
            <c:spPr>
              <a:solidFill>
                <a:srgbClr val="2E8B8B"/>
              </a:solidFill>
              <a:effectLst/>
            </c:spPr>
            <c:extLst>
              <c:ext xmlns:c16="http://schemas.microsoft.com/office/drawing/2014/chart" uri="{C3380CC4-5D6E-409C-BE32-E72D297353CC}">
                <c16:uniqueId val="{0000000F-AC2C-47E5-B007-15C1CEF0687D}"/>
              </c:ext>
            </c:extLst>
          </c:dPt>
          <c:dPt>
            <c:idx val="8"/>
            <c:invertIfNegative val="0"/>
            <c:bubble3D val="0"/>
            <c:spPr>
              <a:solidFill>
                <a:srgbClr val="2E8B8B"/>
              </a:solidFill>
              <a:effectLst/>
            </c:spPr>
            <c:extLst>
              <c:ext xmlns:c16="http://schemas.microsoft.com/office/drawing/2014/chart" uri="{C3380CC4-5D6E-409C-BE32-E72D297353CC}">
                <c16:uniqueId val="{00000011-AC2C-47E5-B007-15C1CEF0687D}"/>
              </c:ext>
            </c:extLst>
          </c:dPt>
          <c:dPt>
            <c:idx val="9"/>
            <c:invertIfNegative val="0"/>
            <c:bubble3D val="0"/>
            <c:spPr>
              <a:solidFill>
                <a:srgbClr val="2E8B8B"/>
              </a:solidFill>
              <a:effectLst/>
            </c:spPr>
            <c:extLst>
              <c:ext xmlns:c16="http://schemas.microsoft.com/office/drawing/2014/chart" uri="{C3380CC4-5D6E-409C-BE32-E72D297353CC}">
                <c16:uniqueId val="{00000013-AC2C-47E5-B007-15C1CEF0687D}"/>
              </c:ext>
            </c:extLst>
          </c:dPt>
          <c:dLbls>
            <c:numFmt formatCode="0.0&quot;%&quot;" sourceLinked="0"/>
            <c:spPr>
              <a:noFill/>
              <a:ln>
                <a:noFill/>
              </a:ln>
              <a:effectLst/>
            </c:spPr>
            <c:txPr>
              <a:bodyPr/>
              <a:lstStyle/>
              <a:p>
                <a:pPr>
                  <a:defRPr sz="10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Mean speed at impact</c:v>
                </c:pt>
                <c:pt idx="1">
                  <c:v>Airbag deployment (mean)</c:v>
                </c:pt>
                <c:pt idx="2">
                  <c:v>Max speed at impact</c:v>
                </c:pt>
                <c:pt idx="3">
                  <c:v>Total occupants</c:v>
                </c:pt>
                <c:pt idx="4">
                  <c:v>Vehicle type: car</c:v>
                </c:pt>
                <c:pt idx="5">
                  <c:v>Min speed at impact</c:v>
                </c:pt>
                <c:pt idx="6">
                  <c:v>Vehicle count</c:v>
                </c:pt>
                <c:pt idx="7">
                  <c:v>Visibility: low</c:v>
                </c:pt>
                <c:pt idx="8">
                  <c:v>City: Bengaluru</c:v>
                </c:pt>
                <c:pt idx="9">
                  <c:v>Alcohol suspected</c:v>
                </c:pt>
              </c:strCache>
            </c:strRef>
          </c:cat>
          <c:val>
            <c:numRef>
              <c:f>Sheet1!$B$2:$B$11</c:f>
              <c:numCache>
                <c:formatCode>General</c:formatCode>
                <c:ptCount val="10"/>
                <c:pt idx="0">
                  <c:v>45.1</c:v>
                </c:pt>
                <c:pt idx="1">
                  <c:v>2.5</c:v>
                </c:pt>
                <c:pt idx="2">
                  <c:v>2.4</c:v>
                </c:pt>
                <c:pt idx="3">
                  <c:v>2.1</c:v>
                </c:pt>
                <c:pt idx="4">
                  <c:v>2</c:v>
                </c:pt>
                <c:pt idx="5">
                  <c:v>1.2</c:v>
                </c:pt>
                <c:pt idx="6">
                  <c:v>1</c:v>
                </c:pt>
                <c:pt idx="7">
                  <c:v>0.9</c:v>
                </c:pt>
                <c:pt idx="8">
                  <c:v>0.9</c:v>
                </c:pt>
                <c:pt idx="9">
                  <c:v>0.7</c:v>
                </c:pt>
              </c:numCache>
            </c:numRef>
          </c:val>
          <c:extLst>
            <c:ext xmlns:c16="http://schemas.microsoft.com/office/drawing/2014/chart" uri="{C3380CC4-5D6E-409C-BE32-E72D297353CC}">
              <c16:uniqueId val="{00000014-AC2C-47E5-B007-15C1CEF0687D}"/>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max val="50"/>
          <c:min val="0"/>
        </c:scaling>
        <c:delete val="0"/>
        <c:axPos val="t"/>
        <c:majorGridlines>
          <c:spPr>
            <a:ln w="6350" cap="flat">
              <a:solidFill>
                <a:srgbClr val="E3E8EE"/>
              </a:solidFill>
              <a:prstDash val="solid"/>
              <a:round/>
            </a:ln>
          </c:spPr>
        </c:majorGridlines>
        <c:title>
          <c:tx>
            <c:rich>
              <a:bodyPr/>
              <a:lstStyle/>
              <a:p>
                <a:pPr>
                  <a:defRPr sz="1000" b="0" i="0" u="none" strike="noStrike">
                    <a:solidFill>
                      <a:srgbClr val="6B7785"/>
                    </a:solidFill>
                    <a:latin typeface="Arial"/>
                  </a:defRPr>
                </a:pPr>
                <a:r>
                  <a:rPr lang="en-IN" sz="1000" b="0" i="0" u="none" strike="noStrike">
                    <a:solidFill>
                      <a:srgbClr val="6B7785"/>
                    </a:solidFill>
                    <a:latin typeface="Arial"/>
                  </a:rPr>
                  <a:t>Share of total importance (%)</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950" b="0" i="0" u="none" strike="noStrike">
                <a:solidFill>
                  <a:srgbClr val="333333"/>
                </a:solidFill>
                <a:latin typeface="Arial"/>
              </a:defRPr>
            </a:pPr>
            <a:endParaRPr lang="en-US"/>
          </a:p>
        </c:txPr>
        <c:crossAx val="2094734554"/>
        <c:crosses val="autoZero"/>
        <c:crossBetween val="between"/>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2360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45 sec] Introduce yourself and the question: can a computer sort road crashes into minor, major or fatal from what is known at the scene? Animations run automatically: title, subtitle, guide, presenter. Fill the bracketed fields (guide name, roll number, semester) before presenting. Replace the dashed logo box with the official college logo (right-click, Change Picture).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 40 sec] Five parts: the problem, the method, what the data says, the results, and the way forward. Rows fly in one by one (0.25 s apart) after the slide loads.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10 sec] The circle and title glide into the header of the next slide (Morph).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Left: verified statistics. WHO estimates 1.19 million road deaths a year worldwide. India's 2023 report (MoRTH): 4,80,583 accidents, 1,72,890 deaths, 4,62,825 injured. Right: the idea, in one line: crash facts go in, a model sorts the crash into minor, major or fatal, and that helps decide what help is sent. ANIMATION: table fades in, blocks fly in left to right (0.25 s apart); on click, the death figure pulses.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raw file has one row per person: 131,404 rows and 50 columns, describing 20,000 crashes (about 6.6 people per crash). The table groups the 50 columns by meaning. Point out the last two rows: 9 columns describe what happened afterwards and 1 is the target. Be candid: the file's origin is not documented, so we treat it as a study dataset. ANIMATION: table fades in, the three chips zoom in one by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10 sec] Next slide: the nine-stage pipeline.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Nine stages from raw file to deployment. The dots appear one by one; then an orange data packet travels along the track (motion path) to show data flowing through the pipeline. Under each stage is the key number. On the next slides these nodes shrink to a progress tracker at the bottom (Morph) so the audience always knows where we 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IDEA: the raw file lists every person separately. Here is one real crash (crash 0, Pune): four occupants, four rows, with license statuses expired, valid, expired, valid. Problem: a crash with 30 people would count 30 times, and its rows could land in both training and test. ANIMATION: rows fly in from the left, 0.25 s apart. The next slide morphs these four cards into 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WOW MOMENT: the four cards slide together (Morph) into one crash row. We summarise the people: occupant count, license shares, gender shares, seat roles, safety-rule breaking. These are the real values for crash 0. Result: 131,404 rows become 20,000 independent crashes, described by 18 aggregate features plus context. ANIMATION: table fades in, then on click the crash row pulses.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Rule: if something is only known AFTER the crash, the model may not see it. Top bar: the 50 raw columns, colored by fate: 4 identifiers, 9 post-crash outcomes and 1 opaque risk score are removed (14 in all), plus the target. Bottom bar: the 49 predictors we keep: 28 context + 18 occupant summaries + 1 count + 2 engineered. ANIMATION: bars build segment by segment; on click the outcome segment pulses.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Every model is a pipeline: the feature table splits into a numeric branch (fill gaps with the median, scale only for logistic regression) and a categorical branch (fill with most frequent, one-hot encode). Then one of four estimators. Preprocessing lives inside cross-validation, so test data never influences it. Table: best settings found by randomized search with 5-fold cross-validation and the resulting macro-F1. ANIMATION: blocks appear left to right, table last.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10 sec] What does the data actually say?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Minor crashes are 55%, major 30%, fatal 15%. So a model that always says minor would already be 55% accurate and find zero fatal crashes. That is why we split with stratification (same mix in train and test) and judge with macro-F1, which counts all three classes equally. ANIMATION: bars appear category by category; on click the fatal share pulses.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Bars: share of each weekday's crashes that were fatal. The line: overall average 14.9%. If weekends were deadlier, they would tower over the line. They range only 14.2 to 15.9%. A chi-square test on the day-by-severity counts gives p = 0.77: no evidence of a link. Hourly counts are also flat. The apparent monthly decline is an artifact: 2025 covers only part of a year. ANIMATION: chart builds by category, then the three cards fly in from the right.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This box plot from the notebook is the key picture. Each box holds the middle half of crashes of that type. The three boxes do not overlap: fatal crashes sit around 85 km/h, major 62, minor 35 (read from the chart). The model agrees: 45% of its importance is average impact speed. CAUTION: in this dataset the relationship is unusually sharp; real records are noisier. ANIMATION: image and table fade in, 45% zooms in; on click it pulses.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Heatmap of numeric features (the categorical target cannot appear). Read the red squares: the three speed measures are almost the same signal; group-size features move together; some pairs are exact opposites (male/female ratio; helmet-use and rule-breaking rate) because one is 1 minus the other. Consequence: tree models cope well but split importance across duplicates, so linear coefficients should not be over-read. ANIMATION: the heatmap fades in, points fly in one by 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10 sec] Now the exam results.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All four models sat the same 4,000-crash exam. Table: accuracy, macro-F1 (fairness across the three classes), AUC (how well the model ranks crashes by seriousness), and the number of mistakes: XGBoost 189, random forest 214, logistic regression 221, decision tree 234. Be honest: gaps are about one point, similar to test-set sampling error (about +/-0.7 pt), so the ranking is consistent but not proven by a paired test. ANIMATION: table fades in; chart builds by element in series.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Read row by row: rows are what really happened, columns what the model said. 557 of 597 fatal crashes were found; 1,105 of 1,198 major; 2,149 of 2,205 minor. 3,811 of 4,000 correct overall (95.28%). ANIMATION: cells zoom in one by one. Next slide morphs the same grid into percentages.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WOW MOMENT 2: the same grid, now as percentages of each true class (Morph replaces the numbers and re-colors the cells). Fatal 93.3% correct, major 92.2%, minor 97.5%. The callout: 188 of 189 mistakes are to a neighbouring class; a fatal crash was never called minor. Weak spot: 40 of 597 fatal crashes were called major, so keep a human in the loop. ANIMATION: callout fades in; on click it pulses.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Top 10 features by the model's built-in importance. Mean impact speed is 45.1%; together with max and min speed the speed family is about 48.7%. Airbag deployment is second, but it is also a collision-time measure. So the model is a post-crash triage aid, not a pre-crash predictor. City indicators (Bengaluru) appear in the top 10, a fairness flag. Importance describes what the model uses, not causes. ANIMATION: bars appear category by category; on click the speed callout pulses.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Be upfront. 1) The dataset's origin is undocumented and unusually regular, so 95% is a method demonstration, not a real-world estimate. 2) Speed and airbag are collision-time measures: post-crash triage only. 3) During review we found seven planned features did not run because of a column-name mismatch after grouping; the reported results are exactly what was trained; fix identified. 4) 2025 is a partial year. 5) Fatal recall is 93.3%, so keep humans in the loop. 6) City features can act as a proxy; age and gender barely matter and can be removed.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Three conclusions: structure the data around the crash; never let the model see the outcome; speed dominates severity in this data. Roadmap: NOW baseline done (95.28% accuracy, macro-F1 0.9423); NEXT validate on real police records, build a pre-crash version, fix the engineered features; LATER a live prediction page in the dashboard. ANIMATION: points fly in; the orange dot travels along the timeline (motion path).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1 min] Thank you. Invite questions. Backup topics: why macro-F1, the 2025 partial-year trap, how the 14 excluded columns were chosen, the Streamlit dashboard demo.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91440"/>
            <a:ext cx="6858000" cy="219456"/>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MIT ACSC, Pune  |  M.Sc. Computer Science  |  Machine Learning Project 2026–27</a:t>
            </a:r>
            <a:endParaRPr lang="en-US" sz="900" dirty="0"/>
          </a:p>
        </p:txBody>
      </p:sp>
      <p:sp>
        <p:nvSpPr>
          <p:cNvPr id="3" name="Text 1"/>
          <p:cNvSpPr/>
          <p:nvPr/>
        </p:nvSpPr>
        <p:spPr>
          <a:xfrm>
            <a:off x="548640" y="4846320"/>
            <a:ext cx="5486400" cy="201168"/>
          </a:xfrm>
          <a:prstGeom prst="rect">
            <a:avLst/>
          </a:prstGeom>
          <a:noFill/>
          <a:ln/>
        </p:spPr>
        <p:txBody>
          <a:bodyPr wrap="square" lIns="0" tIns="0" rIns="0" bIns="0" rtlCol="0" anchor="ctr"/>
          <a:lstStyle/>
          <a:p>
            <a:pPr marL="0" indent="0">
              <a:buNone/>
            </a:pPr>
            <a:r>
              <a:rPr lang="en-US" sz="900" dirty="0">
                <a:solidFill>
                  <a:srgbClr val="6B7785"/>
                </a:solidFill>
                <a:latin typeface="Calibri" pitchFamily="34" charset="0"/>
                <a:ea typeface="Calibri" pitchFamily="34" charset="-122"/>
                <a:cs typeface="Calibri" pitchFamily="34" charset="-120"/>
              </a:rPr>
              <a:t>Indian Road Accident Severity Prediction</a:t>
            </a:r>
            <a:endParaRPr lang="en-US" sz="9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440"/>
        </a:solidFill>
        <a:effectLst/>
      </p:bgPr>
    </p:bg>
    <p:spTree>
      <p:nvGrpSpPr>
        <p:cNvPr id="1" name=""/>
        <p:cNvGrpSpPr/>
        <p:nvPr/>
      </p:nvGrpSpPr>
      <p:grpSpPr>
        <a:xfrm>
          <a:off x="0" y="0"/>
          <a:ext cx="0" cy="0"/>
          <a:chOff x="0" y="0"/>
          <a:chExt cx="0" cy="0"/>
        </a:xfrm>
      </p:grpSpPr>
      <p:sp>
        <p:nvSpPr>
          <p:cNvPr id="2" name="Text 0"/>
          <p:cNvSpPr/>
          <p:nvPr/>
        </p:nvSpPr>
        <p:spPr>
          <a:xfrm>
            <a:off x="731520" y="4846320"/>
            <a:ext cx="5486400" cy="201168"/>
          </a:xfrm>
          <a:prstGeom prst="rect">
            <a:avLst/>
          </a:prstGeom>
          <a:noFill/>
          <a:ln/>
        </p:spPr>
        <p:txBody>
          <a:bodyPr wrap="square" lIns="0" tIns="0" rIns="0" bIns="0" rtlCol="0" anchor="ctr"/>
          <a:lstStyle/>
          <a:p>
            <a:pPr marL="0" indent="0">
              <a:buNone/>
            </a:pPr>
            <a:r>
              <a:rPr lang="en-US" sz="900" dirty="0">
                <a:solidFill>
                  <a:srgbClr val="9FB4CC"/>
                </a:solidFill>
                <a:latin typeface="Calibri" pitchFamily="34" charset="0"/>
                <a:ea typeface="Calibri" pitchFamily="34" charset="-122"/>
                <a:cs typeface="Calibri" pitchFamily="34" charset="-120"/>
              </a:rPr>
              <a:t>MIT ACSC, Pune  |  Machine Learning Project 2026–27</a:t>
            </a:r>
            <a:endParaRPr lang="en-US" sz="9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9FB4CC"/>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Abstract data network and road artwork"/>
          <p:cNvPicPr>
            <a:picLocks noChangeAspect="1"/>
          </p:cNvPicPr>
          <p:nvPr/>
        </p:nvPicPr>
        <p:blipFill>
          <a:blip r:embed="rId3"/>
          <a:srcRect/>
          <a:stretch/>
        </p:blipFill>
        <p:spPr>
          <a:xfrm>
            <a:off x="4937760" y="0"/>
            <a:ext cx="4206240" cy="5143500"/>
          </a:xfrm>
          <a:prstGeom prst="rect">
            <a:avLst/>
          </a:prstGeom>
        </p:spPr>
      </p:pic>
      <p:pic>
        <p:nvPicPr>
          <p:cNvPr id="4" name="title_logo" descr="College logo placeholder"/>
          <p:cNvPicPr>
            <a:picLocks noChangeAspect="1"/>
          </p:cNvPicPr>
          <p:nvPr/>
        </p:nvPicPr>
        <p:blipFill>
          <a:blip r:embed="rId4"/>
          <a:stretch>
            <a:fillRect/>
          </a:stretch>
        </p:blipFill>
        <p:spPr>
          <a:xfrm>
            <a:off x="317634" y="205740"/>
            <a:ext cx="731520" cy="731520"/>
          </a:xfrm>
          <a:prstGeom prst="rect">
            <a:avLst/>
          </a:prstGeom>
        </p:spPr>
      </p:pic>
      <p:sp>
        <p:nvSpPr>
          <p:cNvPr id="5" name="title_college"/>
          <p:cNvSpPr txBox="1"/>
          <p:nvPr/>
        </p:nvSpPr>
        <p:spPr>
          <a:xfrm>
            <a:off x="1232034" y="228600"/>
            <a:ext cx="5486400" cy="6858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MIT ARTS, COMMERCE AND SCIENCE COLLEGE</a:t>
            </a:r>
            <a:endParaRPr lang="en-US" sz="1400" dirty="0"/>
          </a:p>
          <a:p>
            <a:pPr marL="0" indent="0">
              <a:buNone/>
            </a:pPr>
            <a:r>
              <a:rPr lang="en-US" sz="1150" dirty="0">
                <a:solidFill>
                  <a:srgbClr val="B9C9DA"/>
                </a:solidFill>
                <a:latin typeface="Calibri" pitchFamily="34" charset="0"/>
                <a:ea typeface="Calibri" pitchFamily="34" charset="-122"/>
                <a:cs typeface="Calibri" pitchFamily="34" charset="-120"/>
              </a:rPr>
              <a:t>Department of Computer Science  ·  Pune, Maharashtra</a:t>
            </a:r>
            <a:endParaRPr lang="en-US" sz="1400" dirty="0"/>
          </a:p>
        </p:txBody>
      </p:sp>
      <p:sp>
        <p:nvSpPr>
          <p:cNvPr id="6" name="!!title"/>
          <p:cNvSpPr txBox="1"/>
          <p:nvPr/>
        </p:nvSpPr>
        <p:spPr>
          <a:xfrm>
            <a:off x="435543" y="1176989"/>
            <a:ext cx="5120640" cy="132588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Indian Road Accident Severity Prediction</a:t>
            </a:r>
            <a:endParaRPr lang="en-US" sz="3800" dirty="0"/>
          </a:p>
        </p:txBody>
      </p:sp>
      <p:sp>
        <p:nvSpPr>
          <p:cNvPr id="7" name="title_sub"/>
          <p:cNvSpPr txBox="1"/>
          <p:nvPr/>
        </p:nvSpPr>
        <p:spPr>
          <a:xfrm>
            <a:off x="435543" y="2376838"/>
            <a:ext cx="4206240" cy="777240"/>
          </a:xfrm>
          <a:prstGeom prst="rect">
            <a:avLst/>
          </a:prstGeom>
          <a:noFill/>
          <a:ln/>
        </p:spPr>
        <p:txBody>
          <a:bodyPr wrap="square" lIns="0" tIns="0" rIns="0" bIns="0" rtlCol="0" anchor="t"/>
          <a:lstStyle/>
          <a:p>
            <a:pPr marL="0" indent="0">
              <a:buNone/>
            </a:pPr>
            <a:r>
              <a:rPr lang="en-US" sz="1500" dirty="0">
                <a:solidFill>
                  <a:srgbClr val="DCE6F0"/>
                </a:solidFill>
                <a:latin typeface="Calibri" pitchFamily="34" charset="0"/>
                <a:ea typeface="Calibri" pitchFamily="34" charset="-122"/>
                <a:cs typeface="Calibri" pitchFamily="34" charset="-120"/>
              </a:rPr>
              <a:t>A crash-level machine learning approach: from 131,404 occupant records to a triage-ready severity classifier</a:t>
            </a:r>
            <a:endParaRPr lang="en-US" sz="1500" dirty="0"/>
          </a:p>
        </p:txBody>
      </p:sp>
      <p:sp>
        <p:nvSpPr>
          <p:cNvPr id="8" name="title_guide"/>
          <p:cNvSpPr txBox="1"/>
          <p:nvPr/>
        </p:nvSpPr>
        <p:spPr>
          <a:xfrm>
            <a:off x="435543" y="3252737"/>
            <a:ext cx="4206240" cy="457200"/>
          </a:xfrm>
          <a:prstGeom prst="rect">
            <a:avLst/>
          </a:prstGeom>
          <a:noFill/>
          <a:ln/>
        </p:spPr>
        <p:txBody>
          <a:bodyPr wrap="square" lIns="0" tIns="0" rIns="0" bIns="0" rtlCol="0" anchor="t"/>
          <a:lstStyle/>
          <a:p>
            <a:pPr marL="0" indent="0">
              <a:buNone/>
            </a:pPr>
            <a:r>
              <a:rPr lang="en-US" sz="1050" b="1" kern="0" spc="200" dirty="0">
                <a:solidFill>
                  <a:srgbClr val="7FC4C4"/>
                </a:solidFill>
                <a:latin typeface="Calibri" pitchFamily="34" charset="0"/>
                <a:ea typeface="Calibri" pitchFamily="34" charset="-122"/>
                <a:cs typeface="Calibri" pitchFamily="34" charset="-120"/>
              </a:rPr>
              <a:t>GUIDE  </a:t>
            </a:r>
            <a:r>
              <a:rPr lang="en-US" sz="1400" dirty="0">
                <a:solidFill>
                  <a:srgbClr val="FFFFFF"/>
                </a:solidFill>
                <a:latin typeface="Calibri" pitchFamily="34" charset="0"/>
                <a:ea typeface="Calibri" pitchFamily="34" charset="-122"/>
                <a:cs typeface="Calibri" pitchFamily="34" charset="-120"/>
              </a:rPr>
              <a:t>Prof. Ram Agrawal Sir. </a:t>
            </a:r>
          </a:p>
          <a:p>
            <a:pPr marL="0" indent="0">
              <a:buNone/>
            </a:pPr>
            <a:r>
              <a:rPr lang="en-US" sz="1400" dirty="0">
                <a:solidFill>
                  <a:srgbClr val="FFFFFF"/>
                </a:solidFill>
                <a:latin typeface="Calibri" pitchFamily="34" charset="0"/>
                <a:ea typeface="Calibri" pitchFamily="34" charset="-122"/>
                <a:cs typeface="Calibri" pitchFamily="34" charset="-120"/>
              </a:rPr>
              <a:t>Assistant Professor, Department of Computer Science</a:t>
            </a:r>
            <a:endParaRPr lang="en-US" sz="1600" dirty="0"/>
          </a:p>
        </p:txBody>
      </p:sp>
      <p:sp>
        <p:nvSpPr>
          <p:cNvPr id="9" name="title_pres"/>
          <p:cNvSpPr txBox="1"/>
          <p:nvPr/>
        </p:nvSpPr>
        <p:spPr>
          <a:xfrm>
            <a:off x="435543" y="3875071"/>
            <a:ext cx="4206240" cy="457200"/>
          </a:xfrm>
          <a:prstGeom prst="rect">
            <a:avLst/>
          </a:prstGeom>
          <a:noFill/>
          <a:ln/>
        </p:spPr>
        <p:txBody>
          <a:bodyPr wrap="square" lIns="0" tIns="0" rIns="0" bIns="0" rtlCol="0" anchor="t"/>
          <a:lstStyle/>
          <a:p>
            <a:pPr marL="0" indent="0">
              <a:buNone/>
            </a:pPr>
            <a:r>
              <a:rPr lang="en-US" sz="1000" b="1" kern="0" spc="200" dirty="0">
                <a:solidFill>
                  <a:srgbClr val="7FC4C4"/>
                </a:solidFill>
                <a:latin typeface="Calibri" pitchFamily="34" charset="0"/>
                <a:ea typeface="Calibri" pitchFamily="34" charset="-122"/>
                <a:cs typeface="Calibri" pitchFamily="34" charset="-120"/>
              </a:rPr>
              <a:t>PRESENTED BY  </a:t>
            </a:r>
            <a:r>
              <a:rPr lang="en-US" sz="1200" dirty="0">
                <a:solidFill>
                  <a:srgbClr val="FFFFFF"/>
                </a:solidFill>
                <a:latin typeface="Calibri" pitchFamily="34" charset="0"/>
                <a:ea typeface="Calibri" pitchFamily="34" charset="-122"/>
                <a:cs typeface="Calibri" pitchFamily="34" charset="-120"/>
              </a:rPr>
              <a:t>Aniket Tayade  </a:t>
            </a:r>
          </a:p>
          <a:p>
            <a:pPr marL="0" indent="0">
              <a:buNone/>
            </a:pPr>
            <a:r>
              <a:rPr lang="en-US" sz="1200" dirty="0">
                <a:solidFill>
                  <a:srgbClr val="FFFFFF"/>
                </a:solidFill>
                <a:latin typeface="Calibri" pitchFamily="34" charset="0"/>
                <a:ea typeface="Calibri" pitchFamily="34" charset="-122"/>
                <a:cs typeface="Calibri" pitchFamily="34" charset="-120"/>
              </a:rPr>
              <a:t>Roll No.  SM1111 ·  M.Sc. Computer Science</a:t>
            </a:r>
            <a:endParaRPr lang="en-US" sz="1400" dirty="0"/>
          </a:p>
        </p:txBody>
      </p:sp>
      <p:sp>
        <p:nvSpPr>
          <p:cNvPr id="10" name="title_year"/>
          <p:cNvSpPr txBox="1"/>
          <p:nvPr/>
        </p:nvSpPr>
        <p:spPr>
          <a:xfrm>
            <a:off x="435543" y="4497405"/>
            <a:ext cx="4206240" cy="274320"/>
          </a:xfrm>
          <a:prstGeom prst="rect">
            <a:avLst/>
          </a:prstGeom>
          <a:noFill/>
          <a:ln/>
        </p:spPr>
        <p:txBody>
          <a:bodyPr wrap="square" lIns="0" tIns="0" rIns="0" bIns="0" rtlCol="0" anchor="t"/>
          <a:lstStyle/>
          <a:p>
            <a:pPr marL="0" indent="0">
              <a:buNone/>
            </a:pPr>
            <a:r>
              <a:rPr lang="en-US" sz="1100" dirty="0">
                <a:solidFill>
                  <a:srgbClr val="B9C9DA"/>
                </a:solidFill>
                <a:latin typeface="Calibri" pitchFamily="34" charset="0"/>
                <a:ea typeface="Calibri" pitchFamily="34" charset="-122"/>
                <a:cs typeface="Calibri" pitchFamily="34" charset="-120"/>
              </a:rPr>
              <a:t>Academic Year 2026–2027  ·  Semester III  ·  September 2026</a:t>
            </a:r>
            <a:endParaRPr lang="en-US" sz="11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9FB4CC"/>
                </a:solidFill>
                <a:latin typeface="Calibri"/>
                <a:ea typeface="Calibri"/>
                <a:cs typeface="Calibri"/>
              </a:defRPr>
            </a:lvl1pPr>
          </a:lstStyle>
          <a:p>
            <a:pPr algn="r"/>
            <a:fld id="{F7021451-1387-4CA6-816F-3879F97B5CBC}" type="slidenum">
              <a:rPr lang="en-US" b="0"/>
              <a:t>1</a:t>
            </a:fld>
            <a:endParaRPr lang="en-US"/>
          </a:p>
        </p:txBody>
      </p:sp>
      <p:pic>
        <p:nvPicPr>
          <p:cNvPr id="11" name="Picture 10">
            <a:extLst>
              <a:ext uri="{FF2B5EF4-FFF2-40B4-BE49-F238E27FC236}">
                <a16:creationId xmlns:a16="http://schemas.microsoft.com/office/drawing/2014/main" id="{B70F1E67-6202-EB6E-EEAC-DBCE5912CD14}"/>
              </a:ext>
            </a:extLst>
          </p:cNvPr>
          <p:cNvPicPr>
            <a:picLocks noChangeAspect="1"/>
          </p:cNvPicPr>
          <p:nvPr/>
        </p:nvPicPr>
        <p:blipFill>
          <a:blip r:embed="rId5"/>
          <a:stretch>
            <a:fillRect/>
          </a:stretch>
        </p:blipFill>
        <p:spPr>
          <a:xfrm>
            <a:off x="253265" y="124526"/>
            <a:ext cx="887329" cy="8873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nodeType="withEffect">
                                  <p:stCondLst>
                                    <p:cond delay="20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nodeType="withEffect">
                                  <p:stCondLst>
                                    <p:cond delay="50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nodeType="withEffect">
                                  <p:stCondLst>
                                    <p:cond delay="80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nodeType="withEffect">
                                  <p:stCondLst>
                                    <p:cond delay="110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nodeType="withEffect">
                                  <p:stCondLst>
                                    <p:cond delay="130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53" presetClass="entr" presetSubtype="16" fill="hold" nodeType="withEffect">
                                  <p:stCondLst>
                                    <p:cond delay="150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00</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Contents</a:t>
            </a:r>
            <a:endParaRPr lang="en-US" sz="2600" dirty="0"/>
          </a:p>
        </p:txBody>
      </p:sp>
      <p:sp>
        <p:nvSpPr>
          <p:cNvPr id="5" name="toc_row1"/>
          <p:cNvSpPr/>
          <p:nvPr/>
        </p:nvSpPr>
        <p:spPr>
          <a:xfrm>
            <a:off x="548640" y="1234440"/>
            <a:ext cx="8046720" cy="566928"/>
          </a:xfrm>
          <a:prstGeom prst="roundRect">
            <a:avLst>
              <a:gd name="adj" fmla="val 12903"/>
            </a:avLst>
          </a:prstGeom>
          <a:solidFill>
            <a:srgbClr val="E6ECF3"/>
          </a:solidFill>
          <a:ln w="9525">
            <a:solidFill>
              <a:srgbClr val="D5DCE4"/>
            </a:solidFill>
            <a:prstDash val="solid"/>
          </a:ln>
        </p:spPr>
      </p:sp>
      <p:sp>
        <p:nvSpPr>
          <p:cNvPr id="6" name="toc_row1_n"/>
          <p:cNvSpPr txBox="1"/>
          <p:nvPr/>
        </p:nvSpPr>
        <p:spPr>
          <a:xfrm>
            <a:off x="731520" y="1234440"/>
            <a:ext cx="640080" cy="566928"/>
          </a:xfrm>
          <a:prstGeom prst="rect">
            <a:avLst/>
          </a:prstGeom>
          <a:noFill/>
          <a:ln/>
        </p:spPr>
        <p:txBody>
          <a:bodyPr wrap="square" lIns="0" tIns="0" rIns="0" bIns="0" rtlCol="0" anchor="ctr"/>
          <a:lstStyle/>
          <a:p>
            <a:pPr marL="0" indent="0">
              <a:buNone/>
            </a:pPr>
            <a:r>
              <a:rPr lang="en-US" sz="2400" b="1" dirty="0">
                <a:solidFill>
                  <a:srgbClr val="2E8B8B"/>
                </a:solidFill>
                <a:latin typeface="Calibri" pitchFamily="34" charset="0"/>
                <a:ea typeface="Calibri" pitchFamily="34" charset="-122"/>
                <a:cs typeface="Calibri" pitchFamily="34" charset="-120"/>
              </a:rPr>
              <a:t>01</a:t>
            </a:r>
            <a:endParaRPr lang="en-US" sz="2400" dirty="0"/>
          </a:p>
        </p:txBody>
      </p:sp>
      <p:sp>
        <p:nvSpPr>
          <p:cNvPr id="7" name="toc_row1_t"/>
          <p:cNvSpPr txBox="1"/>
          <p:nvPr/>
        </p:nvSpPr>
        <p:spPr>
          <a:xfrm>
            <a:off x="1463040" y="1234440"/>
            <a:ext cx="5669280" cy="566928"/>
          </a:xfrm>
          <a:prstGeom prst="rect">
            <a:avLst/>
          </a:prstGeom>
          <a:noFill/>
          <a:ln/>
        </p:spPr>
        <p:txBody>
          <a:bodyPr wrap="square" lIns="0" tIns="0" rIns="0" bIns="0" rtlCol="0" anchor="ctr"/>
          <a:lstStyle/>
          <a:p>
            <a:pPr marL="0" indent="0">
              <a:buNone/>
            </a:pPr>
            <a:r>
              <a:rPr lang="en-US" sz="1500" b="1" dirty="0">
                <a:solidFill>
                  <a:srgbClr val="1B3A5F"/>
                </a:solidFill>
                <a:latin typeface="Calibri" pitchFamily="34" charset="0"/>
                <a:ea typeface="Calibri" pitchFamily="34" charset="-122"/>
                <a:cs typeface="Calibri" pitchFamily="34" charset="-120"/>
              </a:rPr>
              <a:t>The Problem and the Data</a:t>
            </a:r>
            <a:endParaRPr lang="en-US" sz="1400" dirty="0"/>
          </a:p>
          <a:p>
            <a:pPr marL="0" indent="0">
              <a:buNone/>
            </a:pPr>
            <a:r>
              <a:rPr lang="en-US" sz="1100" dirty="0">
                <a:solidFill>
                  <a:srgbClr val="6B7785"/>
                </a:solidFill>
                <a:latin typeface="Calibri" pitchFamily="34" charset="0"/>
                <a:ea typeface="Calibri" pitchFamily="34" charset="-122"/>
                <a:cs typeface="Calibri" pitchFamily="34" charset="-120"/>
              </a:rPr>
              <a:t>Why severity matters; what the dataset contains</a:t>
            </a:r>
            <a:endParaRPr lang="en-US" sz="1400" dirty="0"/>
          </a:p>
        </p:txBody>
      </p:sp>
      <p:sp>
        <p:nvSpPr>
          <p:cNvPr id="8" name="toc_row1_p"/>
          <p:cNvSpPr txBox="1"/>
          <p:nvPr/>
        </p:nvSpPr>
        <p:spPr>
          <a:xfrm>
            <a:off x="7132320" y="1234440"/>
            <a:ext cx="1280160" cy="566928"/>
          </a:xfrm>
          <a:prstGeom prst="rect">
            <a:avLst/>
          </a:prstGeom>
          <a:noFill/>
          <a:ln/>
        </p:spPr>
        <p:txBody>
          <a:bodyPr wrap="square" lIns="0" tIns="0" rIns="0" bIns="0" rtlCol="0" anchor="ctr"/>
          <a:lstStyle/>
          <a:p>
            <a:pPr marL="0" indent="0" algn="r">
              <a:buNone/>
            </a:pPr>
            <a:r>
              <a:rPr lang="en-US" sz="1150" dirty="0">
                <a:solidFill>
                  <a:srgbClr val="6B7785"/>
                </a:solidFill>
                <a:latin typeface="Calibri" pitchFamily="34" charset="0"/>
                <a:ea typeface="Calibri" pitchFamily="34" charset="-122"/>
                <a:cs typeface="Calibri" pitchFamily="34" charset="-120"/>
              </a:rPr>
              <a:t>Slides 3–5</a:t>
            </a:r>
            <a:endParaRPr lang="en-US" sz="1150" dirty="0"/>
          </a:p>
        </p:txBody>
      </p:sp>
      <p:sp>
        <p:nvSpPr>
          <p:cNvPr id="9" name="toc_row2"/>
          <p:cNvSpPr/>
          <p:nvPr/>
        </p:nvSpPr>
        <p:spPr>
          <a:xfrm>
            <a:off x="548640" y="1892808"/>
            <a:ext cx="8046720" cy="566928"/>
          </a:xfrm>
          <a:prstGeom prst="roundRect">
            <a:avLst>
              <a:gd name="adj" fmla="val 12903"/>
            </a:avLst>
          </a:prstGeom>
          <a:solidFill>
            <a:srgbClr val="F6F8FA"/>
          </a:solidFill>
          <a:ln w="9525">
            <a:solidFill>
              <a:srgbClr val="D5DCE4"/>
            </a:solidFill>
            <a:prstDash val="solid"/>
          </a:ln>
        </p:spPr>
      </p:sp>
      <p:sp>
        <p:nvSpPr>
          <p:cNvPr id="10" name="toc_row2_n"/>
          <p:cNvSpPr txBox="1"/>
          <p:nvPr/>
        </p:nvSpPr>
        <p:spPr>
          <a:xfrm>
            <a:off x="731520" y="1892808"/>
            <a:ext cx="640080" cy="566928"/>
          </a:xfrm>
          <a:prstGeom prst="rect">
            <a:avLst/>
          </a:prstGeom>
          <a:noFill/>
          <a:ln/>
        </p:spPr>
        <p:txBody>
          <a:bodyPr wrap="square" lIns="0" tIns="0" rIns="0" bIns="0" rtlCol="0" anchor="ctr"/>
          <a:lstStyle/>
          <a:p>
            <a:pPr marL="0" indent="0">
              <a:buNone/>
            </a:pPr>
            <a:r>
              <a:rPr lang="en-US" sz="2400" b="1" dirty="0">
                <a:solidFill>
                  <a:srgbClr val="2E8B8B"/>
                </a:solidFill>
                <a:latin typeface="Calibri" pitchFamily="34" charset="0"/>
                <a:ea typeface="Calibri" pitchFamily="34" charset="-122"/>
                <a:cs typeface="Calibri" pitchFamily="34" charset="-120"/>
              </a:rPr>
              <a:t>02</a:t>
            </a:r>
            <a:endParaRPr lang="en-US" sz="2400" dirty="0"/>
          </a:p>
        </p:txBody>
      </p:sp>
      <p:sp>
        <p:nvSpPr>
          <p:cNvPr id="11" name="toc_row2_t"/>
          <p:cNvSpPr txBox="1"/>
          <p:nvPr/>
        </p:nvSpPr>
        <p:spPr>
          <a:xfrm>
            <a:off x="1463040" y="1892808"/>
            <a:ext cx="5669280" cy="566928"/>
          </a:xfrm>
          <a:prstGeom prst="rect">
            <a:avLst/>
          </a:prstGeom>
          <a:noFill/>
          <a:ln/>
        </p:spPr>
        <p:txBody>
          <a:bodyPr wrap="square" lIns="0" tIns="0" rIns="0" bIns="0" rtlCol="0" anchor="ctr"/>
          <a:lstStyle/>
          <a:p>
            <a:pPr marL="0" indent="0">
              <a:buNone/>
            </a:pPr>
            <a:r>
              <a:rPr lang="en-US" sz="1500" b="1" dirty="0">
                <a:solidFill>
                  <a:srgbClr val="1B3A5F"/>
                </a:solidFill>
                <a:latin typeface="Calibri" pitchFamily="34" charset="0"/>
                <a:ea typeface="Calibri" pitchFamily="34" charset="-122"/>
                <a:cs typeface="Calibri" pitchFamily="34" charset="-120"/>
              </a:rPr>
              <a:t>Methodology</a:t>
            </a:r>
            <a:endParaRPr lang="en-US" sz="1400" dirty="0"/>
          </a:p>
          <a:p>
            <a:pPr marL="0" indent="0">
              <a:buNone/>
            </a:pPr>
            <a:r>
              <a:rPr lang="en-US" sz="1100" dirty="0">
                <a:solidFill>
                  <a:srgbClr val="6B7785"/>
                </a:solidFill>
                <a:latin typeface="Calibri" pitchFamily="34" charset="0"/>
                <a:ea typeface="Calibri" pitchFamily="34" charset="-122"/>
                <a:cs typeface="Calibri" pitchFamily="34" charset="-120"/>
              </a:rPr>
              <a:t>Pipeline, crash-level rebuild, leakage control, models</a:t>
            </a:r>
            <a:endParaRPr lang="en-US" sz="1400" dirty="0"/>
          </a:p>
        </p:txBody>
      </p:sp>
      <p:sp>
        <p:nvSpPr>
          <p:cNvPr id="12" name="toc_row2_p"/>
          <p:cNvSpPr txBox="1"/>
          <p:nvPr/>
        </p:nvSpPr>
        <p:spPr>
          <a:xfrm>
            <a:off x="7132320" y="1892808"/>
            <a:ext cx="1280160" cy="566928"/>
          </a:xfrm>
          <a:prstGeom prst="rect">
            <a:avLst/>
          </a:prstGeom>
          <a:noFill/>
          <a:ln/>
        </p:spPr>
        <p:txBody>
          <a:bodyPr wrap="square" lIns="0" tIns="0" rIns="0" bIns="0" rtlCol="0" anchor="ctr"/>
          <a:lstStyle/>
          <a:p>
            <a:pPr marL="0" indent="0" algn="r">
              <a:buNone/>
            </a:pPr>
            <a:r>
              <a:rPr lang="en-US" sz="1150" dirty="0">
                <a:solidFill>
                  <a:srgbClr val="6B7785"/>
                </a:solidFill>
                <a:latin typeface="Calibri" pitchFamily="34" charset="0"/>
                <a:ea typeface="Calibri" pitchFamily="34" charset="-122"/>
                <a:cs typeface="Calibri" pitchFamily="34" charset="-120"/>
              </a:rPr>
              <a:t>Slides 6–11</a:t>
            </a:r>
            <a:endParaRPr lang="en-US" sz="1150" dirty="0"/>
          </a:p>
        </p:txBody>
      </p:sp>
      <p:sp>
        <p:nvSpPr>
          <p:cNvPr id="13" name="toc_row3"/>
          <p:cNvSpPr/>
          <p:nvPr/>
        </p:nvSpPr>
        <p:spPr>
          <a:xfrm>
            <a:off x="548640" y="2551176"/>
            <a:ext cx="8046720" cy="566928"/>
          </a:xfrm>
          <a:prstGeom prst="roundRect">
            <a:avLst>
              <a:gd name="adj" fmla="val 12903"/>
            </a:avLst>
          </a:prstGeom>
          <a:solidFill>
            <a:srgbClr val="E6ECF3"/>
          </a:solidFill>
          <a:ln w="9525">
            <a:solidFill>
              <a:srgbClr val="D5DCE4"/>
            </a:solidFill>
            <a:prstDash val="solid"/>
          </a:ln>
        </p:spPr>
      </p:sp>
      <p:sp>
        <p:nvSpPr>
          <p:cNvPr id="14" name="toc_row3_n"/>
          <p:cNvSpPr txBox="1"/>
          <p:nvPr/>
        </p:nvSpPr>
        <p:spPr>
          <a:xfrm>
            <a:off x="731520" y="2551176"/>
            <a:ext cx="640080" cy="566928"/>
          </a:xfrm>
          <a:prstGeom prst="rect">
            <a:avLst/>
          </a:prstGeom>
          <a:noFill/>
          <a:ln/>
        </p:spPr>
        <p:txBody>
          <a:bodyPr wrap="square" lIns="0" tIns="0" rIns="0" bIns="0" rtlCol="0" anchor="ctr"/>
          <a:lstStyle/>
          <a:p>
            <a:pPr marL="0" indent="0">
              <a:buNone/>
            </a:pPr>
            <a:r>
              <a:rPr lang="en-US" sz="2400" b="1" dirty="0">
                <a:solidFill>
                  <a:srgbClr val="2E8B8B"/>
                </a:solidFill>
                <a:latin typeface="Calibri" pitchFamily="34" charset="0"/>
                <a:ea typeface="Calibri" pitchFamily="34" charset="-122"/>
                <a:cs typeface="Calibri" pitchFamily="34" charset="-120"/>
              </a:rPr>
              <a:t>03</a:t>
            </a:r>
            <a:endParaRPr lang="en-US" sz="2400" dirty="0"/>
          </a:p>
        </p:txBody>
      </p:sp>
      <p:sp>
        <p:nvSpPr>
          <p:cNvPr id="15" name="toc_row3_t"/>
          <p:cNvSpPr txBox="1"/>
          <p:nvPr/>
        </p:nvSpPr>
        <p:spPr>
          <a:xfrm>
            <a:off x="1463040" y="2551176"/>
            <a:ext cx="5669280" cy="566928"/>
          </a:xfrm>
          <a:prstGeom prst="rect">
            <a:avLst/>
          </a:prstGeom>
          <a:noFill/>
          <a:ln/>
        </p:spPr>
        <p:txBody>
          <a:bodyPr wrap="square" lIns="0" tIns="0" rIns="0" bIns="0" rtlCol="0" anchor="ctr"/>
          <a:lstStyle/>
          <a:p>
            <a:pPr marL="0" indent="0">
              <a:buNone/>
            </a:pPr>
            <a:r>
              <a:rPr lang="en-US" sz="1500" b="1" dirty="0">
                <a:solidFill>
                  <a:srgbClr val="1B3A5F"/>
                </a:solidFill>
                <a:latin typeface="Calibri" pitchFamily="34" charset="0"/>
                <a:ea typeface="Calibri" pitchFamily="34" charset="-122"/>
                <a:cs typeface="Calibri" pitchFamily="34" charset="-120"/>
              </a:rPr>
              <a:t>Insights from the Data</a:t>
            </a:r>
            <a:endParaRPr lang="en-US" sz="1400" dirty="0"/>
          </a:p>
          <a:p>
            <a:pPr marL="0" indent="0">
              <a:buNone/>
            </a:pPr>
            <a:r>
              <a:rPr lang="en-US" sz="1100" dirty="0">
                <a:solidFill>
                  <a:srgbClr val="6B7785"/>
                </a:solidFill>
                <a:latin typeface="Calibri" pitchFamily="34" charset="0"/>
                <a:ea typeface="Calibri" pitchFamily="34" charset="-122"/>
                <a:cs typeface="Calibri" pitchFamily="34" charset="-120"/>
              </a:rPr>
              <a:t>Class balance, time, speed, feature relationships</a:t>
            </a:r>
            <a:endParaRPr lang="en-US" sz="1400" dirty="0"/>
          </a:p>
        </p:txBody>
      </p:sp>
      <p:sp>
        <p:nvSpPr>
          <p:cNvPr id="16" name="toc_row3_p"/>
          <p:cNvSpPr txBox="1"/>
          <p:nvPr/>
        </p:nvSpPr>
        <p:spPr>
          <a:xfrm>
            <a:off x="7132320" y="2551176"/>
            <a:ext cx="1280160" cy="566928"/>
          </a:xfrm>
          <a:prstGeom prst="rect">
            <a:avLst/>
          </a:prstGeom>
          <a:noFill/>
          <a:ln/>
        </p:spPr>
        <p:txBody>
          <a:bodyPr wrap="square" lIns="0" tIns="0" rIns="0" bIns="0" rtlCol="0" anchor="ctr"/>
          <a:lstStyle/>
          <a:p>
            <a:pPr marL="0" indent="0" algn="r">
              <a:buNone/>
            </a:pPr>
            <a:r>
              <a:rPr lang="en-US" sz="1150" dirty="0">
                <a:solidFill>
                  <a:srgbClr val="6B7785"/>
                </a:solidFill>
                <a:latin typeface="Calibri" pitchFamily="34" charset="0"/>
                <a:ea typeface="Calibri" pitchFamily="34" charset="-122"/>
                <a:cs typeface="Calibri" pitchFamily="34" charset="-120"/>
              </a:rPr>
              <a:t>Slides 12–16</a:t>
            </a:r>
            <a:endParaRPr lang="en-US" sz="1150" dirty="0"/>
          </a:p>
        </p:txBody>
      </p:sp>
      <p:sp>
        <p:nvSpPr>
          <p:cNvPr id="17" name="toc_row4"/>
          <p:cNvSpPr/>
          <p:nvPr/>
        </p:nvSpPr>
        <p:spPr>
          <a:xfrm>
            <a:off x="548640" y="3209544"/>
            <a:ext cx="8046720" cy="566928"/>
          </a:xfrm>
          <a:prstGeom prst="roundRect">
            <a:avLst>
              <a:gd name="adj" fmla="val 12903"/>
            </a:avLst>
          </a:prstGeom>
          <a:solidFill>
            <a:srgbClr val="F6F8FA"/>
          </a:solidFill>
          <a:ln w="9525">
            <a:solidFill>
              <a:srgbClr val="D5DCE4"/>
            </a:solidFill>
            <a:prstDash val="solid"/>
          </a:ln>
        </p:spPr>
      </p:sp>
      <p:sp>
        <p:nvSpPr>
          <p:cNvPr id="18" name="toc_row4_n"/>
          <p:cNvSpPr txBox="1"/>
          <p:nvPr/>
        </p:nvSpPr>
        <p:spPr>
          <a:xfrm>
            <a:off x="731520" y="3209544"/>
            <a:ext cx="640080" cy="566928"/>
          </a:xfrm>
          <a:prstGeom prst="rect">
            <a:avLst/>
          </a:prstGeom>
          <a:noFill/>
          <a:ln/>
        </p:spPr>
        <p:txBody>
          <a:bodyPr wrap="square" lIns="0" tIns="0" rIns="0" bIns="0" rtlCol="0" anchor="ctr"/>
          <a:lstStyle/>
          <a:p>
            <a:pPr marL="0" indent="0">
              <a:buNone/>
            </a:pPr>
            <a:r>
              <a:rPr lang="en-US" sz="2400" b="1" dirty="0">
                <a:solidFill>
                  <a:srgbClr val="2E8B8B"/>
                </a:solidFill>
                <a:latin typeface="Calibri" pitchFamily="34" charset="0"/>
                <a:ea typeface="Calibri" pitchFamily="34" charset="-122"/>
                <a:cs typeface="Calibri" pitchFamily="34" charset="-120"/>
              </a:rPr>
              <a:t>04</a:t>
            </a:r>
            <a:endParaRPr lang="en-US" sz="2400" dirty="0"/>
          </a:p>
        </p:txBody>
      </p:sp>
      <p:sp>
        <p:nvSpPr>
          <p:cNvPr id="19" name="toc_row4_t"/>
          <p:cNvSpPr txBox="1"/>
          <p:nvPr/>
        </p:nvSpPr>
        <p:spPr>
          <a:xfrm>
            <a:off x="1463040" y="3209544"/>
            <a:ext cx="5669280" cy="566928"/>
          </a:xfrm>
          <a:prstGeom prst="rect">
            <a:avLst/>
          </a:prstGeom>
          <a:noFill/>
          <a:ln/>
        </p:spPr>
        <p:txBody>
          <a:bodyPr wrap="square" lIns="0" tIns="0" rIns="0" bIns="0" rtlCol="0" anchor="ctr"/>
          <a:lstStyle/>
          <a:p>
            <a:pPr marL="0" indent="0">
              <a:buNone/>
            </a:pPr>
            <a:r>
              <a:rPr lang="en-US" sz="1500" b="1" dirty="0">
                <a:solidFill>
                  <a:srgbClr val="1B3A5F"/>
                </a:solidFill>
                <a:latin typeface="Calibri" pitchFamily="34" charset="0"/>
                <a:ea typeface="Calibri" pitchFamily="34" charset="-122"/>
                <a:cs typeface="Calibri" pitchFamily="34" charset="-120"/>
              </a:rPr>
              <a:t>Results and Evaluation</a:t>
            </a:r>
            <a:endParaRPr lang="en-US" sz="1400" dirty="0"/>
          </a:p>
          <a:p>
            <a:pPr marL="0" indent="0">
              <a:buNone/>
            </a:pPr>
            <a:r>
              <a:rPr lang="en-US" sz="1100" dirty="0">
                <a:solidFill>
                  <a:srgbClr val="6B7785"/>
                </a:solidFill>
                <a:latin typeface="Calibri" pitchFamily="34" charset="0"/>
                <a:ea typeface="Calibri" pitchFamily="34" charset="-122"/>
                <a:cs typeface="Calibri" pitchFamily="34" charset="-120"/>
              </a:rPr>
              <a:t>Model comparison, errors, what the model relies on</a:t>
            </a:r>
            <a:endParaRPr lang="en-US" sz="1400" dirty="0"/>
          </a:p>
        </p:txBody>
      </p:sp>
      <p:sp>
        <p:nvSpPr>
          <p:cNvPr id="20" name="toc_row4_p"/>
          <p:cNvSpPr txBox="1"/>
          <p:nvPr/>
        </p:nvSpPr>
        <p:spPr>
          <a:xfrm>
            <a:off x="7132320" y="3209544"/>
            <a:ext cx="1280160" cy="566928"/>
          </a:xfrm>
          <a:prstGeom prst="rect">
            <a:avLst/>
          </a:prstGeom>
          <a:noFill/>
          <a:ln/>
        </p:spPr>
        <p:txBody>
          <a:bodyPr wrap="square" lIns="0" tIns="0" rIns="0" bIns="0" rtlCol="0" anchor="ctr"/>
          <a:lstStyle/>
          <a:p>
            <a:pPr marL="0" indent="0" algn="r">
              <a:buNone/>
            </a:pPr>
            <a:r>
              <a:rPr lang="en-US" sz="1150" dirty="0">
                <a:solidFill>
                  <a:srgbClr val="6B7785"/>
                </a:solidFill>
                <a:latin typeface="Calibri" pitchFamily="34" charset="0"/>
                <a:ea typeface="Calibri" pitchFamily="34" charset="-122"/>
                <a:cs typeface="Calibri" pitchFamily="34" charset="-120"/>
              </a:rPr>
              <a:t>Slides 17–22</a:t>
            </a:r>
            <a:endParaRPr lang="en-US" sz="1150" dirty="0"/>
          </a:p>
        </p:txBody>
      </p:sp>
      <p:sp>
        <p:nvSpPr>
          <p:cNvPr id="21" name="toc_row5"/>
          <p:cNvSpPr/>
          <p:nvPr/>
        </p:nvSpPr>
        <p:spPr>
          <a:xfrm>
            <a:off x="548640" y="3867912"/>
            <a:ext cx="8046720" cy="566928"/>
          </a:xfrm>
          <a:prstGeom prst="roundRect">
            <a:avLst>
              <a:gd name="adj" fmla="val 12903"/>
            </a:avLst>
          </a:prstGeom>
          <a:solidFill>
            <a:srgbClr val="E6ECF3"/>
          </a:solidFill>
          <a:ln w="9525">
            <a:solidFill>
              <a:srgbClr val="D5DCE4"/>
            </a:solidFill>
            <a:prstDash val="solid"/>
          </a:ln>
        </p:spPr>
      </p:sp>
      <p:sp>
        <p:nvSpPr>
          <p:cNvPr id="22" name="toc_row5_n"/>
          <p:cNvSpPr txBox="1"/>
          <p:nvPr/>
        </p:nvSpPr>
        <p:spPr>
          <a:xfrm>
            <a:off x="731520" y="3867912"/>
            <a:ext cx="640080" cy="566928"/>
          </a:xfrm>
          <a:prstGeom prst="rect">
            <a:avLst/>
          </a:prstGeom>
          <a:noFill/>
          <a:ln/>
        </p:spPr>
        <p:txBody>
          <a:bodyPr wrap="square" lIns="0" tIns="0" rIns="0" bIns="0" rtlCol="0" anchor="ctr"/>
          <a:lstStyle/>
          <a:p>
            <a:pPr marL="0" indent="0">
              <a:buNone/>
            </a:pPr>
            <a:r>
              <a:rPr lang="en-US" sz="2400" b="1" dirty="0">
                <a:solidFill>
                  <a:srgbClr val="2E8B8B"/>
                </a:solidFill>
                <a:latin typeface="Calibri" pitchFamily="34" charset="0"/>
                <a:ea typeface="Calibri" pitchFamily="34" charset="-122"/>
                <a:cs typeface="Calibri" pitchFamily="34" charset="-120"/>
              </a:rPr>
              <a:t>05</a:t>
            </a:r>
            <a:endParaRPr lang="en-US" sz="2400" dirty="0"/>
          </a:p>
        </p:txBody>
      </p:sp>
      <p:sp>
        <p:nvSpPr>
          <p:cNvPr id="23" name="toc_row5_t"/>
          <p:cNvSpPr txBox="1"/>
          <p:nvPr/>
        </p:nvSpPr>
        <p:spPr>
          <a:xfrm>
            <a:off x="1463040" y="3867912"/>
            <a:ext cx="5669280" cy="566928"/>
          </a:xfrm>
          <a:prstGeom prst="rect">
            <a:avLst/>
          </a:prstGeom>
          <a:noFill/>
          <a:ln/>
        </p:spPr>
        <p:txBody>
          <a:bodyPr wrap="square" lIns="0" tIns="0" rIns="0" bIns="0" rtlCol="0" anchor="ctr"/>
          <a:lstStyle/>
          <a:p>
            <a:pPr marL="0" indent="0">
              <a:buNone/>
            </a:pPr>
            <a:r>
              <a:rPr lang="en-US" sz="1500" b="1" dirty="0">
                <a:solidFill>
                  <a:srgbClr val="1B3A5F"/>
                </a:solidFill>
                <a:latin typeface="Calibri" pitchFamily="34" charset="0"/>
                <a:ea typeface="Calibri" pitchFamily="34" charset="-122"/>
                <a:cs typeface="Calibri" pitchFamily="34" charset="-120"/>
              </a:rPr>
              <a:t>Conclusion and Way Forward</a:t>
            </a:r>
            <a:endParaRPr lang="en-US" sz="1400" dirty="0"/>
          </a:p>
          <a:p>
            <a:pPr marL="0" indent="0">
              <a:buNone/>
            </a:pPr>
            <a:r>
              <a:rPr lang="en-US" sz="1100" dirty="0">
                <a:solidFill>
                  <a:srgbClr val="6B7785"/>
                </a:solidFill>
                <a:latin typeface="Calibri" pitchFamily="34" charset="0"/>
                <a:ea typeface="Calibri" pitchFamily="34" charset="-122"/>
                <a:cs typeface="Calibri" pitchFamily="34" charset="-120"/>
              </a:rPr>
              <a:t>Summary, limits, next steps, questions</a:t>
            </a:r>
            <a:endParaRPr lang="en-US" sz="1400" dirty="0"/>
          </a:p>
        </p:txBody>
      </p:sp>
      <p:sp>
        <p:nvSpPr>
          <p:cNvPr id="24" name="toc_row5_p"/>
          <p:cNvSpPr txBox="1"/>
          <p:nvPr/>
        </p:nvSpPr>
        <p:spPr>
          <a:xfrm>
            <a:off x="7132320" y="3867912"/>
            <a:ext cx="1280160" cy="566928"/>
          </a:xfrm>
          <a:prstGeom prst="rect">
            <a:avLst/>
          </a:prstGeom>
          <a:noFill/>
          <a:ln/>
        </p:spPr>
        <p:txBody>
          <a:bodyPr wrap="square" lIns="0" tIns="0" rIns="0" bIns="0" rtlCol="0" anchor="ctr"/>
          <a:lstStyle/>
          <a:p>
            <a:pPr marL="0" indent="0" algn="r">
              <a:buNone/>
            </a:pPr>
            <a:r>
              <a:rPr lang="en-US" sz="1150" dirty="0">
                <a:solidFill>
                  <a:srgbClr val="6B7785"/>
                </a:solidFill>
                <a:latin typeface="Calibri" pitchFamily="34" charset="0"/>
                <a:ea typeface="Calibri" pitchFamily="34" charset="-122"/>
                <a:cs typeface="Calibri" pitchFamily="34" charset="-120"/>
              </a:rPr>
              <a:t>Slides 23–24</a:t>
            </a:r>
            <a:endParaRPr lang="en-US" sz="115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2" presetClass="entr" presetSubtype="8" fill="hold" nodeType="withEffect">
                                  <p:stCondLst>
                                    <p:cond delay="25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0-#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10" presetClass="entr" presetSubtype="0" fill="hold" nodeType="withEffect">
                                  <p:stCondLst>
                                    <p:cond delay="25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nodeType="withEffect">
                                  <p:stCondLst>
                                    <p:cond delay="25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nodeType="withEffect">
                                  <p:stCondLst>
                                    <p:cond delay="2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2" presetClass="entr" presetSubtype="8" fill="hold" nodeType="withEffect">
                                  <p:stCondLst>
                                    <p:cond delay="50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0-#ppt_w/2"/>
                                          </p:val>
                                        </p:tav>
                                        <p:tav tm="100000">
                                          <p:val>
                                            <p:strVal val="#ppt_x"/>
                                          </p:val>
                                        </p:tav>
                                      </p:tavLst>
                                    </p:anim>
                                    <p:anim calcmode="lin" valueType="num">
                                      <p:cBhvr additive="base">
                                        <p:cTn id="34" dur="500" fill="hold"/>
                                        <p:tgtEl>
                                          <p:spTgt spid="13"/>
                                        </p:tgtEl>
                                        <p:attrNameLst>
                                          <p:attrName>ppt_y</p:attrName>
                                        </p:attrNameLst>
                                      </p:cBhvr>
                                      <p:tavLst>
                                        <p:tav tm="0">
                                          <p:val>
                                            <p:strVal val="#ppt_y"/>
                                          </p:val>
                                        </p:tav>
                                        <p:tav tm="100000">
                                          <p:val>
                                            <p:strVal val="#ppt_y"/>
                                          </p:val>
                                        </p:tav>
                                      </p:tavLst>
                                    </p:anim>
                                  </p:childTnLst>
                                </p:cTn>
                              </p:par>
                              <p:par>
                                <p:cTn id="35" presetID="10" presetClass="entr" presetSubtype="0" fill="hold" nodeType="withEffect">
                                  <p:stCondLst>
                                    <p:cond delay="5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nodeType="withEffect">
                                  <p:stCondLst>
                                    <p:cond delay="5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par>
                                <p:cTn id="41" presetID="10" presetClass="entr" presetSubtype="0" fill="hold" nodeType="withEffect">
                                  <p:stCondLst>
                                    <p:cond delay="5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par>
                                <p:cTn id="44" presetID="2" presetClass="entr" presetSubtype="8" fill="hold" nodeType="withEffect">
                                  <p:stCondLst>
                                    <p:cond delay="750"/>
                                  </p:stCondLst>
                                  <p:childTnLst>
                                    <p:set>
                                      <p:cBhvr>
                                        <p:cTn id="45" dur="1" fill="hold">
                                          <p:stCondLst>
                                            <p:cond delay="0"/>
                                          </p:stCondLst>
                                        </p:cTn>
                                        <p:tgtEl>
                                          <p:spTgt spid="17"/>
                                        </p:tgtEl>
                                        <p:attrNameLst>
                                          <p:attrName>style.visibility</p:attrName>
                                        </p:attrNameLst>
                                      </p:cBhvr>
                                      <p:to>
                                        <p:strVal val="visible"/>
                                      </p:to>
                                    </p:set>
                                    <p:anim calcmode="lin" valueType="num">
                                      <p:cBhvr additive="base">
                                        <p:cTn id="46" dur="500" fill="hold"/>
                                        <p:tgtEl>
                                          <p:spTgt spid="17"/>
                                        </p:tgtEl>
                                        <p:attrNameLst>
                                          <p:attrName>ppt_x</p:attrName>
                                        </p:attrNameLst>
                                      </p:cBhvr>
                                      <p:tavLst>
                                        <p:tav tm="0">
                                          <p:val>
                                            <p:strVal val="0-#ppt_w/2"/>
                                          </p:val>
                                        </p:tav>
                                        <p:tav tm="100000">
                                          <p:val>
                                            <p:strVal val="#ppt_x"/>
                                          </p:val>
                                        </p:tav>
                                      </p:tavLst>
                                    </p:anim>
                                    <p:anim calcmode="lin" valueType="num">
                                      <p:cBhvr additive="base">
                                        <p:cTn id="47" dur="500" fill="hold"/>
                                        <p:tgtEl>
                                          <p:spTgt spid="17"/>
                                        </p:tgtEl>
                                        <p:attrNameLst>
                                          <p:attrName>ppt_y</p:attrName>
                                        </p:attrNameLst>
                                      </p:cBhvr>
                                      <p:tavLst>
                                        <p:tav tm="0">
                                          <p:val>
                                            <p:strVal val="#ppt_y"/>
                                          </p:val>
                                        </p:tav>
                                        <p:tav tm="100000">
                                          <p:val>
                                            <p:strVal val="#ppt_y"/>
                                          </p:val>
                                        </p:tav>
                                      </p:tavLst>
                                    </p:anim>
                                  </p:childTnLst>
                                </p:cTn>
                              </p:par>
                              <p:par>
                                <p:cTn id="48" presetID="10" presetClass="entr" presetSubtype="0" fill="hold" nodeType="withEffect">
                                  <p:stCondLst>
                                    <p:cond delay="75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500"/>
                                        <p:tgtEl>
                                          <p:spTgt spid="18"/>
                                        </p:tgtEl>
                                      </p:cBhvr>
                                    </p:animEffect>
                                  </p:childTnLst>
                                </p:cTn>
                              </p:par>
                              <p:par>
                                <p:cTn id="51" presetID="10" presetClass="entr" presetSubtype="0" fill="hold" nodeType="withEffect">
                                  <p:stCondLst>
                                    <p:cond delay="75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500"/>
                                        <p:tgtEl>
                                          <p:spTgt spid="19"/>
                                        </p:tgtEl>
                                      </p:cBhvr>
                                    </p:animEffect>
                                  </p:childTnLst>
                                </p:cTn>
                              </p:par>
                              <p:par>
                                <p:cTn id="54" presetID="10" presetClass="entr" presetSubtype="0" fill="hold" nodeType="withEffect">
                                  <p:stCondLst>
                                    <p:cond delay="75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500"/>
                                        <p:tgtEl>
                                          <p:spTgt spid="20"/>
                                        </p:tgtEl>
                                      </p:cBhvr>
                                    </p:animEffect>
                                  </p:childTnLst>
                                </p:cTn>
                              </p:par>
                              <p:par>
                                <p:cTn id="57" presetID="2" presetClass="entr" presetSubtype="8" fill="hold" nodeType="withEffect">
                                  <p:stCondLst>
                                    <p:cond delay="1000"/>
                                  </p:stCondLst>
                                  <p:childTnLst>
                                    <p:set>
                                      <p:cBhvr>
                                        <p:cTn id="58" dur="1" fill="hold">
                                          <p:stCondLst>
                                            <p:cond delay="0"/>
                                          </p:stCondLst>
                                        </p:cTn>
                                        <p:tgtEl>
                                          <p:spTgt spid="21"/>
                                        </p:tgtEl>
                                        <p:attrNameLst>
                                          <p:attrName>style.visibility</p:attrName>
                                        </p:attrNameLst>
                                      </p:cBhvr>
                                      <p:to>
                                        <p:strVal val="visible"/>
                                      </p:to>
                                    </p:set>
                                    <p:anim calcmode="lin" valueType="num">
                                      <p:cBhvr additive="base">
                                        <p:cTn id="59" dur="500" fill="hold"/>
                                        <p:tgtEl>
                                          <p:spTgt spid="21"/>
                                        </p:tgtEl>
                                        <p:attrNameLst>
                                          <p:attrName>ppt_x</p:attrName>
                                        </p:attrNameLst>
                                      </p:cBhvr>
                                      <p:tavLst>
                                        <p:tav tm="0">
                                          <p:val>
                                            <p:strVal val="0-#ppt_w/2"/>
                                          </p:val>
                                        </p:tav>
                                        <p:tav tm="100000">
                                          <p:val>
                                            <p:strVal val="#ppt_x"/>
                                          </p:val>
                                        </p:tav>
                                      </p:tavLst>
                                    </p:anim>
                                    <p:anim calcmode="lin" valueType="num">
                                      <p:cBhvr additive="base">
                                        <p:cTn id="60" dur="500" fill="hold"/>
                                        <p:tgtEl>
                                          <p:spTgt spid="21"/>
                                        </p:tgtEl>
                                        <p:attrNameLst>
                                          <p:attrName>ppt_y</p:attrName>
                                        </p:attrNameLst>
                                      </p:cBhvr>
                                      <p:tavLst>
                                        <p:tav tm="0">
                                          <p:val>
                                            <p:strVal val="#ppt_y"/>
                                          </p:val>
                                        </p:tav>
                                        <p:tav tm="100000">
                                          <p:val>
                                            <p:strVal val="#ppt_y"/>
                                          </p:val>
                                        </p:tav>
                                      </p:tavLst>
                                    </p:anim>
                                  </p:childTnLst>
                                </p:cTn>
                              </p:par>
                              <p:par>
                                <p:cTn id="61" presetID="10" presetClass="entr" presetSubtype="0" fill="hold" nodeType="withEffect">
                                  <p:stCondLst>
                                    <p:cond delay="100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nodeType="withEffect">
                                  <p:stCondLst>
                                    <p:cond delay="100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nodeType="withEffect">
                                  <p:stCondLst>
                                    <p:cond delay="100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ecnum"/>
          <p:cNvSpPr txBox="1"/>
          <p:nvPr/>
        </p:nvSpPr>
        <p:spPr>
          <a:xfrm>
            <a:off x="731520" y="1051560"/>
            <a:ext cx="1371600" cy="1371600"/>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01</a:t>
            </a:r>
            <a:endParaRPr lang="en-US" sz="4400" dirty="0"/>
          </a:p>
        </p:txBody>
      </p:sp>
      <p:sp>
        <p:nvSpPr>
          <p:cNvPr id="4" name="!!title"/>
          <p:cNvSpPr txBox="1"/>
          <p:nvPr/>
        </p:nvSpPr>
        <p:spPr>
          <a:xfrm>
            <a:off x="731520" y="2697480"/>
            <a:ext cx="7680960" cy="8686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The Problem and the Data</a:t>
            </a:r>
            <a:endParaRPr lang="en-US" sz="4000" dirty="0"/>
          </a:p>
        </p:txBody>
      </p:sp>
      <p:sp>
        <p:nvSpPr>
          <p:cNvPr id="5" name="!!subtitle"/>
          <p:cNvSpPr txBox="1"/>
          <p:nvPr/>
        </p:nvSpPr>
        <p:spPr>
          <a:xfrm>
            <a:off x="731520" y="3611880"/>
            <a:ext cx="7498080" cy="640080"/>
          </a:xfrm>
          <a:prstGeom prst="rect">
            <a:avLst/>
          </a:prstGeom>
          <a:noFill/>
          <a:ln/>
        </p:spPr>
        <p:txBody>
          <a:bodyPr wrap="square" lIns="0" tIns="0" rIns="0" bIns="0" rtlCol="0" anchor="t"/>
          <a:lstStyle/>
          <a:p>
            <a:pPr marL="0" indent="0">
              <a:buNone/>
            </a:pPr>
            <a:r>
              <a:rPr lang="en-US" sz="1600" dirty="0">
                <a:solidFill>
                  <a:srgbClr val="B9C9DA"/>
                </a:solidFill>
                <a:latin typeface="Calibri" pitchFamily="34" charset="0"/>
                <a:ea typeface="Calibri" pitchFamily="34" charset="-122"/>
                <a:cs typeface="Calibri" pitchFamily="34" charset="-120"/>
              </a:rPr>
              <a:t>Why crash severity matters, and what we have to work with</a:t>
            </a:r>
            <a:endParaRPr lang="en-US" sz="16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9FB4CC"/>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Why predicting crash severity matters</a:t>
            </a:r>
            <a:endParaRPr lang="en-US" sz="2600" dirty="0"/>
          </a:p>
        </p:txBody>
      </p:sp>
      <p:graphicFrame>
        <p:nvGraphicFramePr>
          <p:cNvPr id="5" name="s4_table"/>
          <p:cNvGraphicFramePr>
            <a:graphicFrameLocks noGrp="1"/>
          </p:cNvGraphicFramePr>
          <p:nvPr>
            <p:extLst>
              <p:ext uri="{D42A27DB-BD31-4B8C-83A1-F6EECF244321}">
                <p14:modId xmlns:p14="http://schemas.microsoft.com/office/powerpoint/2010/main" val="1579011935"/>
              </p:ext>
            </p:extLst>
          </p:nvPr>
        </p:nvGraphicFramePr>
        <p:xfrm>
          <a:off x="548640" y="1280160"/>
          <a:ext cx="4114800" cy="1941576"/>
        </p:xfrm>
        <a:graphic>
          <a:graphicData uri="http://schemas.openxmlformats.org/drawingml/2006/table">
            <a:tbl>
              <a:tblPr/>
              <a:tblGrid>
                <a:gridCol w="20116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84048">
                <a:tc>
                  <a:txBody>
                    <a:bodyPr/>
                    <a:lstStyle/>
                    <a:p>
                      <a:pPr marL="0" indent="0" algn="ctr">
                        <a:buNone/>
                      </a:pPr>
                      <a:r>
                        <a:rPr lang="en-US" sz="1100" b="1" dirty="0">
                          <a:solidFill>
                            <a:srgbClr val="FFFFFF"/>
                          </a:solidFill>
                        </a:rPr>
                        <a:t>Indicator</a:t>
                      </a:r>
                      <a:endParaRPr lang="en-US" sz="110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100" b="1" dirty="0">
                          <a:solidFill>
                            <a:srgbClr val="FFFFFF"/>
                          </a:solidFill>
                        </a:rPr>
                        <a:t>Value</a:t>
                      </a:r>
                      <a:endParaRPr lang="en-US" sz="110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100" b="1" dirty="0">
                          <a:solidFill>
                            <a:srgbClr val="FFFFFF"/>
                          </a:solidFill>
                        </a:rPr>
                        <a:t>Source</a:t>
                      </a:r>
                      <a:endParaRPr lang="en-US" sz="110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333333"/>
                          </a:solidFill>
                        </a:rPr>
                        <a:t>Road deaths worldwide, per year</a:t>
                      </a:r>
                      <a:endParaRPr lang="en-US" sz="115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150" b="1" dirty="0">
                          <a:solidFill>
                            <a:srgbClr val="333333"/>
                          </a:solidFill>
                        </a:rPr>
                        <a:t>1.19 million</a:t>
                      </a:r>
                      <a:endParaRPr lang="en-US" sz="115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150" dirty="0">
                          <a:solidFill>
                            <a:srgbClr val="333333"/>
                          </a:solidFill>
                        </a:rPr>
                        <a:t>WHO, 2023</a:t>
                      </a:r>
                      <a:endParaRPr lang="en-US" sz="115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50" dirty="0">
                          <a:solidFill>
                            <a:srgbClr val="333333"/>
                          </a:solidFill>
                        </a:rPr>
                        <a:t>Road accidents in India, 2023</a:t>
                      </a:r>
                      <a:endParaRPr lang="en-US" sz="115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150" b="1" dirty="0">
                          <a:solidFill>
                            <a:srgbClr val="333333"/>
                          </a:solidFill>
                        </a:rPr>
                        <a:t>4,80,583</a:t>
                      </a:r>
                      <a:endParaRPr lang="en-US" sz="115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150" dirty="0">
                          <a:solidFill>
                            <a:srgbClr val="333333"/>
                          </a:solidFill>
                        </a:rPr>
                        <a:t>MoRTH, 2025</a:t>
                      </a:r>
                      <a:endParaRPr lang="en-US" sz="115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333333"/>
                          </a:solidFill>
                        </a:rPr>
                        <a:t>Deaths in India, 2023</a:t>
                      </a:r>
                      <a:endParaRPr lang="en-US" sz="115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150" b="1" dirty="0">
                          <a:solidFill>
                            <a:srgbClr val="C75B39"/>
                          </a:solidFill>
                        </a:rPr>
                        <a:t>1,72,890</a:t>
                      </a:r>
                      <a:endParaRPr lang="en-US" sz="115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150" dirty="0">
                          <a:solidFill>
                            <a:srgbClr val="333333"/>
                          </a:solidFill>
                        </a:rPr>
                        <a:t>MoRTH, 2025</a:t>
                      </a:r>
                      <a:endParaRPr lang="en-US" sz="115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50" dirty="0">
                          <a:solidFill>
                            <a:srgbClr val="333333"/>
                          </a:solidFill>
                        </a:rPr>
                        <a:t>Injured in India, 2023</a:t>
                      </a:r>
                      <a:endParaRPr lang="en-US" sz="115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150" b="1" dirty="0">
                          <a:solidFill>
                            <a:srgbClr val="333333"/>
                          </a:solidFill>
                        </a:rPr>
                        <a:t>4,62,825</a:t>
                      </a:r>
                      <a:endParaRPr lang="en-US" sz="115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150" dirty="0">
                          <a:solidFill>
                            <a:srgbClr val="333333"/>
                          </a:solidFill>
                        </a:rPr>
                        <a:t>MoRTH, 2025</a:t>
                      </a:r>
                      <a:endParaRPr lang="en-US" sz="1150" dirty="0"/>
                    </a:p>
                  </a:txBody>
                  <a:tcPr marL="54864" marR="54864"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4_b1"/>
          <p:cNvSpPr txBox="1"/>
          <p:nvPr/>
        </p:nvSpPr>
        <p:spPr>
          <a:xfrm>
            <a:off x="5120640" y="1280160"/>
            <a:ext cx="3474720" cy="658368"/>
          </a:xfrm>
          <a:prstGeom prst="roundRect">
            <a:avLst>
              <a:gd name="adj" fmla="val 11111"/>
            </a:avLst>
          </a:prstGeom>
          <a:solidFill>
            <a:srgbClr val="E6ECF3"/>
          </a:solidFill>
          <a:ln w="12700">
            <a:solidFill>
              <a:srgbClr val="1B3A5F"/>
            </a:solidFill>
          </a:ln>
        </p:spPr>
        <p:txBody>
          <a:bodyPr wrap="square" lIns="635" tIns="635" rIns="635" bIns="635" rtlCol="0" anchor="ctr"/>
          <a:lstStyle/>
          <a:p>
            <a:pPr marL="0" indent="0" algn="ctr">
              <a:buNone/>
            </a:pPr>
            <a:r>
              <a:rPr lang="en-US" sz="1400" b="1" dirty="0">
                <a:solidFill>
                  <a:srgbClr val="1B3A5F"/>
                </a:solidFill>
                <a:latin typeface="Calibri" pitchFamily="34" charset="0"/>
                <a:ea typeface="Calibri" pitchFamily="34" charset="-122"/>
                <a:cs typeface="Calibri" pitchFamily="34" charset="-120"/>
              </a:rPr>
              <a:t>Crash facts</a:t>
            </a:r>
            <a:endParaRPr lang="en-US" sz="1200" dirty="0"/>
          </a:p>
          <a:p>
            <a:pPr marL="0" indent="0" algn="ctr">
              <a:buNone/>
            </a:pPr>
            <a:r>
              <a:rPr lang="en-US" sz="1100" dirty="0">
                <a:solidFill>
                  <a:srgbClr val="333333"/>
                </a:solidFill>
                <a:latin typeface="Calibri" pitchFamily="34" charset="0"/>
                <a:ea typeface="Calibri" pitchFamily="34" charset="-122"/>
                <a:cs typeface="Calibri" pitchFamily="34" charset="-120"/>
              </a:rPr>
              <a:t>speed, vehicles, road, people</a:t>
            </a:r>
            <a:endParaRPr lang="en-US" sz="1200" dirty="0"/>
          </a:p>
        </p:txBody>
      </p:sp>
      <p:sp>
        <p:nvSpPr>
          <p:cNvPr id="7" name="s4_a1"/>
          <p:cNvSpPr/>
          <p:nvPr/>
        </p:nvSpPr>
        <p:spPr>
          <a:xfrm>
            <a:off x="6858000" y="1956816"/>
            <a:ext cx="0" cy="182880"/>
          </a:xfrm>
          <a:prstGeom prst="line">
            <a:avLst/>
          </a:prstGeom>
          <a:noFill/>
          <a:ln w="25400">
            <a:solidFill>
              <a:srgbClr val="6B7785"/>
            </a:solidFill>
            <a:prstDash val="solid"/>
            <a:tailEnd type="triangle"/>
          </a:ln>
        </p:spPr>
      </p:sp>
      <p:sp>
        <p:nvSpPr>
          <p:cNvPr id="8" name="s4_b2"/>
          <p:cNvSpPr txBox="1"/>
          <p:nvPr/>
        </p:nvSpPr>
        <p:spPr>
          <a:xfrm>
            <a:off x="5120640" y="2148840"/>
            <a:ext cx="3474720" cy="658368"/>
          </a:xfrm>
          <a:prstGeom prst="roundRect">
            <a:avLst>
              <a:gd name="adj" fmla="val 11111"/>
            </a:avLst>
          </a:prstGeom>
          <a:solidFill>
            <a:srgbClr val="E3F1F1"/>
          </a:solidFill>
          <a:ln w="12700">
            <a:solidFill>
              <a:srgbClr val="2E8B8B"/>
            </a:solidFill>
          </a:ln>
        </p:spPr>
        <p:txBody>
          <a:bodyPr wrap="square" lIns="635" tIns="635" rIns="635" bIns="635" rtlCol="0" anchor="ctr"/>
          <a:lstStyle/>
          <a:p>
            <a:pPr marL="0" indent="0" algn="ctr">
              <a:buNone/>
            </a:pPr>
            <a:r>
              <a:rPr lang="en-US" sz="1400" b="1" dirty="0">
                <a:solidFill>
                  <a:srgbClr val="2E8B8B"/>
                </a:solidFill>
                <a:latin typeface="Calibri" pitchFamily="34" charset="0"/>
                <a:ea typeface="Calibri" pitchFamily="34" charset="-122"/>
                <a:cs typeface="Calibri" pitchFamily="34" charset="-120"/>
              </a:rPr>
              <a:t>Model</a:t>
            </a:r>
            <a:endParaRPr lang="en-US" sz="1200" dirty="0"/>
          </a:p>
          <a:p>
            <a:pPr marL="0" indent="0" algn="ctr">
              <a:buNone/>
            </a:pPr>
            <a:r>
              <a:rPr lang="en-US" sz="1100" dirty="0">
                <a:solidFill>
                  <a:srgbClr val="333333"/>
                </a:solidFill>
                <a:latin typeface="Calibri" pitchFamily="34" charset="0"/>
                <a:ea typeface="Calibri" pitchFamily="34" charset="-122"/>
                <a:cs typeface="Calibri" pitchFamily="34" charset="-120"/>
              </a:rPr>
              <a:t>learns from 20,000 crashes</a:t>
            </a:r>
            <a:endParaRPr lang="en-US" sz="1200" dirty="0"/>
          </a:p>
        </p:txBody>
      </p:sp>
      <p:sp>
        <p:nvSpPr>
          <p:cNvPr id="9" name="s4_a2"/>
          <p:cNvSpPr/>
          <p:nvPr/>
        </p:nvSpPr>
        <p:spPr>
          <a:xfrm>
            <a:off x="6858000" y="2825496"/>
            <a:ext cx="0" cy="182880"/>
          </a:xfrm>
          <a:prstGeom prst="line">
            <a:avLst/>
          </a:prstGeom>
          <a:noFill/>
          <a:ln w="25400">
            <a:solidFill>
              <a:srgbClr val="6B7785"/>
            </a:solidFill>
            <a:prstDash val="solid"/>
            <a:tailEnd type="triangle"/>
          </a:ln>
        </p:spPr>
      </p:sp>
      <p:sp>
        <p:nvSpPr>
          <p:cNvPr id="10" name="s4_b3"/>
          <p:cNvSpPr txBox="1"/>
          <p:nvPr/>
        </p:nvSpPr>
        <p:spPr>
          <a:xfrm>
            <a:off x="5120640" y="3017520"/>
            <a:ext cx="3474720" cy="658368"/>
          </a:xfrm>
          <a:prstGeom prst="roundRect">
            <a:avLst>
              <a:gd name="adj" fmla="val 11111"/>
            </a:avLst>
          </a:prstGeom>
          <a:solidFill>
            <a:srgbClr val="FBEAE4"/>
          </a:solidFill>
          <a:ln w="12700">
            <a:solidFill>
              <a:srgbClr val="C75B39"/>
            </a:solidFill>
          </a:ln>
        </p:spPr>
        <p:txBody>
          <a:bodyPr wrap="square" lIns="635" tIns="635" rIns="635" bIns="635" rtlCol="0" anchor="ctr"/>
          <a:lstStyle/>
          <a:p>
            <a:pPr marL="0" indent="0" algn="ctr">
              <a:buNone/>
            </a:pPr>
            <a:r>
              <a:rPr lang="en-US" sz="1400" b="1" dirty="0">
                <a:solidFill>
                  <a:srgbClr val="C75B39"/>
                </a:solidFill>
                <a:latin typeface="Calibri" pitchFamily="34" charset="0"/>
                <a:ea typeface="Calibri" pitchFamily="34" charset="-122"/>
                <a:cs typeface="Calibri" pitchFamily="34" charset="-120"/>
              </a:rPr>
              <a:t>Severity</a:t>
            </a:r>
            <a:endParaRPr lang="en-US" sz="1200" dirty="0"/>
          </a:p>
          <a:p>
            <a:pPr marL="0" indent="0" algn="ctr">
              <a:buNone/>
            </a:pPr>
            <a:r>
              <a:rPr lang="en-US" sz="1100" dirty="0">
                <a:solidFill>
                  <a:srgbClr val="333333"/>
                </a:solidFill>
                <a:latin typeface="Calibri" pitchFamily="34" charset="0"/>
                <a:ea typeface="Calibri" pitchFamily="34" charset="-122"/>
                <a:cs typeface="Calibri" pitchFamily="34" charset="-120"/>
              </a:rPr>
              <a:t>minor · major · fatal</a:t>
            </a:r>
            <a:endParaRPr lang="en-US" sz="1200" dirty="0"/>
          </a:p>
        </p:txBody>
      </p:sp>
      <p:sp>
        <p:nvSpPr>
          <p:cNvPr id="11" name="s4_why_bg"/>
          <p:cNvSpPr/>
          <p:nvPr/>
        </p:nvSpPr>
        <p:spPr>
          <a:xfrm>
            <a:off x="548640" y="4114800"/>
            <a:ext cx="8046720" cy="329184"/>
          </a:xfrm>
          <a:prstGeom prst="roundRect">
            <a:avLst>
              <a:gd name="adj" fmla="val 22222"/>
            </a:avLst>
          </a:prstGeom>
          <a:solidFill>
            <a:srgbClr val="E3F1F1"/>
          </a:solidFill>
          <a:ln w="9525">
            <a:solidFill>
              <a:srgbClr val="E3F1F1"/>
            </a:solidFill>
            <a:prstDash val="solid"/>
          </a:ln>
        </p:spPr>
      </p:sp>
      <p:sp>
        <p:nvSpPr>
          <p:cNvPr id="12" name="s4_why"/>
          <p:cNvSpPr txBox="1"/>
          <p:nvPr/>
        </p:nvSpPr>
        <p:spPr>
          <a:xfrm>
            <a:off x="731520" y="4114800"/>
            <a:ext cx="7772400" cy="329184"/>
          </a:xfrm>
          <a:prstGeom prst="rect">
            <a:avLst/>
          </a:prstGeom>
          <a:noFill/>
          <a:ln/>
        </p:spPr>
        <p:txBody>
          <a:bodyPr wrap="square" lIns="0" tIns="0" rIns="0" bIns="0" rtlCol="0" anchor="ctr"/>
          <a:lstStyle/>
          <a:p>
            <a:pPr marL="0" indent="0">
              <a:buNone/>
            </a:pPr>
            <a:r>
              <a:rPr lang="en-US" sz="1000" b="1" kern="0" spc="200" dirty="0">
                <a:solidFill>
                  <a:srgbClr val="2E8B8B"/>
                </a:solidFill>
                <a:latin typeface="Calibri" pitchFamily="34" charset="0"/>
                <a:ea typeface="Calibri" pitchFamily="34" charset="-122"/>
                <a:cs typeface="Calibri" pitchFamily="34" charset="-120"/>
              </a:rPr>
              <a:t>WHY IT MATTERS  </a:t>
            </a:r>
            <a:r>
              <a:rPr lang="en-US" sz="1200" dirty="0">
                <a:solidFill>
                  <a:srgbClr val="333333"/>
                </a:solidFill>
                <a:latin typeface="Calibri" pitchFamily="34" charset="0"/>
                <a:ea typeface="Calibri" pitchFamily="34" charset="-122"/>
                <a:cs typeface="Calibri" pitchFamily="34" charset="-120"/>
              </a:rPr>
              <a:t>Knowing severity early helps the right help be planned.</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2" presetClass="entr" presetSubtype="8" fill="hold" nodeType="withEffect">
                                  <p:stCondLst>
                                    <p:cond delay="50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0-#ppt_w/2"/>
                                          </p:val>
                                        </p:tav>
                                        <p:tav tm="100000">
                                          <p:val>
                                            <p:strVal val="#ppt_x"/>
                                          </p:val>
                                        </p:tav>
                                      </p:tavLst>
                                    </p:anim>
                                    <p:anim calcmode="lin" valueType="num">
                                      <p:cBhvr additive="base">
                                        <p:cTn id="11" dur="500" fill="hold"/>
                                        <p:tgtEl>
                                          <p:spTgt spid="6"/>
                                        </p:tgtEl>
                                        <p:attrNameLst>
                                          <p:attrName>ppt_y</p:attrName>
                                        </p:attrNameLst>
                                      </p:cBhvr>
                                      <p:tavLst>
                                        <p:tav tm="0">
                                          <p:val>
                                            <p:strVal val="#ppt_y"/>
                                          </p:val>
                                        </p:tav>
                                        <p:tav tm="100000">
                                          <p:val>
                                            <p:strVal val="#ppt_y"/>
                                          </p:val>
                                        </p:tav>
                                      </p:tavLst>
                                    </p:anim>
                                  </p:childTnLst>
                                </p:cTn>
                              </p:par>
                              <p:par>
                                <p:cTn id="12" presetID="2" presetClass="entr" presetSubtype="8" fill="hold" nodeType="withEffect">
                                  <p:stCondLst>
                                    <p:cond delay="75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0-#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8" fill="hold" nodeType="withEffect">
                                  <p:stCondLst>
                                    <p:cond delay="100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0-#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125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0-#ppt_w/2"/>
                                          </p:val>
                                        </p:tav>
                                        <p:tav tm="100000">
                                          <p:val>
                                            <p:strVal val="#ppt_x"/>
                                          </p:val>
                                        </p:tav>
                                      </p:tavLst>
                                    </p:anim>
                                    <p:anim calcmode="lin" valueType="num">
                                      <p:cBhvr additive="base">
                                        <p:cTn id="23" dur="500" fill="hold"/>
                                        <p:tgtEl>
                                          <p:spTgt spid="9"/>
                                        </p:tgtEl>
                                        <p:attrNameLst>
                                          <p:attrName>ppt_y</p:attrName>
                                        </p:attrNameLst>
                                      </p:cBhvr>
                                      <p:tavLst>
                                        <p:tav tm="0">
                                          <p:val>
                                            <p:strVal val="#ppt_y"/>
                                          </p:val>
                                        </p:tav>
                                        <p:tav tm="100000">
                                          <p:val>
                                            <p:strVal val="#ppt_y"/>
                                          </p:val>
                                        </p:tav>
                                      </p:tavLst>
                                    </p:anim>
                                  </p:childTnLst>
                                </p:cTn>
                              </p:par>
                              <p:par>
                                <p:cTn id="24" presetID="2" presetClass="entr" presetSubtype="8" fill="hold" nodeType="withEffect">
                                  <p:stCondLst>
                                    <p:cond delay="150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0-#ppt_w/2"/>
                                          </p:val>
                                        </p:tav>
                                        <p:tav tm="100000">
                                          <p:val>
                                            <p:strVal val="#ppt_x"/>
                                          </p:val>
                                        </p:tav>
                                      </p:tavLst>
                                    </p:anim>
                                    <p:anim calcmode="lin" valueType="num">
                                      <p:cBhvr additive="base">
                                        <p:cTn id="27" dur="500" fill="hold"/>
                                        <p:tgtEl>
                                          <p:spTgt spid="10"/>
                                        </p:tgtEl>
                                        <p:attrNameLst>
                                          <p:attrName>ppt_y</p:attrName>
                                        </p:attrNameLst>
                                      </p:cBhvr>
                                      <p:tavLst>
                                        <p:tav tm="0">
                                          <p:val>
                                            <p:strVal val="#ppt_y"/>
                                          </p:val>
                                        </p:tav>
                                        <p:tav tm="100000">
                                          <p:val>
                                            <p:strVal val="#ppt_y"/>
                                          </p:val>
                                        </p:tav>
                                      </p:tavLst>
                                    </p:anim>
                                  </p:childTnLst>
                                </p:cTn>
                              </p:par>
                              <p:par>
                                <p:cTn id="28" presetID="10" presetClass="entr" presetSubtype="0" fill="hold" nodeType="withEffect">
                                  <p:stCondLst>
                                    <p:cond delay="190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nodeType="withEffect">
                                  <p:stCondLst>
                                    <p:cond delay="19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6" presetClass="emph" presetSubtype="0" fill="hold" nodeType="clickEffect">
                                  <p:stCondLst>
                                    <p:cond delay="0"/>
                                  </p:stCondLst>
                                  <p:childTnLst>
                                    <p:animEffect transition="out" filter="fade">
                                      <p:cBhvr>
                                        <p:cTn id="37" dur="600" tmFilter="0, 0; .2, .5; .8, .5; 1, 0"/>
                                        <p:tgtEl>
                                          <p:spTgt spid="5"/>
                                        </p:tgtEl>
                                      </p:cBhvr>
                                    </p:animEffect>
                                    <p:animScale>
                                      <p:cBhvr>
                                        <p:cTn id="38" dur="300" autoRev="1" fill="hold"/>
                                        <p:tgtEl>
                                          <p:spTgt spid="5"/>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The dataset: 131,404 people, 20,000 crashes</a:t>
            </a:r>
            <a:endParaRPr lang="en-US" sz="2600" dirty="0"/>
          </a:p>
        </p:txBody>
      </p:sp>
      <p:graphicFrame>
        <p:nvGraphicFramePr>
          <p:cNvPr id="6" name="s5_table"/>
          <p:cNvGraphicFramePr>
            <a:graphicFrameLocks noGrp="1"/>
          </p:cNvGraphicFramePr>
          <p:nvPr>
            <p:extLst>
              <p:ext uri="{D42A27DB-BD31-4B8C-83A1-F6EECF244321}">
                <p14:modId xmlns:p14="http://schemas.microsoft.com/office/powerpoint/2010/main" val="1579011935"/>
              </p:ext>
            </p:extLst>
          </p:nvPr>
        </p:nvGraphicFramePr>
        <p:xfrm>
          <a:off x="548640" y="1188720"/>
          <a:ext cx="5212080" cy="2834640"/>
        </p:xfrm>
        <a:graphic>
          <a:graphicData uri="http://schemas.openxmlformats.org/drawingml/2006/table">
            <a:tbl>
              <a:tblPr/>
              <a:tblGrid>
                <a:gridCol w="14630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83464">
                <a:tc>
                  <a:txBody>
                    <a:bodyPr/>
                    <a:lstStyle/>
                    <a:p>
                      <a:pPr marL="0" indent="0" algn="ctr">
                        <a:buNone/>
                      </a:pPr>
                      <a:r>
                        <a:rPr lang="en-US" sz="1050" b="1" dirty="0">
                          <a:solidFill>
                            <a:srgbClr val="FFFFFF"/>
                          </a:solidFill>
                        </a:rPr>
                        <a:t>Group</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Examples</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Cols</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Role</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extLst>
                  <a:ext uri="{0D108BD9-81ED-4DB2-BD59-A6C34878D82A}">
                    <a16:rowId xmlns:a16="http://schemas.microsoft.com/office/drawing/2014/main" val="10000"/>
                  </a:ext>
                </a:extLst>
              </a:tr>
              <a:tr h="283464">
                <a:tc>
                  <a:txBody>
                    <a:bodyPr/>
                    <a:lstStyle/>
                    <a:p>
                      <a:pPr marL="0" indent="0" algn="l">
                        <a:buNone/>
                      </a:pPr>
                      <a:r>
                        <a:rPr lang="en-US" sz="1050" b="1" dirty="0">
                          <a:solidFill>
                            <a:srgbClr val="333333"/>
                          </a:solidFill>
                        </a:rPr>
                        <a:t>Identifiers</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rPr>
                        <a:t>record_id, crash_ref_id …</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33333"/>
                          </a:solidFill>
                        </a:rPr>
                        <a:t>4</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C75B39"/>
                          </a:solidFill>
                        </a:rPr>
                        <a:t>Excluded / key</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3464">
                <a:tc>
                  <a:txBody>
                    <a:bodyPr/>
                    <a:lstStyle/>
                    <a:p>
                      <a:pPr marL="0" indent="0" algn="l">
                        <a:buNone/>
                      </a:pPr>
                      <a:r>
                        <a:rPr lang="en-US" sz="1050" b="1" dirty="0">
                          <a:solidFill>
                            <a:srgbClr val="333333"/>
                          </a:solidFill>
                        </a:rPr>
                        <a:t>Location</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l">
                        <a:buNone/>
                      </a:pPr>
                      <a:r>
                        <a:rPr lang="en-US" sz="1050" dirty="0">
                          <a:solidFill>
                            <a:srgbClr val="333333"/>
                          </a:solidFill>
                        </a:rPr>
                        <a:t>city, state, lat, lon</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050" dirty="0">
                          <a:solidFill>
                            <a:srgbClr val="333333"/>
                          </a:solidFill>
                        </a:rPr>
                        <a:t>4</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l">
                        <a:buNone/>
                      </a:pPr>
                      <a:r>
                        <a:rPr lang="en-US" sz="1050" dirty="0">
                          <a:solidFill>
                            <a:srgbClr val="333333"/>
                          </a:solidFill>
                        </a:rPr>
                        <a:t>Predictor</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2"/>
                  </a:ext>
                </a:extLst>
              </a:tr>
              <a:tr h="283464">
                <a:tc>
                  <a:txBody>
                    <a:bodyPr/>
                    <a:lstStyle/>
                    <a:p>
                      <a:pPr marL="0" indent="0" algn="l">
                        <a:buNone/>
                      </a:pPr>
                      <a:r>
                        <a:rPr lang="en-US" sz="1050" b="1" dirty="0">
                          <a:solidFill>
                            <a:srgbClr val="333333"/>
                          </a:solidFill>
                        </a:rPr>
                        <a:t>Temporal</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rPr>
                        <a:t>year, hour, weekday …</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33333"/>
                          </a:solidFill>
                        </a:rPr>
                        <a:t>9</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rPr>
                        <a:t>Predictor</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3464">
                <a:tc>
                  <a:txBody>
                    <a:bodyPr/>
                    <a:lstStyle/>
                    <a:p>
                      <a:pPr marL="0" indent="0" algn="l">
                        <a:buNone/>
                      </a:pPr>
                      <a:r>
                        <a:rPr lang="en-US" sz="1050" b="1" dirty="0">
                          <a:solidFill>
                            <a:srgbClr val="333333"/>
                          </a:solidFill>
                        </a:rPr>
                        <a:t>Road &amp; environment</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l">
                        <a:buNone/>
                      </a:pPr>
                      <a:r>
                        <a:rPr lang="en-US" sz="1050" dirty="0">
                          <a:solidFill>
                            <a:srgbClr val="333333"/>
                          </a:solidFill>
                        </a:rPr>
                        <a:t>weather, surface, cause …</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050" dirty="0">
                          <a:solidFill>
                            <a:srgbClr val="333333"/>
                          </a:solidFill>
                        </a:rPr>
                        <a:t>11</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l">
                        <a:buNone/>
                      </a:pPr>
                      <a:r>
                        <a:rPr lang="en-US" sz="1050" dirty="0">
                          <a:solidFill>
                            <a:srgbClr val="333333"/>
                          </a:solidFill>
                        </a:rPr>
                        <a:t>Predictor</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4"/>
                  </a:ext>
                </a:extLst>
              </a:tr>
              <a:tr h="283464">
                <a:tc>
                  <a:txBody>
                    <a:bodyPr/>
                    <a:lstStyle/>
                    <a:p>
                      <a:pPr marL="0" indent="0" algn="l">
                        <a:buNone/>
                      </a:pPr>
                      <a:r>
                        <a:rPr lang="en-US" sz="1050" b="1" dirty="0">
                          <a:solidFill>
                            <a:srgbClr val="333333"/>
                          </a:solidFill>
                        </a:rPr>
                        <a:t>Crash composition</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rPr>
                        <a:t>vehicle type, occupants</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33333"/>
                          </a:solidFill>
                        </a:rPr>
                        <a:t>4</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rPr>
                        <a:t>Predictor</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3464">
                <a:tc>
                  <a:txBody>
                    <a:bodyPr/>
                    <a:lstStyle/>
                    <a:p>
                      <a:pPr marL="0" indent="0" algn="l">
                        <a:buNone/>
                      </a:pPr>
                      <a:r>
                        <a:rPr lang="en-US" sz="1050" b="1" dirty="0">
                          <a:solidFill>
                            <a:srgbClr val="333333"/>
                          </a:solidFill>
                        </a:rPr>
                        <a:t>Occupant attributes</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l">
                        <a:buNone/>
                      </a:pPr>
                      <a:r>
                        <a:rPr lang="en-US" sz="1050" dirty="0">
                          <a:solidFill>
                            <a:srgbClr val="333333"/>
                          </a:solidFill>
                        </a:rPr>
                        <a:t>speed, age, seat, license</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050" dirty="0">
                          <a:solidFill>
                            <a:srgbClr val="333333"/>
                          </a:solidFill>
                        </a:rPr>
                        <a:t>7</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l">
                        <a:buNone/>
                      </a:pPr>
                      <a:r>
                        <a:rPr lang="en-US" sz="1050" dirty="0">
                          <a:solidFill>
                            <a:srgbClr val="333333"/>
                          </a:solidFill>
                        </a:rPr>
                        <a:t>Aggregated</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6"/>
                  </a:ext>
                </a:extLst>
              </a:tr>
              <a:tr h="283464">
                <a:tc>
                  <a:txBody>
                    <a:bodyPr/>
                    <a:lstStyle/>
                    <a:p>
                      <a:pPr marL="0" indent="0" algn="l">
                        <a:buNone/>
                      </a:pPr>
                      <a:r>
                        <a:rPr lang="en-US" sz="1050" b="1" dirty="0">
                          <a:solidFill>
                            <a:srgbClr val="333333"/>
                          </a:solidFill>
                        </a:rPr>
                        <a:t>Derived risk score</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rPr>
                        <a:t>computed_risk_score</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33333"/>
                          </a:solidFill>
                        </a:rPr>
                        <a:t>1</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C75B39"/>
                          </a:solidFill>
                        </a:rPr>
                        <a:t>Excluded</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83464">
                <a:tc>
                  <a:txBody>
                    <a:bodyPr/>
                    <a:lstStyle/>
                    <a:p>
                      <a:pPr marL="0" indent="0" algn="l">
                        <a:buNone/>
                      </a:pPr>
                      <a:r>
                        <a:rPr lang="en-US" sz="1050" b="1" dirty="0">
                          <a:solidFill>
                            <a:srgbClr val="333333"/>
                          </a:solidFill>
                        </a:rPr>
                        <a:t>Post-crash outcomes</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l">
                        <a:buNone/>
                      </a:pPr>
                      <a:r>
                        <a:rPr lang="en-US" sz="1050" dirty="0">
                          <a:solidFill>
                            <a:srgbClr val="333333"/>
                          </a:solidFill>
                        </a:rPr>
                        <a:t>survived, hospitalized …</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050" dirty="0">
                          <a:solidFill>
                            <a:srgbClr val="333333"/>
                          </a:solidFill>
                        </a:rPr>
                        <a:t>9</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l">
                        <a:buNone/>
                      </a:pPr>
                      <a:r>
                        <a:rPr lang="en-US" sz="1050" dirty="0">
                          <a:solidFill>
                            <a:srgbClr val="C75B39"/>
                          </a:solidFill>
                        </a:rPr>
                        <a:t>Excluded</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8"/>
                  </a:ext>
                </a:extLst>
              </a:tr>
              <a:tr h="283464">
                <a:tc>
                  <a:txBody>
                    <a:bodyPr/>
                    <a:lstStyle/>
                    <a:p>
                      <a:pPr marL="0" indent="0" algn="l">
                        <a:buNone/>
                      </a:pPr>
                      <a:r>
                        <a:rPr lang="en-US" sz="1050" b="1" dirty="0">
                          <a:solidFill>
                            <a:srgbClr val="333333"/>
                          </a:solidFill>
                        </a:rPr>
                        <a:t>Target</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rPr>
                        <a:t>crash_severity</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33333"/>
                          </a:solidFill>
                        </a:rPr>
                        <a:t>1</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rPr>
                        <a:t>Target</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2" name="s5_c1"/>
          <p:cNvSpPr/>
          <p:nvPr/>
        </p:nvSpPr>
        <p:spPr>
          <a:xfrm>
            <a:off x="6080760" y="1188720"/>
            <a:ext cx="2514600" cy="822960"/>
          </a:xfrm>
          <a:prstGeom prst="roundRect">
            <a:avLst>
              <a:gd name="adj" fmla="val 8889"/>
            </a:avLst>
          </a:prstGeom>
          <a:solidFill>
            <a:srgbClr val="E6ECF3"/>
          </a:solidFill>
          <a:ln w="9525">
            <a:solidFill>
              <a:srgbClr val="D5DCE4"/>
            </a:solidFill>
            <a:prstDash val="solid"/>
          </a:ln>
        </p:spPr>
      </p:sp>
      <p:sp>
        <p:nvSpPr>
          <p:cNvPr id="7" name="s5_c1t"/>
          <p:cNvSpPr txBox="1"/>
          <p:nvPr/>
        </p:nvSpPr>
        <p:spPr>
          <a:xfrm>
            <a:off x="6217920" y="1188720"/>
            <a:ext cx="2286000" cy="822960"/>
          </a:xfrm>
          <a:prstGeom prst="rect">
            <a:avLst/>
          </a:prstGeom>
          <a:noFill/>
          <a:ln/>
        </p:spPr>
        <p:txBody>
          <a:bodyPr wrap="square" lIns="0" tIns="0" rIns="0" bIns="0" rtlCol="0" anchor="ctr"/>
          <a:lstStyle/>
          <a:p>
            <a:pPr marL="0" indent="0">
              <a:buNone/>
            </a:pPr>
            <a:r>
              <a:rPr lang="en-US" sz="2400" b="1" dirty="0">
                <a:solidFill>
                  <a:srgbClr val="C75B39"/>
                </a:solidFill>
                <a:latin typeface="Calibri" pitchFamily="34" charset="0"/>
                <a:ea typeface="Calibri" pitchFamily="34" charset="-122"/>
                <a:cs typeface="Calibri" pitchFamily="34" charset="-120"/>
              </a:rPr>
              <a:t>131,404</a:t>
            </a:r>
            <a:endParaRPr lang="en-US" sz="1400" dirty="0"/>
          </a:p>
          <a:p>
            <a:pPr marL="0" indent="0">
              <a:buNone/>
            </a:pPr>
            <a:r>
              <a:rPr lang="en-US" sz="1150" dirty="0">
                <a:solidFill>
                  <a:srgbClr val="333333"/>
                </a:solidFill>
                <a:latin typeface="Calibri" pitchFamily="34" charset="0"/>
                <a:ea typeface="Calibri" pitchFamily="34" charset="-122"/>
                <a:cs typeface="Calibri" pitchFamily="34" charset="-120"/>
              </a:rPr>
              <a:t>rows: one per person</a:t>
            </a:r>
            <a:endParaRPr lang="en-US" sz="1400" dirty="0"/>
          </a:p>
        </p:txBody>
      </p:sp>
      <p:sp>
        <p:nvSpPr>
          <p:cNvPr id="8" name="s5_c2"/>
          <p:cNvSpPr/>
          <p:nvPr/>
        </p:nvSpPr>
        <p:spPr>
          <a:xfrm>
            <a:off x="6080760" y="2121408"/>
            <a:ext cx="2514600" cy="822960"/>
          </a:xfrm>
          <a:prstGeom prst="roundRect">
            <a:avLst>
              <a:gd name="adj" fmla="val 8889"/>
            </a:avLst>
          </a:prstGeom>
          <a:solidFill>
            <a:srgbClr val="E6ECF3"/>
          </a:solidFill>
          <a:ln w="9525">
            <a:solidFill>
              <a:srgbClr val="D5DCE4"/>
            </a:solidFill>
            <a:prstDash val="solid"/>
          </a:ln>
        </p:spPr>
      </p:sp>
      <p:sp>
        <p:nvSpPr>
          <p:cNvPr id="9" name="s5_c2t"/>
          <p:cNvSpPr txBox="1"/>
          <p:nvPr/>
        </p:nvSpPr>
        <p:spPr>
          <a:xfrm>
            <a:off x="6217920" y="2121408"/>
            <a:ext cx="2286000" cy="822960"/>
          </a:xfrm>
          <a:prstGeom prst="rect">
            <a:avLst/>
          </a:prstGeom>
          <a:noFill/>
          <a:ln/>
        </p:spPr>
        <p:txBody>
          <a:bodyPr wrap="square" lIns="0" tIns="0" rIns="0" bIns="0" rtlCol="0" anchor="ctr"/>
          <a:lstStyle/>
          <a:p>
            <a:pPr marL="0" indent="0">
              <a:buNone/>
            </a:pPr>
            <a:r>
              <a:rPr lang="en-US" sz="2400" b="1" dirty="0">
                <a:solidFill>
                  <a:srgbClr val="C75B39"/>
                </a:solidFill>
                <a:latin typeface="Calibri" pitchFamily="34" charset="0"/>
                <a:ea typeface="Calibri" pitchFamily="34" charset="-122"/>
                <a:cs typeface="Calibri" pitchFamily="34" charset="-120"/>
              </a:rPr>
              <a:t>20,000</a:t>
            </a:r>
            <a:endParaRPr lang="en-US" sz="1400" dirty="0"/>
          </a:p>
          <a:p>
            <a:pPr marL="0" indent="0">
              <a:buNone/>
            </a:pPr>
            <a:r>
              <a:rPr lang="en-US" sz="1150" dirty="0">
                <a:solidFill>
                  <a:srgbClr val="333333"/>
                </a:solidFill>
                <a:latin typeface="Calibri" pitchFamily="34" charset="0"/>
                <a:ea typeface="Calibri" pitchFamily="34" charset="-122"/>
                <a:cs typeface="Calibri" pitchFamily="34" charset="-120"/>
              </a:rPr>
              <a:t>crashes (6.6 people each)</a:t>
            </a:r>
            <a:endParaRPr lang="en-US" sz="1400" dirty="0"/>
          </a:p>
        </p:txBody>
      </p:sp>
      <p:sp>
        <p:nvSpPr>
          <p:cNvPr id="10" name="s5_c3"/>
          <p:cNvSpPr/>
          <p:nvPr/>
        </p:nvSpPr>
        <p:spPr>
          <a:xfrm>
            <a:off x="6080760" y="3054096"/>
            <a:ext cx="2514600" cy="822960"/>
          </a:xfrm>
          <a:prstGeom prst="roundRect">
            <a:avLst>
              <a:gd name="adj" fmla="val 8889"/>
            </a:avLst>
          </a:prstGeom>
          <a:solidFill>
            <a:srgbClr val="E6ECF3"/>
          </a:solidFill>
          <a:ln w="9525">
            <a:solidFill>
              <a:srgbClr val="D5DCE4"/>
            </a:solidFill>
            <a:prstDash val="solid"/>
          </a:ln>
        </p:spPr>
      </p:sp>
      <p:sp>
        <p:nvSpPr>
          <p:cNvPr id="11" name="s5_c3t"/>
          <p:cNvSpPr txBox="1"/>
          <p:nvPr/>
        </p:nvSpPr>
        <p:spPr>
          <a:xfrm>
            <a:off x="6217920" y="3054096"/>
            <a:ext cx="2286000" cy="822960"/>
          </a:xfrm>
          <a:prstGeom prst="rect">
            <a:avLst/>
          </a:prstGeom>
          <a:noFill/>
          <a:ln/>
        </p:spPr>
        <p:txBody>
          <a:bodyPr wrap="square" lIns="0" tIns="0" rIns="0" bIns="0" rtlCol="0" anchor="ctr"/>
          <a:lstStyle/>
          <a:p>
            <a:pPr marL="0" indent="0">
              <a:buNone/>
            </a:pPr>
            <a:r>
              <a:rPr lang="en-US" sz="2400" b="1" dirty="0">
                <a:solidFill>
                  <a:srgbClr val="C75B39"/>
                </a:solidFill>
                <a:latin typeface="Calibri" pitchFamily="34" charset="0"/>
                <a:ea typeface="Calibri" pitchFamily="34" charset="-122"/>
                <a:cs typeface="Calibri" pitchFamily="34" charset="-120"/>
              </a:rPr>
              <a:t>2022–25</a:t>
            </a:r>
            <a:endParaRPr lang="en-US" sz="1400" dirty="0"/>
          </a:p>
          <a:p>
            <a:pPr marL="0" indent="0">
              <a:buNone/>
            </a:pPr>
            <a:r>
              <a:rPr lang="en-US" sz="1150" dirty="0">
                <a:solidFill>
                  <a:srgbClr val="333333"/>
                </a:solidFill>
                <a:latin typeface="Calibri" pitchFamily="34" charset="0"/>
                <a:ea typeface="Calibri" pitchFamily="34" charset="-122"/>
                <a:cs typeface="Calibri" pitchFamily="34" charset="-120"/>
              </a:rPr>
              <a:t>8 city clusters</a:t>
            </a:r>
            <a:endParaRPr lang="en-US" sz="1400" dirty="0"/>
          </a:p>
        </p:txBody>
      </p:sp>
      <p:sp>
        <p:nvSpPr>
          <p:cNvPr id="12" name="s5_why_bg"/>
          <p:cNvSpPr/>
          <p:nvPr/>
        </p:nvSpPr>
        <p:spPr>
          <a:xfrm>
            <a:off x="548640" y="4114800"/>
            <a:ext cx="8046720" cy="329184"/>
          </a:xfrm>
          <a:prstGeom prst="roundRect">
            <a:avLst>
              <a:gd name="adj" fmla="val 22222"/>
            </a:avLst>
          </a:prstGeom>
          <a:solidFill>
            <a:srgbClr val="E3F1F1"/>
          </a:solidFill>
          <a:ln w="9525">
            <a:solidFill>
              <a:srgbClr val="E3F1F1"/>
            </a:solidFill>
            <a:prstDash val="solid"/>
          </a:ln>
        </p:spPr>
      </p:sp>
      <p:sp>
        <p:nvSpPr>
          <p:cNvPr id="13" name="s5_why"/>
          <p:cNvSpPr txBox="1"/>
          <p:nvPr/>
        </p:nvSpPr>
        <p:spPr>
          <a:xfrm>
            <a:off x="731520" y="4114800"/>
            <a:ext cx="7772400" cy="329184"/>
          </a:xfrm>
          <a:prstGeom prst="rect">
            <a:avLst/>
          </a:prstGeom>
          <a:noFill/>
          <a:ln/>
        </p:spPr>
        <p:txBody>
          <a:bodyPr wrap="square" lIns="0" tIns="0" rIns="0" bIns="0" rtlCol="0" anchor="ctr"/>
          <a:lstStyle/>
          <a:p>
            <a:pPr marL="0" indent="0">
              <a:buNone/>
            </a:pPr>
            <a:r>
              <a:rPr lang="en-US" sz="1000" b="1" kern="0" spc="200" dirty="0">
                <a:solidFill>
                  <a:srgbClr val="2E8B8B"/>
                </a:solidFill>
                <a:latin typeface="Calibri" pitchFamily="34" charset="0"/>
                <a:ea typeface="Calibri" pitchFamily="34" charset="-122"/>
                <a:cs typeface="Calibri" pitchFamily="34" charset="-120"/>
              </a:rPr>
              <a:t>WHY IT MATTERS  </a:t>
            </a:r>
            <a:r>
              <a:rPr lang="en-US" sz="1200" dirty="0">
                <a:solidFill>
                  <a:srgbClr val="333333"/>
                </a:solidFill>
                <a:latin typeface="Calibri" pitchFamily="34" charset="0"/>
                <a:ea typeface="Calibri" pitchFamily="34" charset="-122"/>
                <a:cs typeface="Calibri" pitchFamily="34" charset="-120"/>
              </a:rPr>
              <a:t>The gap between 131,404 rows and 20,000 crashes drives our method.</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par>
                                <p:cTn id="8" presetID="53" presetClass="entr" presetSubtype="16" fill="hold" nodeType="withEffect">
                                  <p:stCondLst>
                                    <p:cond delay="50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ppt_w</p:attrName>
                                        </p:attrNameLst>
                                      </p:cBhvr>
                                      <p:tavLst>
                                        <p:tav tm="0">
                                          <p:val>
                                            <p:fltVal val="0"/>
                                          </p:val>
                                        </p:tav>
                                        <p:tav tm="100000">
                                          <p:val>
                                            <p:strVal val="#ppt_w"/>
                                          </p:val>
                                        </p:tav>
                                      </p:tavLst>
                                    </p:anim>
                                    <p:anim calcmode="lin" valueType="num">
                                      <p:cBhvr additive="base">
                                        <p:cTn id="11" dur="500" fill="hold"/>
                                        <p:tgtEl>
                                          <p:spTgt spid="6"/>
                                        </p:tgtEl>
                                        <p:attrNameLst>
                                          <p:attrName>ppt_h</p:attrName>
                                        </p:attrNameLst>
                                      </p:cBhvr>
                                      <p:tavLst>
                                        <p:tav tm="0">
                                          <p:val>
                                            <p:fltVal val="0"/>
                                          </p:val>
                                        </p:tav>
                                        <p:tav tm="100000">
                                          <p:val>
                                            <p:strVal val="#ppt_h"/>
                                          </p:val>
                                        </p:tav>
                                      </p:tavLst>
                                    </p:anim>
                                    <p:animEffect transition="in" filter="fade">
                                      <p:cBhvr>
                                        <p:cTn id="12" dur="500"/>
                                        <p:tgtEl>
                                          <p:spTgt spid="6"/>
                                        </p:tgtEl>
                                      </p:cBhvr>
                                    </p:animEffect>
                                  </p:childTnLst>
                                </p:cTn>
                              </p:par>
                              <p:par>
                                <p:cTn id="13" presetID="10" presetClass="entr" presetSubtype="0" fill="hold" nodeType="withEffect">
                                  <p:stCondLst>
                                    <p:cond delay="6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53" presetClass="entr" presetSubtype="16" fill="hold" nodeType="withEffect">
                                  <p:stCondLst>
                                    <p:cond delay="75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ppt_w</p:attrName>
                                        </p:attrNameLst>
                                      </p:cBhvr>
                                      <p:tavLst>
                                        <p:tav tm="0">
                                          <p:val>
                                            <p:fltVal val="0"/>
                                          </p:val>
                                        </p:tav>
                                        <p:tav tm="100000">
                                          <p:val>
                                            <p:strVal val="#ppt_w"/>
                                          </p:val>
                                        </p:tav>
                                      </p:tavLst>
                                    </p:anim>
                                    <p:anim calcmode="lin" valueType="num">
                                      <p:cBhvr additive="base">
                                        <p:cTn id="19" dur="500" fill="hold"/>
                                        <p:tgtEl>
                                          <p:spTgt spid="8"/>
                                        </p:tgtEl>
                                        <p:attrNameLst>
                                          <p:attrName>ppt_h</p:attrName>
                                        </p:attrNameLst>
                                      </p:cBhvr>
                                      <p:tavLst>
                                        <p:tav tm="0">
                                          <p:val>
                                            <p:fltVal val="0"/>
                                          </p:val>
                                        </p:tav>
                                        <p:tav tm="100000">
                                          <p:val>
                                            <p:strVal val="#ppt_h"/>
                                          </p:val>
                                        </p:tav>
                                      </p:tavLst>
                                    </p:anim>
                                    <p:animEffect transition="in" filter="fade">
                                      <p:cBhvr>
                                        <p:cTn id="20" dur="500"/>
                                        <p:tgtEl>
                                          <p:spTgt spid="8"/>
                                        </p:tgtEl>
                                      </p:cBhvr>
                                    </p:animEffect>
                                  </p:childTnLst>
                                </p:cTn>
                              </p:par>
                              <p:par>
                                <p:cTn id="21" presetID="10" presetClass="entr" presetSubtype="0" fill="hold" nodeType="withEffect">
                                  <p:stCondLst>
                                    <p:cond delay="85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500"/>
                                        <p:tgtEl>
                                          <p:spTgt spid="9"/>
                                        </p:tgtEl>
                                      </p:cBhvr>
                                    </p:animEffect>
                                  </p:childTnLst>
                                </p:cTn>
                              </p:par>
                              <p:par>
                                <p:cTn id="24" presetID="53" presetClass="entr" presetSubtype="16" fill="hold" nodeType="withEffect">
                                  <p:stCondLst>
                                    <p:cond delay="100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ppt_w</p:attrName>
                                        </p:attrNameLst>
                                      </p:cBhvr>
                                      <p:tavLst>
                                        <p:tav tm="0">
                                          <p:val>
                                            <p:fltVal val="0"/>
                                          </p:val>
                                        </p:tav>
                                        <p:tav tm="100000">
                                          <p:val>
                                            <p:strVal val="#ppt_w"/>
                                          </p:val>
                                        </p:tav>
                                      </p:tavLst>
                                    </p:anim>
                                    <p:anim calcmode="lin" valueType="num">
                                      <p:cBhvr additive="base">
                                        <p:cTn id="27" dur="500" fill="hold"/>
                                        <p:tgtEl>
                                          <p:spTgt spid="10"/>
                                        </p:tgtEl>
                                        <p:attrNameLst>
                                          <p:attrName>ppt_h</p:attrName>
                                        </p:attrNameLst>
                                      </p:cBhvr>
                                      <p:tavLst>
                                        <p:tav tm="0">
                                          <p:val>
                                            <p:fltVal val="0"/>
                                          </p:val>
                                        </p:tav>
                                        <p:tav tm="100000">
                                          <p:val>
                                            <p:strVal val="#ppt_h"/>
                                          </p:val>
                                        </p:tav>
                                      </p:tavLst>
                                    </p:anim>
                                    <p:animEffect transition="in" filter="fade">
                                      <p:cBhvr>
                                        <p:cTn id="28" dur="500"/>
                                        <p:tgtEl>
                                          <p:spTgt spid="10"/>
                                        </p:tgtEl>
                                      </p:cBhvr>
                                    </p:animEffect>
                                  </p:childTnLst>
                                </p:cTn>
                              </p:par>
                              <p:par>
                                <p:cTn id="29" presetID="10" presetClass="entr" presetSubtype="0" fill="hold" nodeType="withEffect">
                                  <p:stCondLst>
                                    <p:cond delay="11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secnum"/>
          <p:cNvSpPr txBox="1"/>
          <p:nvPr/>
        </p:nvSpPr>
        <p:spPr>
          <a:xfrm>
            <a:off x="731520" y="1051560"/>
            <a:ext cx="1371600" cy="1371600"/>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02</a:t>
            </a:r>
            <a:endParaRPr lang="en-US" sz="4400" dirty="0"/>
          </a:p>
        </p:txBody>
      </p:sp>
      <p:sp>
        <p:nvSpPr>
          <p:cNvPr id="4" name="!!title"/>
          <p:cNvSpPr txBox="1"/>
          <p:nvPr/>
        </p:nvSpPr>
        <p:spPr>
          <a:xfrm>
            <a:off x="731520" y="2697480"/>
            <a:ext cx="7680960" cy="8686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Methodology</a:t>
            </a:r>
            <a:endParaRPr lang="en-US" sz="4000" dirty="0"/>
          </a:p>
        </p:txBody>
      </p:sp>
      <p:sp>
        <p:nvSpPr>
          <p:cNvPr id="5" name="!!subtitle"/>
          <p:cNvSpPr txBox="1"/>
          <p:nvPr/>
        </p:nvSpPr>
        <p:spPr>
          <a:xfrm>
            <a:off x="731520" y="3611880"/>
            <a:ext cx="7498080" cy="640080"/>
          </a:xfrm>
          <a:prstGeom prst="rect">
            <a:avLst/>
          </a:prstGeom>
          <a:noFill/>
          <a:ln/>
        </p:spPr>
        <p:txBody>
          <a:bodyPr wrap="square" lIns="0" tIns="0" rIns="0" bIns="0" rtlCol="0" anchor="t"/>
          <a:lstStyle/>
          <a:p>
            <a:pPr marL="0" indent="0">
              <a:buNone/>
            </a:pPr>
            <a:r>
              <a:rPr lang="en-US" sz="1600" dirty="0">
                <a:solidFill>
                  <a:srgbClr val="B9C9DA"/>
                </a:solidFill>
                <a:latin typeface="Calibri" pitchFamily="34" charset="0"/>
                <a:ea typeface="Calibri" pitchFamily="34" charset="-122"/>
                <a:cs typeface="Calibri" pitchFamily="34" charset="-120"/>
              </a:rPr>
              <a:t>From raw records to a trustworthy classifier, stage by stage</a:t>
            </a:r>
            <a:endParaRPr lang="en-US" sz="16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9FB4CC"/>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The pipeline at a glance</a:t>
            </a:r>
            <a:endParaRPr lang="en-US" sz="2600" dirty="0"/>
          </a:p>
        </p:txBody>
      </p:sp>
      <p:sp>
        <p:nvSpPr>
          <p:cNvPr id="5" name="!!track"/>
          <p:cNvSpPr/>
          <p:nvPr/>
        </p:nvSpPr>
        <p:spPr>
          <a:xfrm>
            <a:off x="914400" y="2112264"/>
            <a:ext cx="7315200" cy="0"/>
          </a:xfrm>
          <a:prstGeom prst="line">
            <a:avLst/>
          </a:prstGeom>
          <a:noFill/>
          <a:ln w="38100">
            <a:solidFill>
              <a:srgbClr val="B9C4D0"/>
            </a:solidFill>
            <a:prstDash val="solid"/>
          </a:ln>
        </p:spPr>
      </p:sp>
      <p:sp>
        <p:nvSpPr>
          <p:cNvPr id="6" name="!!n1"/>
          <p:cNvSpPr txBox="1"/>
          <p:nvPr/>
        </p:nvSpPr>
        <p:spPr>
          <a:xfrm>
            <a:off x="612648" y="1810512"/>
            <a:ext cx="603504" cy="603504"/>
          </a:xfrm>
          <a:prstGeom prst="ellipse">
            <a:avLst/>
          </a:prstGeom>
          <a:solidFill>
            <a:srgbClr val="2E8B8B"/>
          </a:solidFill>
          <a:ln w="19050">
            <a:solidFill>
              <a:srgbClr val="FFFFFF"/>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n2"/>
          <p:cNvSpPr txBox="1"/>
          <p:nvPr/>
        </p:nvSpPr>
        <p:spPr>
          <a:xfrm>
            <a:off x="1527048" y="1810512"/>
            <a:ext cx="603504" cy="603504"/>
          </a:xfrm>
          <a:prstGeom prst="ellipse">
            <a:avLst/>
          </a:prstGeom>
          <a:solidFill>
            <a:srgbClr val="2E8B8B"/>
          </a:solidFill>
          <a:ln w="19050">
            <a:solidFill>
              <a:srgbClr val="FFFFFF"/>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8" name="!!n3"/>
          <p:cNvSpPr txBox="1"/>
          <p:nvPr/>
        </p:nvSpPr>
        <p:spPr>
          <a:xfrm>
            <a:off x="2441448" y="1810512"/>
            <a:ext cx="603504" cy="603504"/>
          </a:xfrm>
          <a:prstGeom prst="ellipse">
            <a:avLst/>
          </a:prstGeom>
          <a:solidFill>
            <a:srgbClr val="2E8B8B"/>
          </a:solidFill>
          <a:ln w="19050">
            <a:solidFill>
              <a:srgbClr val="FFFFFF"/>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n4"/>
          <p:cNvSpPr txBox="1"/>
          <p:nvPr/>
        </p:nvSpPr>
        <p:spPr>
          <a:xfrm>
            <a:off x="3355848" y="1810512"/>
            <a:ext cx="603504" cy="603504"/>
          </a:xfrm>
          <a:prstGeom prst="ellipse">
            <a:avLst/>
          </a:prstGeom>
          <a:solidFill>
            <a:srgbClr val="2E8B8B"/>
          </a:solidFill>
          <a:ln w="19050">
            <a:solidFill>
              <a:srgbClr val="FFFFFF"/>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n5"/>
          <p:cNvSpPr txBox="1"/>
          <p:nvPr/>
        </p:nvSpPr>
        <p:spPr>
          <a:xfrm>
            <a:off x="4270248" y="1810512"/>
            <a:ext cx="603504" cy="603504"/>
          </a:xfrm>
          <a:prstGeom prst="ellipse">
            <a:avLst/>
          </a:prstGeom>
          <a:solidFill>
            <a:srgbClr val="2E8B8B"/>
          </a:solidFill>
          <a:ln w="19050">
            <a:solidFill>
              <a:srgbClr val="FFFFFF"/>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1" name="!!n6"/>
          <p:cNvSpPr txBox="1"/>
          <p:nvPr/>
        </p:nvSpPr>
        <p:spPr>
          <a:xfrm>
            <a:off x="5184648" y="1810512"/>
            <a:ext cx="603504" cy="603504"/>
          </a:xfrm>
          <a:prstGeom prst="ellipse">
            <a:avLst/>
          </a:prstGeom>
          <a:solidFill>
            <a:srgbClr val="2E8B8B"/>
          </a:solidFill>
          <a:ln w="19050">
            <a:solidFill>
              <a:srgbClr val="FFFFFF"/>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2" name="!!n7"/>
          <p:cNvSpPr txBox="1"/>
          <p:nvPr/>
        </p:nvSpPr>
        <p:spPr>
          <a:xfrm>
            <a:off x="6099048" y="1810512"/>
            <a:ext cx="603504" cy="603504"/>
          </a:xfrm>
          <a:prstGeom prst="ellipse">
            <a:avLst/>
          </a:prstGeom>
          <a:solidFill>
            <a:srgbClr val="2E8B8B"/>
          </a:solidFill>
          <a:ln w="19050">
            <a:solidFill>
              <a:srgbClr val="FFFFFF"/>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13" name="!!n8"/>
          <p:cNvSpPr txBox="1"/>
          <p:nvPr/>
        </p:nvSpPr>
        <p:spPr>
          <a:xfrm>
            <a:off x="7013448" y="1810512"/>
            <a:ext cx="603504" cy="603504"/>
          </a:xfrm>
          <a:prstGeom prst="ellipse">
            <a:avLst/>
          </a:prstGeom>
          <a:solidFill>
            <a:srgbClr val="2E8B8B"/>
          </a:solidFill>
          <a:ln w="19050">
            <a:solidFill>
              <a:srgbClr val="FFFFFF"/>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14" name="!!n9"/>
          <p:cNvSpPr txBox="1"/>
          <p:nvPr/>
        </p:nvSpPr>
        <p:spPr>
          <a:xfrm>
            <a:off x="7927848" y="1810512"/>
            <a:ext cx="603504" cy="603504"/>
          </a:xfrm>
          <a:prstGeom prst="ellipse">
            <a:avLst/>
          </a:prstGeom>
          <a:solidFill>
            <a:srgbClr val="2E8B8B"/>
          </a:solidFill>
          <a:ln w="19050">
            <a:solidFill>
              <a:srgbClr val="FFFFFF"/>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5" name="!!lab1"/>
          <p:cNvSpPr txBox="1"/>
          <p:nvPr/>
        </p:nvSpPr>
        <p:spPr>
          <a:xfrm>
            <a:off x="484632" y="2560320"/>
            <a:ext cx="868680" cy="822960"/>
          </a:xfrm>
          <a:prstGeom prst="rect">
            <a:avLst/>
          </a:prstGeom>
          <a:noFill/>
          <a:ln/>
        </p:spPr>
        <p:txBody>
          <a:bodyPr wrap="square" lIns="0" tIns="0" rIns="0" bIns="0" rtlCol="0" anchor="t"/>
          <a:lstStyle/>
          <a:p>
            <a:pPr marL="0" indent="0" algn="ctr">
              <a:buNone/>
            </a:pPr>
            <a:r>
              <a:rPr lang="en-US" sz="1200" b="1" dirty="0">
                <a:solidFill>
                  <a:srgbClr val="1B3A5F"/>
                </a:solidFill>
                <a:latin typeface="Calibri" pitchFamily="34" charset="0"/>
                <a:ea typeface="Calibri" pitchFamily="34" charset="-122"/>
                <a:cs typeface="Calibri" pitchFamily="34" charset="-120"/>
              </a:rPr>
              <a:t>Ingest</a:t>
            </a:r>
            <a:endParaRPr lang="en-US" sz="1400" dirty="0"/>
          </a:p>
          <a:p>
            <a:pPr marL="0" indent="0" algn="ctr">
              <a:buNone/>
            </a:pPr>
            <a:r>
              <a:rPr lang="en-US" sz="950" dirty="0">
                <a:solidFill>
                  <a:srgbClr val="6B7785"/>
                </a:solidFill>
                <a:latin typeface="Calibri" pitchFamily="34" charset="0"/>
                <a:ea typeface="Calibri" pitchFamily="34" charset="-122"/>
                <a:cs typeface="Calibri" pitchFamily="34" charset="-120"/>
              </a:rPr>
              <a:t>131,404 rows × 50 cols</a:t>
            </a:r>
            <a:endParaRPr lang="en-US" sz="1400" dirty="0"/>
          </a:p>
        </p:txBody>
      </p:sp>
      <p:sp>
        <p:nvSpPr>
          <p:cNvPr id="16" name="!!lab2"/>
          <p:cNvSpPr txBox="1"/>
          <p:nvPr/>
        </p:nvSpPr>
        <p:spPr>
          <a:xfrm>
            <a:off x="1399032" y="2560320"/>
            <a:ext cx="868680" cy="822960"/>
          </a:xfrm>
          <a:prstGeom prst="rect">
            <a:avLst/>
          </a:prstGeom>
          <a:noFill/>
          <a:ln/>
        </p:spPr>
        <p:txBody>
          <a:bodyPr wrap="square" lIns="0" tIns="0" rIns="0" bIns="0" rtlCol="0" anchor="t"/>
          <a:lstStyle/>
          <a:p>
            <a:pPr marL="0" indent="0" algn="ctr">
              <a:buNone/>
            </a:pPr>
            <a:r>
              <a:rPr lang="en-US" sz="1200" b="1" dirty="0">
                <a:solidFill>
                  <a:srgbClr val="1B3A5F"/>
                </a:solidFill>
                <a:latin typeface="Calibri" pitchFamily="34" charset="0"/>
                <a:ea typeface="Calibri" pitchFamily="34" charset="-122"/>
                <a:cs typeface="Calibri" pitchFamily="34" charset="-120"/>
              </a:rPr>
              <a:t>Clean</a:t>
            </a:r>
            <a:endParaRPr lang="en-US" sz="1400" dirty="0"/>
          </a:p>
          <a:p>
            <a:pPr marL="0" indent="0" algn="ctr">
              <a:buNone/>
            </a:pPr>
            <a:r>
              <a:rPr lang="en-US" sz="950" dirty="0">
                <a:solidFill>
                  <a:srgbClr val="6B7785"/>
                </a:solidFill>
                <a:latin typeface="Calibri" pitchFamily="34" charset="0"/>
                <a:ea typeface="Calibri" pitchFamily="34" charset="-122"/>
                <a:cs typeface="Calibri" pitchFamily="34" charset="-120"/>
              </a:rPr>
              <a:t>0 duplicates, 0 range errors</a:t>
            </a:r>
            <a:endParaRPr lang="en-US" sz="1400" dirty="0"/>
          </a:p>
        </p:txBody>
      </p:sp>
      <p:sp>
        <p:nvSpPr>
          <p:cNvPr id="17" name="!!lab3"/>
          <p:cNvSpPr txBox="1"/>
          <p:nvPr/>
        </p:nvSpPr>
        <p:spPr>
          <a:xfrm>
            <a:off x="2313432" y="2560320"/>
            <a:ext cx="868680" cy="822960"/>
          </a:xfrm>
          <a:prstGeom prst="rect">
            <a:avLst/>
          </a:prstGeom>
          <a:noFill/>
          <a:ln/>
        </p:spPr>
        <p:txBody>
          <a:bodyPr wrap="square" lIns="0" tIns="0" rIns="0" bIns="0" rtlCol="0" anchor="t"/>
          <a:lstStyle/>
          <a:p>
            <a:pPr marL="0" indent="0" algn="ctr">
              <a:buNone/>
            </a:pPr>
            <a:r>
              <a:rPr lang="en-US" sz="1200" b="1" dirty="0">
                <a:solidFill>
                  <a:srgbClr val="1B3A5F"/>
                </a:solidFill>
                <a:latin typeface="Calibri" pitchFamily="34" charset="0"/>
                <a:ea typeface="Calibri" pitchFamily="34" charset="-122"/>
                <a:cs typeface="Calibri" pitchFamily="34" charset="-120"/>
              </a:rPr>
              <a:t>Rebuild</a:t>
            </a:r>
            <a:endParaRPr lang="en-US" sz="1400" dirty="0"/>
          </a:p>
          <a:p>
            <a:pPr marL="0" indent="0" algn="ctr">
              <a:buNone/>
            </a:pPr>
            <a:r>
              <a:rPr lang="en-US" sz="950" dirty="0">
                <a:solidFill>
                  <a:srgbClr val="6B7785"/>
                </a:solidFill>
                <a:latin typeface="Calibri" pitchFamily="34" charset="0"/>
                <a:ea typeface="Calibri" pitchFamily="34" charset="-122"/>
                <a:cs typeface="Calibri" pitchFamily="34" charset="-120"/>
              </a:rPr>
              <a:t>groupby crash → 20,000 rows</a:t>
            </a:r>
            <a:endParaRPr lang="en-US" sz="1400" dirty="0"/>
          </a:p>
        </p:txBody>
      </p:sp>
      <p:sp>
        <p:nvSpPr>
          <p:cNvPr id="18" name="!!lab4"/>
          <p:cNvSpPr txBox="1"/>
          <p:nvPr/>
        </p:nvSpPr>
        <p:spPr>
          <a:xfrm>
            <a:off x="3227832" y="2560320"/>
            <a:ext cx="868680" cy="822960"/>
          </a:xfrm>
          <a:prstGeom prst="rect">
            <a:avLst/>
          </a:prstGeom>
          <a:noFill/>
          <a:ln/>
        </p:spPr>
        <p:txBody>
          <a:bodyPr wrap="square" lIns="0" tIns="0" rIns="0" bIns="0" rtlCol="0" anchor="t"/>
          <a:lstStyle/>
          <a:p>
            <a:pPr marL="0" indent="0" algn="ctr">
              <a:buNone/>
            </a:pPr>
            <a:r>
              <a:rPr lang="en-US" sz="1200" b="1" dirty="0">
                <a:solidFill>
                  <a:srgbClr val="1B3A5F"/>
                </a:solidFill>
                <a:latin typeface="Calibri" pitchFamily="34" charset="0"/>
                <a:ea typeface="Calibri" pitchFamily="34" charset="-122"/>
                <a:cs typeface="Calibri" pitchFamily="34" charset="-120"/>
              </a:rPr>
              <a:t>Govern</a:t>
            </a:r>
            <a:endParaRPr lang="en-US" sz="1400" dirty="0"/>
          </a:p>
          <a:p>
            <a:pPr marL="0" indent="0" algn="ctr">
              <a:buNone/>
            </a:pPr>
            <a:r>
              <a:rPr lang="en-US" sz="950" dirty="0">
                <a:solidFill>
                  <a:srgbClr val="6B7785"/>
                </a:solidFill>
                <a:latin typeface="Calibri" pitchFamily="34" charset="0"/>
                <a:ea typeface="Calibri" pitchFamily="34" charset="-122"/>
                <a:cs typeface="Calibri" pitchFamily="34" charset="-120"/>
              </a:rPr>
              <a:t>14 columns excluded</a:t>
            </a:r>
            <a:endParaRPr lang="en-US" sz="1400" dirty="0"/>
          </a:p>
        </p:txBody>
      </p:sp>
      <p:sp>
        <p:nvSpPr>
          <p:cNvPr id="19" name="!!lab5"/>
          <p:cNvSpPr txBox="1"/>
          <p:nvPr/>
        </p:nvSpPr>
        <p:spPr>
          <a:xfrm>
            <a:off x="4142232" y="2560320"/>
            <a:ext cx="868680" cy="822960"/>
          </a:xfrm>
          <a:prstGeom prst="rect">
            <a:avLst/>
          </a:prstGeom>
          <a:noFill/>
          <a:ln/>
        </p:spPr>
        <p:txBody>
          <a:bodyPr wrap="square" lIns="0" tIns="0" rIns="0" bIns="0" rtlCol="0" anchor="t"/>
          <a:lstStyle/>
          <a:p>
            <a:pPr marL="0" indent="0" algn="ctr">
              <a:buNone/>
            </a:pPr>
            <a:r>
              <a:rPr lang="en-US" sz="1200" b="1" dirty="0">
                <a:solidFill>
                  <a:srgbClr val="1B3A5F"/>
                </a:solidFill>
                <a:latin typeface="Calibri" pitchFamily="34" charset="0"/>
                <a:ea typeface="Calibri" pitchFamily="34" charset="-122"/>
                <a:cs typeface="Calibri" pitchFamily="34" charset="-120"/>
              </a:rPr>
              <a:t>Explore</a:t>
            </a:r>
            <a:endParaRPr lang="en-US" sz="1400" dirty="0"/>
          </a:p>
          <a:p>
            <a:pPr marL="0" indent="0" algn="ctr">
              <a:buNone/>
            </a:pPr>
            <a:r>
              <a:rPr lang="en-US" sz="950" dirty="0">
                <a:solidFill>
                  <a:srgbClr val="6B7785"/>
                </a:solidFill>
                <a:latin typeface="Calibri" pitchFamily="34" charset="0"/>
                <a:ea typeface="Calibri" pitchFamily="34" charset="-122"/>
                <a:cs typeface="Calibri" pitchFamily="34" charset="-120"/>
              </a:rPr>
              <a:t>14 EDA figures</a:t>
            </a:r>
            <a:endParaRPr lang="en-US" sz="1400" dirty="0"/>
          </a:p>
        </p:txBody>
      </p:sp>
      <p:sp>
        <p:nvSpPr>
          <p:cNvPr id="20" name="!!lab6"/>
          <p:cNvSpPr txBox="1"/>
          <p:nvPr/>
        </p:nvSpPr>
        <p:spPr>
          <a:xfrm>
            <a:off x="5056632" y="2560320"/>
            <a:ext cx="868680" cy="822960"/>
          </a:xfrm>
          <a:prstGeom prst="rect">
            <a:avLst/>
          </a:prstGeom>
          <a:noFill/>
          <a:ln/>
        </p:spPr>
        <p:txBody>
          <a:bodyPr wrap="square" lIns="0" tIns="0" rIns="0" bIns="0" rtlCol="0" anchor="t"/>
          <a:lstStyle/>
          <a:p>
            <a:pPr marL="0" indent="0" algn="ctr">
              <a:buNone/>
            </a:pPr>
            <a:r>
              <a:rPr lang="en-US" sz="1200" b="1" dirty="0">
                <a:solidFill>
                  <a:srgbClr val="1B3A5F"/>
                </a:solidFill>
                <a:latin typeface="Calibri" pitchFamily="34" charset="0"/>
                <a:ea typeface="Calibri" pitchFamily="34" charset="-122"/>
                <a:cs typeface="Calibri" pitchFamily="34" charset="-120"/>
              </a:rPr>
              <a:t>Split</a:t>
            </a:r>
            <a:endParaRPr lang="en-US" sz="1400" dirty="0"/>
          </a:p>
          <a:p>
            <a:pPr marL="0" indent="0" algn="ctr">
              <a:buNone/>
            </a:pPr>
            <a:r>
              <a:rPr lang="en-US" sz="950" dirty="0">
                <a:solidFill>
                  <a:srgbClr val="6B7785"/>
                </a:solidFill>
                <a:latin typeface="Calibri" pitchFamily="34" charset="0"/>
                <a:ea typeface="Calibri" pitchFamily="34" charset="-122"/>
                <a:cs typeface="Calibri" pitchFamily="34" charset="-120"/>
              </a:rPr>
              <a:t>80 / 20 stratified</a:t>
            </a:r>
            <a:endParaRPr lang="en-US" sz="1400" dirty="0"/>
          </a:p>
        </p:txBody>
      </p:sp>
      <p:sp>
        <p:nvSpPr>
          <p:cNvPr id="21" name="!!lab7"/>
          <p:cNvSpPr txBox="1"/>
          <p:nvPr/>
        </p:nvSpPr>
        <p:spPr>
          <a:xfrm>
            <a:off x="5971032" y="2560320"/>
            <a:ext cx="868680" cy="822960"/>
          </a:xfrm>
          <a:prstGeom prst="rect">
            <a:avLst/>
          </a:prstGeom>
          <a:noFill/>
          <a:ln/>
        </p:spPr>
        <p:txBody>
          <a:bodyPr wrap="square" lIns="0" tIns="0" rIns="0" bIns="0" rtlCol="0" anchor="t"/>
          <a:lstStyle/>
          <a:p>
            <a:pPr marL="0" indent="0" algn="ctr">
              <a:buNone/>
            </a:pPr>
            <a:r>
              <a:rPr lang="en-US" sz="1200" b="1" dirty="0">
                <a:solidFill>
                  <a:srgbClr val="1B3A5F"/>
                </a:solidFill>
                <a:latin typeface="Calibri" pitchFamily="34" charset="0"/>
                <a:ea typeface="Calibri" pitchFamily="34" charset="-122"/>
                <a:cs typeface="Calibri" pitchFamily="34" charset="-120"/>
              </a:rPr>
              <a:t>Tune</a:t>
            </a:r>
            <a:endParaRPr lang="en-US" sz="1400" dirty="0"/>
          </a:p>
          <a:p>
            <a:pPr marL="0" indent="0" algn="ctr">
              <a:buNone/>
            </a:pPr>
            <a:r>
              <a:rPr lang="en-US" sz="950" dirty="0">
                <a:solidFill>
                  <a:srgbClr val="6B7785"/>
                </a:solidFill>
                <a:latin typeface="Calibri" pitchFamily="34" charset="0"/>
                <a:ea typeface="Calibri" pitchFamily="34" charset="-122"/>
                <a:cs typeface="Calibri" pitchFamily="34" charset="-120"/>
              </a:rPr>
              <a:t>4 models, 5-fold CV</a:t>
            </a:r>
            <a:endParaRPr lang="en-US" sz="1400" dirty="0"/>
          </a:p>
        </p:txBody>
      </p:sp>
      <p:sp>
        <p:nvSpPr>
          <p:cNvPr id="22" name="!!lab8"/>
          <p:cNvSpPr txBox="1"/>
          <p:nvPr/>
        </p:nvSpPr>
        <p:spPr>
          <a:xfrm>
            <a:off x="6885432" y="2560320"/>
            <a:ext cx="868680" cy="822960"/>
          </a:xfrm>
          <a:prstGeom prst="rect">
            <a:avLst/>
          </a:prstGeom>
          <a:noFill/>
          <a:ln/>
        </p:spPr>
        <p:txBody>
          <a:bodyPr wrap="square" lIns="0" tIns="0" rIns="0" bIns="0" rtlCol="0" anchor="t"/>
          <a:lstStyle/>
          <a:p>
            <a:pPr marL="0" indent="0" algn="ctr">
              <a:buNone/>
            </a:pPr>
            <a:r>
              <a:rPr lang="en-US" sz="1200" b="1" dirty="0">
                <a:solidFill>
                  <a:srgbClr val="1B3A5F"/>
                </a:solidFill>
                <a:latin typeface="Calibri" pitchFamily="34" charset="0"/>
                <a:ea typeface="Calibri" pitchFamily="34" charset="-122"/>
                <a:cs typeface="Calibri" pitchFamily="34" charset="-120"/>
              </a:rPr>
              <a:t>Evaluate</a:t>
            </a:r>
            <a:endParaRPr lang="en-US" sz="1400" dirty="0"/>
          </a:p>
          <a:p>
            <a:pPr marL="0" indent="0" algn="ctr">
              <a:buNone/>
            </a:pPr>
            <a:r>
              <a:rPr lang="en-US" sz="950" dirty="0">
                <a:solidFill>
                  <a:srgbClr val="6B7785"/>
                </a:solidFill>
                <a:latin typeface="Calibri" pitchFamily="34" charset="0"/>
                <a:ea typeface="Calibri" pitchFamily="34" charset="-122"/>
                <a:cs typeface="Calibri" pitchFamily="34" charset="-120"/>
              </a:rPr>
              <a:t>XGBoost macro-F1 0.9423</a:t>
            </a:r>
            <a:endParaRPr lang="en-US" sz="1400" dirty="0"/>
          </a:p>
        </p:txBody>
      </p:sp>
      <p:sp>
        <p:nvSpPr>
          <p:cNvPr id="23" name="!!lab9"/>
          <p:cNvSpPr txBox="1"/>
          <p:nvPr/>
        </p:nvSpPr>
        <p:spPr>
          <a:xfrm>
            <a:off x="7799832" y="2560320"/>
            <a:ext cx="868680" cy="822960"/>
          </a:xfrm>
          <a:prstGeom prst="rect">
            <a:avLst/>
          </a:prstGeom>
          <a:noFill/>
          <a:ln/>
        </p:spPr>
        <p:txBody>
          <a:bodyPr wrap="square" lIns="0" tIns="0" rIns="0" bIns="0" rtlCol="0" anchor="t"/>
          <a:lstStyle/>
          <a:p>
            <a:pPr marL="0" indent="0" algn="ctr">
              <a:buNone/>
            </a:pPr>
            <a:r>
              <a:rPr lang="en-US" sz="1200" b="1" dirty="0">
                <a:solidFill>
                  <a:srgbClr val="1B3A5F"/>
                </a:solidFill>
                <a:latin typeface="Calibri" pitchFamily="34" charset="0"/>
                <a:ea typeface="Calibri" pitchFamily="34" charset="-122"/>
                <a:cs typeface="Calibri" pitchFamily="34" charset="-120"/>
              </a:rPr>
              <a:t>Deploy</a:t>
            </a:r>
            <a:endParaRPr lang="en-US" sz="1400" dirty="0"/>
          </a:p>
          <a:p>
            <a:pPr marL="0" indent="0" algn="ctr">
              <a:buNone/>
            </a:pPr>
            <a:r>
              <a:rPr lang="en-US" sz="950" dirty="0">
                <a:solidFill>
                  <a:srgbClr val="6B7785"/>
                </a:solidFill>
                <a:latin typeface="Calibri" pitchFamily="34" charset="0"/>
                <a:ea typeface="Calibri" pitchFamily="34" charset="-122"/>
                <a:cs typeface="Calibri" pitchFamily="34" charset="-120"/>
              </a:rPr>
              <a:t>joblib bundle + Streamlit</a:t>
            </a:r>
            <a:endParaRPr lang="en-US" sz="1400" dirty="0"/>
          </a:p>
        </p:txBody>
      </p:sp>
      <p:sp>
        <p:nvSpPr>
          <p:cNvPr id="24" name="!!packet"/>
          <p:cNvSpPr/>
          <p:nvPr/>
        </p:nvSpPr>
        <p:spPr>
          <a:xfrm>
            <a:off x="384048" y="2020824"/>
            <a:ext cx="182880" cy="182880"/>
          </a:xfrm>
          <a:prstGeom prst="ellipse">
            <a:avLst/>
          </a:prstGeom>
          <a:solidFill>
            <a:srgbClr val="C75B39"/>
          </a:solidFill>
          <a:ln w="12700">
            <a:solidFill>
              <a:srgbClr val="FFFFFF"/>
            </a:solidFill>
            <a:prstDash val="solid"/>
          </a:ln>
        </p:spPr>
      </p:sp>
      <p:sp>
        <p:nvSpPr>
          <p:cNvPr id="25" name="s7_why_bg"/>
          <p:cNvSpPr/>
          <p:nvPr/>
        </p:nvSpPr>
        <p:spPr>
          <a:xfrm>
            <a:off x="548640" y="4023360"/>
            <a:ext cx="8046720" cy="329184"/>
          </a:xfrm>
          <a:prstGeom prst="roundRect">
            <a:avLst>
              <a:gd name="adj" fmla="val 22222"/>
            </a:avLst>
          </a:prstGeom>
          <a:solidFill>
            <a:srgbClr val="E3F1F1"/>
          </a:solidFill>
          <a:ln w="9525">
            <a:solidFill>
              <a:srgbClr val="E3F1F1"/>
            </a:solidFill>
            <a:prstDash val="solid"/>
          </a:ln>
        </p:spPr>
      </p:sp>
      <p:sp>
        <p:nvSpPr>
          <p:cNvPr id="26" name="s7_why"/>
          <p:cNvSpPr txBox="1"/>
          <p:nvPr/>
        </p:nvSpPr>
        <p:spPr>
          <a:xfrm>
            <a:off x="731520" y="4023360"/>
            <a:ext cx="7772400" cy="329184"/>
          </a:xfrm>
          <a:prstGeom prst="rect">
            <a:avLst/>
          </a:prstGeom>
          <a:noFill/>
          <a:ln/>
        </p:spPr>
        <p:txBody>
          <a:bodyPr wrap="square" lIns="0" tIns="0" rIns="0" bIns="0" rtlCol="0" anchor="ctr"/>
          <a:lstStyle/>
          <a:p>
            <a:pPr marL="0" indent="0">
              <a:buNone/>
            </a:pPr>
            <a:r>
              <a:rPr lang="en-US" sz="1000" b="1" kern="0" spc="200" dirty="0">
                <a:solidFill>
                  <a:srgbClr val="2E8B8B"/>
                </a:solidFill>
                <a:latin typeface="Calibri" pitchFamily="34" charset="0"/>
                <a:ea typeface="Calibri" pitchFamily="34" charset="-122"/>
                <a:cs typeface="Calibri" pitchFamily="34" charset="-120"/>
              </a:rPr>
              <a:t>WHY IT MATTERS  </a:t>
            </a:r>
            <a:r>
              <a:rPr lang="en-US" sz="1200" dirty="0">
                <a:solidFill>
                  <a:srgbClr val="333333"/>
                </a:solidFill>
                <a:latin typeface="Calibri" pitchFamily="34" charset="0"/>
                <a:ea typeface="Calibri" pitchFamily="34" charset="-122"/>
                <a:cs typeface="Calibri" pitchFamily="34" charset="-120"/>
              </a:rPr>
              <a:t>Each stage removes one way of fooling ourselves.</a:t>
            </a:r>
            <a:endParaRPr lang="en-US" sz="1400" dirty="0"/>
          </a:p>
        </p:txBody>
      </p:sp>
      <p:sp>
        <p:nvSpPr>
          <p:cNvPr id="2"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400" fill="hold"/>
                                        <p:tgtEl>
                                          <p:spTgt spid="6"/>
                                        </p:tgtEl>
                                        <p:attrNameLst>
                                          <p:attrName>ppt_w</p:attrName>
                                        </p:attrNameLst>
                                      </p:cBhvr>
                                      <p:tavLst>
                                        <p:tav tm="0">
                                          <p:val>
                                            <p:fltVal val="0"/>
                                          </p:val>
                                        </p:tav>
                                        <p:tav tm="100000">
                                          <p:val>
                                            <p:strVal val="#ppt_w"/>
                                          </p:val>
                                        </p:tav>
                                      </p:tavLst>
                                    </p:anim>
                                    <p:anim calcmode="lin" valueType="num">
                                      <p:cBhvr additive="base">
                                        <p:cTn id="8" dur="400" fill="hold"/>
                                        <p:tgtEl>
                                          <p:spTgt spid="6"/>
                                        </p:tgtEl>
                                        <p:attrNameLst>
                                          <p:attrName>ppt_h</p:attrName>
                                        </p:attrNameLst>
                                      </p:cBhvr>
                                      <p:tavLst>
                                        <p:tav tm="0">
                                          <p:val>
                                            <p:fltVal val="0"/>
                                          </p:val>
                                        </p:tav>
                                        <p:tav tm="100000">
                                          <p:val>
                                            <p:strVal val="#ppt_h"/>
                                          </p:val>
                                        </p:tav>
                                      </p:tavLst>
                                    </p:anim>
                                    <p:animEffect transition="in" filter="fade">
                                      <p:cBhvr>
                                        <p:cTn id="9" dur="400"/>
                                        <p:tgtEl>
                                          <p:spTgt spid="6"/>
                                        </p:tgtEl>
                                      </p:cBhvr>
                                    </p:animEffect>
                                  </p:childTnLst>
                                </p:cTn>
                              </p:par>
                              <p:par>
                                <p:cTn id="10" presetID="10" presetClass="entr" presetSubtype="0" fill="hold" nodeType="withEffect">
                                  <p:stCondLst>
                                    <p:cond delay="1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400"/>
                                        <p:tgtEl>
                                          <p:spTgt spid="15"/>
                                        </p:tgtEl>
                                      </p:cBhvr>
                                    </p:animEffect>
                                  </p:childTnLst>
                                </p:cTn>
                              </p:par>
                              <p:par>
                                <p:cTn id="13" presetID="53" presetClass="entr" presetSubtype="16" fill="hold" nodeType="withEffect">
                                  <p:stCondLst>
                                    <p:cond delay="22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400" fill="hold"/>
                                        <p:tgtEl>
                                          <p:spTgt spid="7"/>
                                        </p:tgtEl>
                                        <p:attrNameLst>
                                          <p:attrName>ppt_w</p:attrName>
                                        </p:attrNameLst>
                                      </p:cBhvr>
                                      <p:tavLst>
                                        <p:tav tm="0">
                                          <p:val>
                                            <p:fltVal val="0"/>
                                          </p:val>
                                        </p:tav>
                                        <p:tav tm="100000">
                                          <p:val>
                                            <p:strVal val="#ppt_w"/>
                                          </p:val>
                                        </p:tav>
                                      </p:tavLst>
                                    </p:anim>
                                    <p:anim calcmode="lin" valueType="num">
                                      <p:cBhvr additive="base">
                                        <p:cTn id="16" dur="400" fill="hold"/>
                                        <p:tgtEl>
                                          <p:spTgt spid="7"/>
                                        </p:tgtEl>
                                        <p:attrNameLst>
                                          <p:attrName>ppt_h</p:attrName>
                                        </p:attrNameLst>
                                      </p:cBhvr>
                                      <p:tavLst>
                                        <p:tav tm="0">
                                          <p:val>
                                            <p:fltVal val="0"/>
                                          </p:val>
                                        </p:tav>
                                        <p:tav tm="100000">
                                          <p:val>
                                            <p:strVal val="#ppt_h"/>
                                          </p:val>
                                        </p:tav>
                                      </p:tavLst>
                                    </p:anim>
                                    <p:animEffect transition="in" filter="fade">
                                      <p:cBhvr>
                                        <p:cTn id="17" dur="400"/>
                                        <p:tgtEl>
                                          <p:spTgt spid="7"/>
                                        </p:tgtEl>
                                      </p:cBhvr>
                                    </p:animEffect>
                                  </p:childTnLst>
                                </p:cTn>
                              </p:par>
                              <p:par>
                                <p:cTn id="18" presetID="10" presetClass="entr" presetSubtype="0" fill="hold" nodeType="withEffect">
                                  <p:stCondLst>
                                    <p:cond delay="32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53" presetClass="entr" presetSubtype="16" fill="hold" nodeType="withEffect">
                                  <p:stCondLst>
                                    <p:cond delay="44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400" fill="hold"/>
                                        <p:tgtEl>
                                          <p:spTgt spid="8"/>
                                        </p:tgtEl>
                                        <p:attrNameLst>
                                          <p:attrName>ppt_w</p:attrName>
                                        </p:attrNameLst>
                                      </p:cBhvr>
                                      <p:tavLst>
                                        <p:tav tm="0">
                                          <p:val>
                                            <p:fltVal val="0"/>
                                          </p:val>
                                        </p:tav>
                                        <p:tav tm="100000">
                                          <p:val>
                                            <p:strVal val="#ppt_w"/>
                                          </p:val>
                                        </p:tav>
                                      </p:tavLst>
                                    </p:anim>
                                    <p:anim calcmode="lin" valueType="num">
                                      <p:cBhvr additive="base">
                                        <p:cTn id="24" dur="400" fill="hold"/>
                                        <p:tgtEl>
                                          <p:spTgt spid="8"/>
                                        </p:tgtEl>
                                        <p:attrNameLst>
                                          <p:attrName>ppt_h</p:attrName>
                                        </p:attrNameLst>
                                      </p:cBhvr>
                                      <p:tavLst>
                                        <p:tav tm="0">
                                          <p:val>
                                            <p:fltVal val="0"/>
                                          </p:val>
                                        </p:tav>
                                        <p:tav tm="100000">
                                          <p:val>
                                            <p:strVal val="#ppt_h"/>
                                          </p:val>
                                        </p:tav>
                                      </p:tavLst>
                                    </p:anim>
                                    <p:animEffect transition="in" filter="fade">
                                      <p:cBhvr>
                                        <p:cTn id="25" dur="400"/>
                                        <p:tgtEl>
                                          <p:spTgt spid="8"/>
                                        </p:tgtEl>
                                      </p:cBhvr>
                                    </p:animEffect>
                                  </p:childTnLst>
                                </p:cTn>
                              </p:par>
                              <p:par>
                                <p:cTn id="26" presetID="10" presetClass="entr" presetSubtype="0" fill="hold" nodeType="withEffect">
                                  <p:stCondLst>
                                    <p:cond delay="54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400"/>
                                        <p:tgtEl>
                                          <p:spTgt spid="17"/>
                                        </p:tgtEl>
                                      </p:cBhvr>
                                    </p:animEffect>
                                  </p:childTnLst>
                                </p:cTn>
                              </p:par>
                              <p:par>
                                <p:cTn id="29" presetID="53" presetClass="entr" presetSubtype="16" fill="hold" nodeType="withEffect">
                                  <p:stCondLst>
                                    <p:cond delay="66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400" fill="hold"/>
                                        <p:tgtEl>
                                          <p:spTgt spid="9"/>
                                        </p:tgtEl>
                                        <p:attrNameLst>
                                          <p:attrName>ppt_w</p:attrName>
                                        </p:attrNameLst>
                                      </p:cBhvr>
                                      <p:tavLst>
                                        <p:tav tm="0">
                                          <p:val>
                                            <p:fltVal val="0"/>
                                          </p:val>
                                        </p:tav>
                                        <p:tav tm="100000">
                                          <p:val>
                                            <p:strVal val="#ppt_w"/>
                                          </p:val>
                                        </p:tav>
                                      </p:tavLst>
                                    </p:anim>
                                    <p:anim calcmode="lin" valueType="num">
                                      <p:cBhvr additive="base">
                                        <p:cTn id="32" dur="400" fill="hold"/>
                                        <p:tgtEl>
                                          <p:spTgt spid="9"/>
                                        </p:tgtEl>
                                        <p:attrNameLst>
                                          <p:attrName>ppt_h</p:attrName>
                                        </p:attrNameLst>
                                      </p:cBhvr>
                                      <p:tavLst>
                                        <p:tav tm="0">
                                          <p:val>
                                            <p:fltVal val="0"/>
                                          </p:val>
                                        </p:tav>
                                        <p:tav tm="100000">
                                          <p:val>
                                            <p:strVal val="#ppt_h"/>
                                          </p:val>
                                        </p:tav>
                                      </p:tavLst>
                                    </p:anim>
                                    <p:animEffect transition="in" filter="fade">
                                      <p:cBhvr>
                                        <p:cTn id="33" dur="400"/>
                                        <p:tgtEl>
                                          <p:spTgt spid="9"/>
                                        </p:tgtEl>
                                      </p:cBhvr>
                                    </p:animEffect>
                                  </p:childTnLst>
                                </p:cTn>
                              </p:par>
                              <p:par>
                                <p:cTn id="34" presetID="10" presetClass="entr" presetSubtype="0" fill="hold" nodeType="withEffect">
                                  <p:stCondLst>
                                    <p:cond delay="76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400"/>
                                        <p:tgtEl>
                                          <p:spTgt spid="18"/>
                                        </p:tgtEl>
                                      </p:cBhvr>
                                    </p:animEffect>
                                  </p:childTnLst>
                                </p:cTn>
                              </p:par>
                              <p:par>
                                <p:cTn id="37" presetID="53" presetClass="entr" presetSubtype="16" fill="hold" nodeType="withEffect">
                                  <p:stCondLst>
                                    <p:cond delay="88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400" fill="hold"/>
                                        <p:tgtEl>
                                          <p:spTgt spid="10"/>
                                        </p:tgtEl>
                                        <p:attrNameLst>
                                          <p:attrName>ppt_w</p:attrName>
                                        </p:attrNameLst>
                                      </p:cBhvr>
                                      <p:tavLst>
                                        <p:tav tm="0">
                                          <p:val>
                                            <p:fltVal val="0"/>
                                          </p:val>
                                        </p:tav>
                                        <p:tav tm="100000">
                                          <p:val>
                                            <p:strVal val="#ppt_w"/>
                                          </p:val>
                                        </p:tav>
                                      </p:tavLst>
                                    </p:anim>
                                    <p:anim calcmode="lin" valueType="num">
                                      <p:cBhvr additive="base">
                                        <p:cTn id="40" dur="400" fill="hold"/>
                                        <p:tgtEl>
                                          <p:spTgt spid="10"/>
                                        </p:tgtEl>
                                        <p:attrNameLst>
                                          <p:attrName>ppt_h</p:attrName>
                                        </p:attrNameLst>
                                      </p:cBhvr>
                                      <p:tavLst>
                                        <p:tav tm="0">
                                          <p:val>
                                            <p:fltVal val="0"/>
                                          </p:val>
                                        </p:tav>
                                        <p:tav tm="100000">
                                          <p:val>
                                            <p:strVal val="#ppt_h"/>
                                          </p:val>
                                        </p:tav>
                                      </p:tavLst>
                                    </p:anim>
                                    <p:animEffect transition="in" filter="fade">
                                      <p:cBhvr>
                                        <p:cTn id="41" dur="400"/>
                                        <p:tgtEl>
                                          <p:spTgt spid="10"/>
                                        </p:tgtEl>
                                      </p:cBhvr>
                                    </p:animEffect>
                                  </p:childTnLst>
                                </p:cTn>
                              </p:par>
                              <p:par>
                                <p:cTn id="42" presetID="10" presetClass="entr" presetSubtype="0" fill="hold" nodeType="withEffect">
                                  <p:stCondLst>
                                    <p:cond delay="98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53" presetClass="entr" presetSubtype="16" fill="hold" nodeType="withEffect">
                                  <p:stCondLst>
                                    <p:cond delay="110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400" fill="hold"/>
                                        <p:tgtEl>
                                          <p:spTgt spid="11"/>
                                        </p:tgtEl>
                                        <p:attrNameLst>
                                          <p:attrName>ppt_w</p:attrName>
                                        </p:attrNameLst>
                                      </p:cBhvr>
                                      <p:tavLst>
                                        <p:tav tm="0">
                                          <p:val>
                                            <p:fltVal val="0"/>
                                          </p:val>
                                        </p:tav>
                                        <p:tav tm="100000">
                                          <p:val>
                                            <p:strVal val="#ppt_w"/>
                                          </p:val>
                                        </p:tav>
                                      </p:tavLst>
                                    </p:anim>
                                    <p:anim calcmode="lin" valueType="num">
                                      <p:cBhvr additive="base">
                                        <p:cTn id="48" dur="400" fill="hold"/>
                                        <p:tgtEl>
                                          <p:spTgt spid="11"/>
                                        </p:tgtEl>
                                        <p:attrNameLst>
                                          <p:attrName>ppt_h</p:attrName>
                                        </p:attrNameLst>
                                      </p:cBhvr>
                                      <p:tavLst>
                                        <p:tav tm="0">
                                          <p:val>
                                            <p:fltVal val="0"/>
                                          </p:val>
                                        </p:tav>
                                        <p:tav tm="100000">
                                          <p:val>
                                            <p:strVal val="#ppt_h"/>
                                          </p:val>
                                        </p:tav>
                                      </p:tavLst>
                                    </p:anim>
                                    <p:animEffect transition="in" filter="fade">
                                      <p:cBhvr>
                                        <p:cTn id="49" dur="400"/>
                                        <p:tgtEl>
                                          <p:spTgt spid="11"/>
                                        </p:tgtEl>
                                      </p:cBhvr>
                                    </p:animEffect>
                                  </p:childTnLst>
                                </p:cTn>
                              </p:par>
                              <p:par>
                                <p:cTn id="50" presetID="10" presetClass="entr" presetSubtype="0" fill="hold" nodeType="withEffect">
                                  <p:stCondLst>
                                    <p:cond delay="120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00"/>
                                        <p:tgtEl>
                                          <p:spTgt spid="20"/>
                                        </p:tgtEl>
                                      </p:cBhvr>
                                    </p:animEffect>
                                  </p:childTnLst>
                                </p:cTn>
                              </p:par>
                              <p:par>
                                <p:cTn id="53" presetID="53" presetClass="entr" presetSubtype="16" fill="hold" nodeType="withEffect">
                                  <p:stCondLst>
                                    <p:cond delay="1320"/>
                                  </p:stCondLst>
                                  <p:childTnLst>
                                    <p:set>
                                      <p:cBhvr>
                                        <p:cTn id="54" dur="1" fill="hold">
                                          <p:stCondLst>
                                            <p:cond delay="0"/>
                                          </p:stCondLst>
                                        </p:cTn>
                                        <p:tgtEl>
                                          <p:spTgt spid="12"/>
                                        </p:tgtEl>
                                        <p:attrNameLst>
                                          <p:attrName>style.visibility</p:attrName>
                                        </p:attrNameLst>
                                      </p:cBhvr>
                                      <p:to>
                                        <p:strVal val="visible"/>
                                      </p:to>
                                    </p:set>
                                    <p:anim calcmode="lin" valueType="num">
                                      <p:cBhvr additive="base">
                                        <p:cTn id="55" dur="400" fill="hold"/>
                                        <p:tgtEl>
                                          <p:spTgt spid="12"/>
                                        </p:tgtEl>
                                        <p:attrNameLst>
                                          <p:attrName>ppt_w</p:attrName>
                                        </p:attrNameLst>
                                      </p:cBhvr>
                                      <p:tavLst>
                                        <p:tav tm="0">
                                          <p:val>
                                            <p:fltVal val="0"/>
                                          </p:val>
                                        </p:tav>
                                        <p:tav tm="100000">
                                          <p:val>
                                            <p:strVal val="#ppt_w"/>
                                          </p:val>
                                        </p:tav>
                                      </p:tavLst>
                                    </p:anim>
                                    <p:anim calcmode="lin" valueType="num">
                                      <p:cBhvr additive="base">
                                        <p:cTn id="56" dur="400" fill="hold"/>
                                        <p:tgtEl>
                                          <p:spTgt spid="12"/>
                                        </p:tgtEl>
                                        <p:attrNameLst>
                                          <p:attrName>ppt_h</p:attrName>
                                        </p:attrNameLst>
                                      </p:cBhvr>
                                      <p:tavLst>
                                        <p:tav tm="0">
                                          <p:val>
                                            <p:fltVal val="0"/>
                                          </p:val>
                                        </p:tav>
                                        <p:tav tm="100000">
                                          <p:val>
                                            <p:strVal val="#ppt_h"/>
                                          </p:val>
                                        </p:tav>
                                      </p:tavLst>
                                    </p:anim>
                                    <p:animEffect transition="in" filter="fade">
                                      <p:cBhvr>
                                        <p:cTn id="57" dur="400"/>
                                        <p:tgtEl>
                                          <p:spTgt spid="12"/>
                                        </p:tgtEl>
                                      </p:cBhvr>
                                    </p:animEffect>
                                  </p:childTnLst>
                                </p:cTn>
                              </p:par>
                              <p:par>
                                <p:cTn id="58" presetID="10" presetClass="entr" presetSubtype="0" fill="hold" nodeType="withEffect">
                                  <p:stCondLst>
                                    <p:cond delay="142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00"/>
                                        <p:tgtEl>
                                          <p:spTgt spid="21"/>
                                        </p:tgtEl>
                                      </p:cBhvr>
                                    </p:animEffect>
                                  </p:childTnLst>
                                </p:cTn>
                              </p:par>
                              <p:par>
                                <p:cTn id="61" presetID="53" presetClass="entr" presetSubtype="16" fill="hold" nodeType="withEffect">
                                  <p:stCondLst>
                                    <p:cond delay="1540"/>
                                  </p:stCondLst>
                                  <p:childTnLst>
                                    <p:set>
                                      <p:cBhvr>
                                        <p:cTn id="62" dur="1" fill="hold">
                                          <p:stCondLst>
                                            <p:cond delay="0"/>
                                          </p:stCondLst>
                                        </p:cTn>
                                        <p:tgtEl>
                                          <p:spTgt spid="13"/>
                                        </p:tgtEl>
                                        <p:attrNameLst>
                                          <p:attrName>style.visibility</p:attrName>
                                        </p:attrNameLst>
                                      </p:cBhvr>
                                      <p:to>
                                        <p:strVal val="visible"/>
                                      </p:to>
                                    </p:set>
                                    <p:anim calcmode="lin" valueType="num">
                                      <p:cBhvr additive="base">
                                        <p:cTn id="63" dur="400" fill="hold"/>
                                        <p:tgtEl>
                                          <p:spTgt spid="13"/>
                                        </p:tgtEl>
                                        <p:attrNameLst>
                                          <p:attrName>ppt_w</p:attrName>
                                        </p:attrNameLst>
                                      </p:cBhvr>
                                      <p:tavLst>
                                        <p:tav tm="0">
                                          <p:val>
                                            <p:fltVal val="0"/>
                                          </p:val>
                                        </p:tav>
                                        <p:tav tm="100000">
                                          <p:val>
                                            <p:strVal val="#ppt_w"/>
                                          </p:val>
                                        </p:tav>
                                      </p:tavLst>
                                    </p:anim>
                                    <p:anim calcmode="lin" valueType="num">
                                      <p:cBhvr additive="base">
                                        <p:cTn id="64" dur="400" fill="hold"/>
                                        <p:tgtEl>
                                          <p:spTgt spid="13"/>
                                        </p:tgtEl>
                                        <p:attrNameLst>
                                          <p:attrName>ppt_h</p:attrName>
                                        </p:attrNameLst>
                                      </p:cBhvr>
                                      <p:tavLst>
                                        <p:tav tm="0">
                                          <p:val>
                                            <p:fltVal val="0"/>
                                          </p:val>
                                        </p:tav>
                                        <p:tav tm="100000">
                                          <p:val>
                                            <p:strVal val="#ppt_h"/>
                                          </p:val>
                                        </p:tav>
                                      </p:tavLst>
                                    </p:anim>
                                    <p:animEffect transition="in" filter="fade">
                                      <p:cBhvr>
                                        <p:cTn id="65" dur="400"/>
                                        <p:tgtEl>
                                          <p:spTgt spid="13"/>
                                        </p:tgtEl>
                                      </p:cBhvr>
                                    </p:animEffect>
                                  </p:childTnLst>
                                </p:cTn>
                              </p:par>
                              <p:par>
                                <p:cTn id="66" presetID="10" presetClass="entr" presetSubtype="0" fill="hold" nodeType="withEffect">
                                  <p:stCondLst>
                                    <p:cond delay="164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00"/>
                                        <p:tgtEl>
                                          <p:spTgt spid="22"/>
                                        </p:tgtEl>
                                      </p:cBhvr>
                                    </p:animEffect>
                                  </p:childTnLst>
                                </p:cTn>
                              </p:par>
                              <p:par>
                                <p:cTn id="69" presetID="53" presetClass="entr" presetSubtype="16" fill="hold" nodeType="withEffect">
                                  <p:stCondLst>
                                    <p:cond delay="1760"/>
                                  </p:stCondLst>
                                  <p:childTnLst>
                                    <p:set>
                                      <p:cBhvr>
                                        <p:cTn id="70" dur="1" fill="hold">
                                          <p:stCondLst>
                                            <p:cond delay="0"/>
                                          </p:stCondLst>
                                        </p:cTn>
                                        <p:tgtEl>
                                          <p:spTgt spid="14"/>
                                        </p:tgtEl>
                                        <p:attrNameLst>
                                          <p:attrName>style.visibility</p:attrName>
                                        </p:attrNameLst>
                                      </p:cBhvr>
                                      <p:to>
                                        <p:strVal val="visible"/>
                                      </p:to>
                                    </p:set>
                                    <p:anim calcmode="lin" valueType="num">
                                      <p:cBhvr additive="base">
                                        <p:cTn id="71" dur="400" fill="hold"/>
                                        <p:tgtEl>
                                          <p:spTgt spid="14"/>
                                        </p:tgtEl>
                                        <p:attrNameLst>
                                          <p:attrName>ppt_w</p:attrName>
                                        </p:attrNameLst>
                                      </p:cBhvr>
                                      <p:tavLst>
                                        <p:tav tm="0">
                                          <p:val>
                                            <p:fltVal val="0"/>
                                          </p:val>
                                        </p:tav>
                                        <p:tav tm="100000">
                                          <p:val>
                                            <p:strVal val="#ppt_w"/>
                                          </p:val>
                                        </p:tav>
                                      </p:tavLst>
                                    </p:anim>
                                    <p:anim calcmode="lin" valueType="num">
                                      <p:cBhvr additive="base">
                                        <p:cTn id="72" dur="400" fill="hold"/>
                                        <p:tgtEl>
                                          <p:spTgt spid="14"/>
                                        </p:tgtEl>
                                        <p:attrNameLst>
                                          <p:attrName>ppt_h</p:attrName>
                                        </p:attrNameLst>
                                      </p:cBhvr>
                                      <p:tavLst>
                                        <p:tav tm="0">
                                          <p:val>
                                            <p:fltVal val="0"/>
                                          </p:val>
                                        </p:tav>
                                        <p:tav tm="100000">
                                          <p:val>
                                            <p:strVal val="#ppt_h"/>
                                          </p:val>
                                        </p:tav>
                                      </p:tavLst>
                                    </p:anim>
                                    <p:animEffect transition="in" filter="fade">
                                      <p:cBhvr>
                                        <p:cTn id="73" dur="400"/>
                                        <p:tgtEl>
                                          <p:spTgt spid="14"/>
                                        </p:tgtEl>
                                      </p:cBhvr>
                                    </p:animEffect>
                                  </p:childTnLst>
                                </p:cTn>
                              </p:par>
                              <p:par>
                                <p:cTn id="74" presetID="10" presetClass="entr" presetSubtype="0" fill="hold" nodeType="withEffect">
                                  <p:stCondLst>
                                    <p:cond delay="186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400"/>
                                        <p:tgtEl>
                                          <p:spTgt spid="23"/>
                                        </p:tgtEl>
                                      </p:cBhvr>
                                    </p:animEffect>
                                  </p:childTnLst>
                                </p:cTn>
                              </p:par>
                            </p:childTnLst>
                          </p:cTn>
                        </p:par>
                      </p:childTnLst>
                    </p:cTn>
                  </p:par>
                  <p:par>
                    <p:cTn id="77" fill="hold">
                      <p:stCondLst>
                        <p:cond delay="indefinite"/>
                      </p:stCondLst>
                      <p:childTnLst>
                        <p:par>
                          <p:cTn id="78" fill="hold">
                            <p:stCondLst>
                              <p:cond delay="0"/>
                            </p:stCondLst>
                            <p:childTnLst>
                              <p:par>
                                <p:cTn id="79" presetID="0" presetClass="path" presetSubtype="0" accel="50000" decel="50000" fill="hold" nodeType="clickEffect">
                                  <p:stCondLst>
                                    <p:cond delay="0"/>
                                  </p:stCondLst>
                                  <p:childTnLst>
                                    <p:animMotion origin="layout" path="M 0 0 L 0.85 0 E" pathEditMode="relative" rAng="0" ptsTypes="AA">
                                      <p:cBhvr>
                                        <p:cTn id="80" dur="3500" fill="hold"/>
                                        <p:tgtEl>
                                          <p:spTgt spid="24"/>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Step 3 · One crash, four rows</a:t>
            </a:r>
            <a:endParaRPr lang="en-US" sz="2600" dirty="0"/>
          </a:p>
        </p:txBody>
      </p:sp>
      <p:sp>
        <p:nvSpPr>
          <p:cNvPr id="5" name="!!track"/>
          <p:cNvSpPr/>
          <p:nvPr/>
        </p:nvSpPr>
        <p:spPr>
          <a:xfrm>
            <a:off x="914400" y="4572000"/>
            <a:ext cx="7315200" cy="0"/>
          </a:xfrm>
          <a:prstGeom prst="line">
            <a:avLst/>
          </a:prstGeom>
          <a:noFill/>
          <a:ln w="19050">
            <a:solidFill>
              <a:srgbClr val="B9C4D0"/>
            </a:solidFill>
            <a:prstDash val="solid"/>
          </a:ln>
        </p:spPr>
      </p:sp>
      <p:sp>
        <p:nvSpPr>
          <p:cNvPr id="6" name="!!n1"/>
          <p:cNvSpPr txBox="1"/>
          <p:nvPr/>
        </p:nvSpPr>
        <p:spPr>
          <a:xfrm>
            <a:off x="7680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 name="!!n2"/>
          <p:cNvSpPr txBox="1"/>
          <p:nvPr/>
        </p:nvSpPr>
        <p:spPr>
          <a:xfrm>
            <a:off x="16824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 name="!!n3"/>
          <p:cNvSpPr txBox="1"/>
          <p:nvPr/>
        </p:nvSpPr>
        <p:spPr>
          <a:xfrm>
            <a:off x="2596896" y="4425696"/>
            <a:ext cx="292608" cy="292608"/>
          </a:xfrm>
          <a:prstGeom prst="ellipse">
            <a:avLst/>
          </a:prstGeom>
          <a:solidFill>
            <a:srgbClr val="C75B39"/>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9" name="!!n4"/>
          <p:cNvSpPr txBox="1"/>
          <p:nvPr/>
        </p:nvSpPr>
        <p:spPr>
          <a:xfrm>
            <a:off x="35112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0" name="!!n5"/>
          <p:cNvSpPr txBox="1"/>
          <p:nvPr/>
        </p:nvSpPr>
        <p:spPr>
          <a:xfrm>
            <a:off x="44256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1" name="!!n6"/>
          <p:cNvSpPr txBox="1"/>
          <p:nvPr/>
        </p:nvSpPr>
        <p:spPr>
          <a:xfrm>
            <a:off x="53400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 name="!!n7"/>
          <p:cNvSpPr txBox="1"/>
          <p:nvPr/>
        </p:nvSpPr>
        <p:spPr>
          <a:xfrm>
            <a:off x="62544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3" name="!!n8"/>
          <p:cNvSpPr txBox="1"/>
          <p:nvPr/>
        </p:nvSpPr>
        <p:spPr>
          <a:xfrm>
            <a:off x="71688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4" name="!!n9"/>
          <p:cNvSpPr txBox="1"/>
          <p:nvPr/>
        </p:nvSpPr>
        <p:spPr>
          <a:xfrm>
            <a:off x="80832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15" name="s8_cap"/>
          <p:cNvSpPr txBox="1"/>
          <p:nvPr/>
        </p:nvSpPr>
        <p:spPr>
          <a:xfrm>
            <a:off x="731520" y="1188720"/>
            <a:ext cx="3657600" cy="274320"/>
          </a:xfrm>
          <a:prstGeom prst="rect">
            <a:avLst/>
          </a:prstGeom>
          <a:noFill/>
          <a:ln/>
        </p:spPr>
        <p:txBody>
          <a:bodyPr wrap="square" lIns="0" tIns="0" rIns="0" bIns="0" rtlCol="0" anchor="t"/>
          <a:lstStyle/>
          <a:p>
            <a:pPr marL="0" indent="0">
              <a:buNone/>
            </a:pPr>
            <a:r>
              <a:rPr lang="en-US" sz="1300" b="1" dirty="0">
                <a:solidFill>
                  <a:srgbClr val="2E8B8B"/>
                </a:solidFill>
                <a:latin typeface="Calibri" pitchFamily="34" charset="0"/>
                <a:ea typeface="Calibri" pitchFamily="34" charset="-122"/>
                <a:cs typeface="Calibri" pitchFamily="34" charset="-120"/>
              </a:rPr>
              <a:t>Before: one row per person</a:t>
            </a:r>
            <a:endParaRPr lang="en-US" sz="1300" dirty="0"/>
          </a:p>
        </p:txBody>
      </p:sp>
      <p:sp>
        <p:nvSpPr>
          <p:cNvPr id="16" name="!!p1"/>
          <p:cNvSpPr txBox="1"/>
          <p:nvPr/>
        </p:nvSpPr>
        <p:spPr>
          <a:xfrm>
            <a:off x="731520" y="1554480"/>
            <a:ext cx="3474720" cy="512064"/>
          </a:xfrm>
          <a:prstGeom prst="roundRect">
            <a:avLst>
              <a:gd name="adj" fmla="val 14286"/>
            </a:avLst>
          </a:prstGeom>
          <a:solidFill>
            <a:srgbClr val="E6ECF3"/>
          </a:solidFill>
          <a:ln w="12700">
            <a:solidFill>
              <a:srgbClr val="1B3A5F"/>
            </a:solidFill>
          </a:ln>
        </p:spPr>
        <p:txBody>
          <a:bodyPr wrap="square" lIns="1905" tIns="1905" rIns="1905" bIns="1905" rtlCol="0" anchor="ctr"/>
          <a:lstStyle/>
          <a:p>
            <a:pPr marL="0" indent="0" algn="l">
              <a:buNone/>
            </a:pPr>
            <a:r>
              <a:rPr lang="en-US" sz="1300" b="1" dirty="0">
                <a:solidFill>
                  <a:srgbClr val="1B3A5F"/>
                </a:solidFill>
                <a:latin typeface="Calibri" pitchFamily="34" charset="0"/>
                <a:ea typeface="Calibri" pitchFamily="34" charset="-122"/>
                <a:cs typeface="Calibri" pitchFamily="34" charset="-120"/>
              </a:rPr>
              <a:t>0_P1</a:t>
            </a:r>
            <a:r>
              <a:rPr lang="en-US" sz="1300" dirty="0">
                <a:solidFill>
                  <a:srgbClr val="333333"/>
                </a:solidFill>
                <a:latin typeface="Calibri" pitchFamily="34" charset="0"/>
                <a:ea typeface="Calibri" pitchFamily="34" charset="-122"/>
                <a:cs typeface="Calibri" pitchFamily="34" charset="-120"/>
              </a:rPr>
              <a:t>   license: expired</a:t>
            </a:r>
            <a:endParaRPr lang="en-US" sz="1300" dirty="0"/>
          </a:p>
        </p:txBody>
      </p:sp>
      <p:sp>
        <p:nvSpPr>
          <p:cNvPr id="17" name="!!p2"/>
          <p:cNvSpPr txBox="1"/>
          <p:nvPr/>
        </p:nvSpPr>
        <p:spPr>
          <a:xfrm>
            <a:off x="731520" y="2194560"/>
            <a:ext cx="3474720" cy="512064"/>
          </a:xfrm>
          <a:prstGeom prst="roundRect">
            <a:avLst>
              <a:gd name="adj" fmla="val 14286"/>
            </a:avLst>
          </a:prstGeom>
          <a:solidFill>
            <a:srgbClr val="E6ECF3"/>
          </a:solidFill>
          <a:ln w="12700">
            <a:solidFill>
              <a:srgbClr val="1B3A5F"/>
            </a:solidFill>
          </a:ln>
        </p:spPr>
        <p:txBody>
          <a:bodyPr wrap="square" lIns="1905" tIns="1905" rIns="1905" bIns="1905" rtlCol="0" anchor="ctr"/>
          <a:lstStyle/>
          <a:p>
            <a:pPr marL="0" indent="0" algn="l">
              <a:buNone/>
            </a:pPr>
            <a:r>
              <a:rPr lang="en-US" sz="1300" b="1" dirty="0">
                <a:solidFill>
                  <a:srgbClr val="1B3A5F"/>
                </a:solidFill>
                <a:latin typeface="Calibri" pitchFamily="34" charset="0"/>
                <a:ea typeface="Calibri" pitchFamily="34" charset="-122"/>
                <a:cs typeface="Calibri" pitchFamily="34" charset="-120"/>
              </a:rPr>
              <a:t>0_P2</a:t>
            </a:r>
            <a:r>
              <a:rPr lang="en-US" sz="1300" dirty="0">
                <a:solidFill>
                  <a:srgbClr val="333333"/>
                </a:solidFill>
                <a:latin typeface="Calibri" pitchFamily="34" charset="0"/>
                <a:ea typeface="Calibri" pitchFamily="34" charset="-122"/>
                <a:cs typeface="Calibri" pitchFamily="34" charset="-120"/>
              </a:rPr>
              <a:t>   license: valid</a:t>
            </a:r>
            <a:endParaRPr lang="en-US" sz="1300" dirty="0"/>
          </a:p>
        </p:txBody>
      </p:sp>
      <p:sp>
        <p:nvSpPr>
          <p:cNvPr id="18" name="!!p3"/>
          <p:cNvSpPr txBox="1"/>
          <p:nvPr/>
        </p:nvSpPr>
        <p:spPr>
          <a:xfrm>
            <a:off x="731520" y="2834640"/>
            <a:ext cx="3474720" cy="512064"/>
          </a:xfrm>
          <a:prstGeom prst="roundRect">
            <a:avLst>
              <a:gd name="adj" fmla="val 14286"/>
            </a:avLst>
          </a:prstGeom>
          <a:solidFill>
            <a:srgbClr val="E6ECF3"/>
          </a:solidFill>
          <a:ln w="12700">
            <a:solidFill>
              <a:srgbClr val="1B3A5F"/>
            </a:solidFill>
          </a:ln>
        </p:spPr>
        <p:txBody>
          <a:bodyPr wrap="square" lIns="1905" tIns="1905" rIns="1905" bIns="1905" rtlCol="0" anchor="ctr"/>
          <a:lstStyle/>
          <a:p>
            <a:pPr marL="0" indent="0" algn="l">
              <a:buNone/>
            </a:pPr>
            <a:r>
              <a:rPr lang="en-US" sz="1300" b="1" dirty="0">
                <a:solidFill>
                  <a:srgbClr val="1B3A5F"/>
                </a:solidFill>
                <a:latin typeface="Calibri" pitchFamily="34" charset="0"/>
                <a:ea typeface="Calibri" pitchFamily="34" charset="-122"/>
                <a:cs typeface="Calibri" pitchFamily="34" charset="-120"/>
              </a:rPr>
              <a:t>0_P3</a:t>
            </a:r>
            <a:r>
              <a:rPr lang="en-US" sz="1300" dirty="0">
                <a:solidFill>
                  <a:srgbClr val="333333"/>
                </a:solidFill>
                <a:latin typeface="Calibri" pitchFamily="34" charset="0"/>
                <a:ea typeface="Calibri" pitchFamily="34" charset="-122"/>
                <a:cs typeface="Calibri" pitchFamily="34" charset="-120"/>
              </a:rPr>
              <a:t>   license: expired</a:t>
            </a:r>
            <a:endParaRPr lang="en-US" sz="1300" dirty="0"/>
          </a:p>
        </p:txBody>
      </p:sp>
      <p:sp>
        <p:nvSpPr>
          <p:cNvPr id="19" name="!!p4"/>
          <p:cNvSpPr txBox="1"/>
          <p:nvPr/>
        </p:nvSpPr>
        <p:spPr>
          <a:xfrm>
            <a:off x="731520" y="3474720"/>
            <a:ext cx="3474720" cy="512064"/>
          </a:xfrm>
          <a:prstGeom prst="roundRect">
            <a:avLst>
              <a:gd name="adj" fmla="val 14286"/>
            </a:avLst>
          </a:prstGeom>
          <a:solidFill>
            <a:srgbClr val="E6ECF3"/>
          </a:solidFill>
          <a:ln w="12700">
            <a:solidFill>
              <a:srgbClr val="1B3A5F"/>
            </a:solidFill>
          </a:ln>
        </p:spPr>
        <p:txBody>
          <a:bodyPr wrap="square" lIns="1905" tIns="1905" rIns="1905" bIns="1905" rtlCol="0" anchor="ctr"/>
          <a:lstStyle/>
          <a:p>
            <a:pPr marL="0" indent="0" algn="l">
              <a:buNone/>
            </a:pPr>
            <a:r>
              <a:rPr lang="en-US" sz="1300" b="1" dirty="0">
                <a:solidFill>
                  <a:srgbClr val="1B3A5F"/>
                </a:solidFill>
                <a:latin typeface="Calibri" pitchFamily="34" charset="0"/>
                <a:ea typeface="Calibri" pitchFamily="34" charset="-122"/>
                <a:cs typeface="Calibri" pitchFamily="34" charset="-120"/>
              </a:rPr>
              <a:t>0_P4</a:t>
            </a:r>
            <a:r>
              <a:rPr lang="en-US" sz="1300" dirty="0">
                <a:solidFill>
                  <a:srgbClr val="333333"/>
                </a:solidFill>
                <a:latin typeface="Calibri" pitchFamily="34" charset="0"/>
                <a:ea typeface="Calibri" pitchFamily="34" charset="-122"/>
                <a:cs typeface="Calibri" pitchFamily="34" charset="-120"/>
              </a:rPr>
              <a:t>   license: valid</a:t>
            </a:r>
            <a:endParaRPr lang="en-US" sz="1300" dirty="0"/>
          </a:p>
        </p:txBody>
      </p:sp>
      <p:sp>
        <p:nvSpPr>
          <p:cNvPr id="20" name="s8_b"/>
          <p:cNvSpPr txBox="1"/>
          <p:nvPr/>
        </p:nvSpPr>
        <p:spPr>
          <a:xfrm>
            <a:off x="4754880" y="1600200"/>
            <a:ext cx="3840480" cy="15544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333333"/>
                </a:solidFill>
                <a:latin typeface="Calibri" pitchFamily="34" charset="0"/>
                <a:ea typeface="Calibri" pitchFamily="34" charset="-122"/>
                <a:cs typeface="Calibri" pitchFamily="34" charset="-120"/>
              </a:rPr>
              <a:t>A 30-person bus crash counts 30 times</a:t>
            </a:r>
            <a:endParaRPr lang="en-US" sz="1500" dirty="0"/>
          </a:p>
          <a:p>
            <a:pPr marL="342900" indent="-342900">
              <a:spcAft>
                <a:spcPts val="1000"/>
              </a:spcAft>
              <a:buSzPct val="100000"/>
              <a:buChar char="•"/>
            </a:pPr>
            <a:r>
              <a:rPr lang="en-US" sz="1500" dirty="0">
                <a:solidFill>
                  <a:srgbClr val="333333"/>
                </a:solidFill>
                <a:latin typeface="Calibri" pitchFamily="34" charset="0"/>
                <a:ea typeface="Calibri" pitchFamily="34" charset="-122"/>
                <a:cs typeface="Calibri" pitchFamily="34" charset="-120"/>
              </a:rPr>
              <a:t>Rows of one crash can land in both train and test</a:t>
            </a:r>
            <a:endParaRPr lang="en-US" sz="1500" dirty="0"/>
          </a:p>
          <a:p>
            <a:pPr marL="342900" indent="-342900">
              <a:spcAft>
                <a:spcPts val="1000"/>
              </a:spcAft>
              <a:buSzPct val="100000"/>
              <a:buChar char="•"/>
            </a:pPr>
            <a:r>
              <a:rPr lang="en-US" sz="1500" dirty="0">
                <a:solidFill>
                  <a:srgbClr val="333333"/>
                </a:solidFill>
                <a:latin typeface="Calibri" pitchFamily="34" charset="0"/>
                <a:ea typeface="Calibri" pitchFamily="34" charset="-122"/>
                <a:cs typeface="Calibri" pitchFamily="34" charset="-120"/>
              </a:rPr>
              <a:t>Result: inflated, unfair scores</a:t>
            </a:r>
            <a:endParaRPr lang="en-US" sz="1500" dirty="0"/>
          </a:p>
        </p:txBody>
      </p:sp>
      <p:sp>
        <p:nvSpPr>
          <p:cNvPr id="21" name="s8_note"/>
          <p:cNvSpPr txBox="1"/>
          <p:nvPr/>
        </p:nvSpPr>
        <p:spPr>
          <a:xfrm>
            <a:off x="4754880" y="3291840"/>
            <a:ext cx="3840480" cy="365760"/>
          </a:xfrm>
          <a:prstGeom prst="rect">
            <a:avLst/>
          </a:prstGeom>
          <a:noFill/>
          <a:ln/>
        </p:spPr>
        <p:txBody>
          <a:bodyPr wrap="square" lIns="0" tIns="0" rIns="0" bIns="0" rtlCol="0" anchor="t"/>
          <a:lstStyle/>
          <a:p>
            <a:pPr marL="0" indent="0">
              <a:buNone/>
            </a:pPr>
            <a:r>
              <a:rPr lang="en-US" sz="1400" b="1" dirty="0">
                <a:solidFill>
                  <a:srgbClr val="C75B39"/>
                </a:solidFill>
                <a:latin typeface="Calibri" pitchFamily="34" charset="0"/>
                <a:ea typeface="Calibri" pitchFamily="34" charset="-122"/>
                <a:cs typeface="Calibri" pitchFamily="34" charset="-120"/>
              </a:rPr>
              <a:t>131,404 rows, but only 20,000 crashes</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25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0-#ppt_w/2"/>
                                          </p:val>
                                        </p:tav>
                                        <p:tav tm="100000">
                                          <p:val>
                                            <p:strVal val="#ppt_x"/>
                                          </p:val>
                                        </p:tav>
                                      </p:tavLst>
                                    </p:anim>
                                    <p:anim calcmode="lin" valueType="num">
                                      <p:cBhvr additive="base">
                                        <p:cTn id="12" dur="500" fill="hold"/>
                                        <p:tgtEl>
                                          <p:spTgt spid="1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0-#ppt_w/2"/>
                                          </p:val>
                                        </p:tav>
                                        <p:tav tm="100000">
                                          <p:val>
                                            <p:strVal val="#ppt_x"/>
                                          </p:val>
                                        </p:tav>
                                      </p:tavLst>
                                    </p:anim>
                                    <p:anim calcmode="lin" valueType="num">
                                      <p:cBhvr additive="base">
                                        <p:cTn id="16" dur="500" fill="hold"/>
                                        <p:tgtEl>
                                          <p:spTgt spid="18"/>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75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0-#ppt_w/2"/>
                                          </p:val>
                                        </p:tav>
                                        <p:tav tm="100000">
                                          <p:val>
                                            <p:strVal val="#ppt_x"/>
                                          </p:val>
                                        </p:tav>
                                      </p:tavLst>
                                    </p:anim>
                                    <p:anim calcmode="lin" valueType="num">
                                      <p:cBhvr additive="base">
                                        <p:cTn id="20" dur="500" fill="hold"/>
                                        <p:tgtEl>
                                          <p:spTgt spid="19"/>
                                        </p:tgtEl>
                                        <p:attrNameLst>
                                          <p:attrName>ppt_y</p:attrName>
                                        </p:attrNameLst>
                                      </p:cBhvr>
                                      <p:tavLst>
                                        <p:tav tm="0">
                                          <p:val>
                                            <p:strVal val="#ppt_y"/>
                                          </p:val>
                                        </p:tav>
                                        <p:tav tm="100000">
                                          <p:val>
                                            <p:strVal val="#ppt_y"/>
                                          </p:val>
                                        </p:tav>
                                      </p:tavLst>
                                    </p:anim>
                                  </p:childTnLst>
                                </p:cTn>
                              </p:par>
                              <p:par>
                                <p:cTn id="21" presetID="10" presetClass="entr" presetSubtype="0" fill="hold" nodeType="withEffect">
                                  <p:stCondLst>
                                    <p:cond delay="110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nodeType="withEffect">
                                  <p:stCondLst>
                                    <p:cond delay="150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Step 3 · One crash, one row</a:t>
            </a:r>
            <a:endParaRPr lang="en-US" sz="2600" dirty="0"/>
          </a:p>
        </p:txBody>
      </p:sp>
      <p:sp>
        <p:nvSpPr>
          <p:cNvPr id="5" name="!!track"/>
          <p:cNvSpPr/>
          <p:nvPr/>
        </p:nvSpPr>
        <p:spPr>
          <a:xfrm>
            <a:off x="914400" y="4572000"/>
            <a:ext cx="7315200" cy="0"/>
          </a:xfrm>
          <a:prstGeom prst="line">
            <a:avLst/>
          </a:prstGeom>
          <a:noFill/>
          <a:ln w="19050">
            <a:solidFill>
              <a:srgbClr val="B9C4D0"/>
            </a:solidFill>
            <a:prstDash val="solid"/>
          </a:ln>
        </p:spPr>
      </p:sp>
      <p:sp>
        <p:nvSpPr>
          <p:cNvPr id="6" name="!!n1"/>
          <p:cNvSpPr txBox="1"/>
          <p:nvPr/>
        </p:nvSpPr>
        <p:spPr>
          <a:xfrm>
            <a:off x="7680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 name="!!n2"/>
          <p:cNvSpPr txBox="1"/>
          <p:nvPr/>
        </p:nvSpPr>
        <p:spPr>
          <a:xfrm>
            <a:off x="16824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 name="!!n3"/>
          <p:cNvSpPr txBox="1"/>
          <p:nvPr/>
        </p:nvSpPr>
        <p:spPr>
          <a:xfrm>
            <a:off x="2596896" y="4425696"/>
            <a:ext cx="292608" cy="292608"/>
          </a:xfrm>
          <a:prstGeom prst="ellipse">
            <a:avLst/>
          </a:prstGeom>
          <a:solidFill>
            <a:srgbClr val="C75B39"/>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9" name="!!n4"/>
          <p:cNvSpPr txBox="1"/>
          <p:nvPr/>
        </p:nvSpPr>
        <p:spPr>
          <a:xfrm>
            <a:off x="35112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0" name="!!n5"/>
          <p:cNvSpPr txBox="1"/>
          <p:nvPr/>
        </p:nvSpPr>
        <p:spPr>
          <a:xfrm>
            <a:off x="44256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1" name="!!n6"/>
          <p:cNvSpPr txBox="1"/>
          <p:nvPr/>
        </p:nvSpPr>
        <p:spPr>
          <a:xfrm>
            <a:off x="53400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 name="!!n7"/>
          <p:cNvSpPr txBox="1"/>
          <p:nvPr/>
        </p:nvSpPr>
        <p:spPr>
          <a:xfrm>
            <a:off x="62544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3" name="!!n8"/>
          <p:cNvSpPr txBox="1"/>
          <p:nvPr/>
        </p:nvSpPr>
        <p:spPr>
          <a:xfrm>
            <a:off x="71688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4" name="!!n9"/>
          <p:cNvSpPr txBox="1"/>
          <p:nvPr/>
        </p:nvSpPr>
        <p:spPr>
          <a:xfrm>
            <a:off x="80832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15" name="s8_cap"/>
          <p:cNvSpPr txBox="1"/>
          <p:nvPr/>
        </p:nvSpPr>
        <p:spPr>
          <a:xfrm>
            <a:off x="731520" y="1188720"/>
            <a:ext cx="3657600" cy="274320"/>
          </a:xfrm>
          <a:prstGeom prst="rect">
            <a:avLst/>
          </a:prstGeom>
          <a:noFill/>
          <a:ln/>
        </p:spPr>
        <p:txBody>
          <a:bodyPr wrap="square" lIns="0" tIns="0" rIns="0" bIns="0" rtlCol="0" anchor="t"/>
          <a:lstStyle/>
          <a:p>
            <a:pPr marL="0" indent="0">
              <a:buNone/>
            </a:pPr>
            <a:r>
              <a:rPr lang="en-US" sz="1300" b="1" dirty="0">
                <a:solidFill>
                  <a:srgbClr val="2E8B8B"/>
                </a:solidFill>
                <a:latin typeface="Calibri" pitchFamily="34" charset="0"/>
                <a:ea typeface="Calibri" pitchFamily="34" charset="-122"/>
                <a:cs typeface="Calibri" pitchFamily="34" charset="-120"/>
              </a:rPr>
              <a:t>After: one row per crash</a:t>
            </a:r>
            <a:endParaRPr lang="en-US" sz="1300" dirty="0"/>
          </a:p>
        </p:txBody>
      </p:sp>
      <p:sp>
        <p:nvSpPr>
          <p:cNvPr id="16" name="!!p1"/>
          <p:cNvSpPr txBox="1"/>
          <p:nvPr/>
        </p:nvSpPr>
        <p:spPr>
          <a:xfrm>
            <a:off x="731520" y="1645920"/>
            <a:ext cx="3474720" cy="1371600"/>
          </a:xfrm>
          <a:prstGeom prst="roundRect">
            <a:avLst>
              <a:gd name="adj" fmla="val 5333"/>
            </a:avLst>
          </a:prstGeom>
          <a:solidFill>
            <a:srgbClr val="E6ECF3"/>
          </a:solidFill>
          <a:ln w="12700">
            <a:solidFill>
              <a:srgbClr val="1B3A5F"/>
            </a:solidFill>
          </a:ln>
        </p:spPr>
        <p:txBody>
          <a:bodyPr wrap="square" lIns="635" tIns="635" rIns="635" bIns="635" rtlCol="0" anchor="ctr"/>
          <a:lstStyle/>
          <a:p>
            <a:pPr marL="0" indent="0" algn="ctr">
              <a:buNone/>
            </a:pPr>
            <a:endParaRPr lang="en-US" sz="1200" dirty="0"/>
          </a:p>
        </p:txBody>
      </p:sp>
      <p:sp>
        <p:nvSpPr>
          <p:cNvPr id="17" name="!!p2"/>
          <p:cNvSpPr txBox="1"/>
          <p:nvPr/>
        </p:nvSpPr>
        <p:spPr>
          <a:xfrm>
            <a:off x="758952" y="1673352"/>
            <a:ext cx="3474720" cy="1371600"/>
          </a:xfrm>
          <a:prstGeom prst="roundRect">
            <a:avLst>
              <a:gd name="adj" fmla="val 5333"/>
            </a:avLst>
          </a:prstGeom>
          <a:solidFill>
            <a:srgbClr val="E6ECF3"/>
          </a:solidFill>
          <a:ln w="12700">
            <a:solidFill>
              <a:srgbClr val="1B3A5F"/>
            </a:solidFill>
          </a:ln>
        </p:spPr>
        <p:txBody>
          <a:bodyPr wrap="square" lIns="635" tIns="635" rIns="635" bIns="635" rtlCol="0" anchor="ctr"/>
          <a:lstStyle/>
          <a:p>
            <a:pPr marL="0" indent="0" algn="ctr">
              <a:buNone/>
            </a:pPr>
            <a:endParaRPr lang="en-US" sz="1200" dirty="0"/>
          </a:p>
        </p:txBody>
      </p:sp>
      <p:sp>
        <p:nvSpPr>
          <p:cNvPr id="18" name="!!p3"/>
          <p:cNvSpPr txBox="1"/>
          <p:nvPr/>
        </p:nvSpPr>
        <p:spPr>
          <a:xfrm>
            <a:off x="786384" y="1700784"/>
            <a:ext cx="3474720" cy="1371600"/>
          </a:xfrm>
          <a:prstGeom prst="roundRect">
            <a:avLst>
              <a:gd name="adj" fmla="val 5333"/>
            </a:avLst>
          </a:prstGeom>
          <a:solidFill>
            <a:srgbClr val="E6ECF3"/>
          </a:solidFill>
          <a:ln w="12700">
            <a:solidFill>
              <a:srgbClr val="1B3A5F"/>
            </a:solidFill>
          </a:ln>
        </p:spPr>
        <p:txBody>
          <a:bodyPr wrap="square" lIns="635" tIns="635" rIns="635" bIns="635" rtlCol="0" anchor="ctr"/>
          <a:lstStyle/>
          <a:p>
            <a:pPr marL="0" indent="0" algn="ctr">
              <a:buNone/>
            </a:pPr>
            <a:endParaRPr lang="en-US" sz="1200" dirty="0"/>
          </a:p>
        </p:txBody>
      </p:sp>
      <p:sp>
        <p:nvSpPr>
          <p:cNvPr id="19" name="!!p4"/>
          <p:cNvSpPr txBox="1"/>
          <p:nvPr/>
        </p:nvSpPr>
        <p:spPr>
          <a:xfrm>
            <a:off x="813816" y="1728216"/>
            <a:ext cx="3474720" cy="1371600"/>
          </a:xfrm>
          <a:prstGeom prst="roundRect">
            <a:avLst>
              <a:gd name="adj" fmla="val 5333"/>
            </a:avLst>
          </a:prstGeom>
          <a:solidFill>
            <a:srgbClr val="E3F1F1"/>
          </a:solidFill>
          <a:ln w="12700">
            <a:solidFill>
              <a:srgbClr val="2E8B8B"/>
            </a:solidFill>
          </a:ln>
        </p:spPr>
        <p:txBody>
          <a:bodyPr wrap="square" lIns="635" tIns="635" rIns="635" bIns="635" rtlCol="0" anchor="ctr"/>
          <a:lstStyle/>
          <a:p>
            <a:pPr marL="0" indent="0" algn="ctr">
              <a:buNone/>
            </a:pPr>
            <a:endParaRPr lang="en-US" sz="1200" dirty="0"/>
          </a:p>
        </p:txBody>
      </p:sp>
      <p:sp>
        <p:nvSpPr>
          <p:cNvPr id="20" name="s9_crash"/>
          <p:cNvSpPr txBox="1"/>
          <p:nvPr/>
        </p:nvSpPr>
        <p:spPr>
          <a:xfrm>
            <a:off x="914400" y="1920240"/>
            <a:ext cx="3200400" cy="822960"/>
          </a:xfrm>
          <a:prstGeom prst="rect">
            <a:avLst/>
          </a:prstGeom>
          <a:noFill/>
          <a:ln/>
        </p:spPr>
        <p:txBody>
          <a:bodyPr wrap="square" lIns="0" tIns="0" rIns="0" bIns="0" rtlCol="0" anchor="ctr"/>
          <a:lstStyle/>
          <a:p>
            <a:pPr marL="0" indent="0">
              <a:buNone/>
            </a:pPr>
            <a:r>
              <a:rPr lang="en-US" sz="1500" b="1" dirty="0">
                <a:solidFill>
                  <a:srgbClr val="1B3A5F"/>
                </a:solidFill>
                <a:latin typeface="Calibri" pitchFamily="34" charset="0"/>
                <a:ea typeface="Calibri" pitchFamily="34" charset="-122"/>
                <a:cs typeface="Calibri" pitchFamily="34" charset="-120"/>
              </a:rPr>
              <a:t>crash_ref_id = 0  ·  Pune</a:t>
            </a:r>
            <a:endParaRPr lang="en-US" sz="1400" dirty="0"/>
          </a:p>
          <a:p>
            <a:pPr marL="0" indent="0">
              <a:buNone/>
            </a:pPr>
            <a:r>
              <a:rPr lang="en-US" sz="1250" dirty="0">
                <a:solidFill>
                  <a:srgbClr val="333333"/>
                </a:solidFill>
                <a:latin typeface="Calibri" pitchFamily="34" charset="0"/>
                <a:ea typeface="Calibri" pitchFamily="34" charset="-122"/>
                <a:cs typeface="Calibri" pitchFamily="34" charset="-120"/>
              </a:rPr>
              <a:t>4 occupants summarised into 1 row</a:t>
            </a:r>
            <a:endParaRPr lang="en-US" sz="1400" dirty="0"/>
          </a:p>
        </p:txBody>
      </p:sp>
      <p:graphicFrame>
        <p:nvGraphicFramePr>
          <p:cNvPr id="2" name="s9_table"/>
          <p:cNvGraphicFramePr>
            <a:graphicFrameLocks noGrp="1"/>
          </p:cNvGraphicFramePr>
          <p:nvPr>
            <p:extLst>
              <p:ext uri="{D42A27DB-BD31-4B8C-83A1-F6EECF244321}">
                <p14:modId xmlns:p14="http://schemas.microsoft.com/office/powerpoint/2010/main" val="1579011935"/>
              </p:ext>
            </p:extLst>
          </p:nvPr>
        </p:nvGraphicFramePr>
        <p:xfrm>
          <a:off x="4754880" y="1554480"/>
          <a:ext cx="3840480" cy="1975104"/>
        </p:xfrm>
        <a:graphic>
          <a:graphicData uri="http://schemas.openxmlformats.org/drawingml/2006/table">
            <a:tbl>
              <a:tblPr/>
              <a:tblGrid>
                <a:gridCol w="24688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29184">
                <a:tc>
                  <a:txBody>
                    <a:bodyPr/>
                    <a:lstStyle/>
                    <a:p>
                      <a:pPr marL="0" indent="0" algn="ctr">
                        <a:buNone/>
                      </a:pPr>
                      <a:r>
                        <a:rPr lang="en-US" sz="1100" b="1" dirty="0">
                          <a:solidFill>
                            <a:srgbClr val="FFFFFF"/>
                          </a:solidFill>
                        </a:rPr>
                        <a:t>Crash-level feature</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2E8B8B"/>
                    </a:solidFill>
                  </a:tcPr>
                </a:tc>
                <a:tc>
                  <a:txBody>
                    <a:bodyPr/>
                    <a:lstStyle/>
                    <a:p>
                      <a:pPr marL="0" indent="0" algn="ctr">
                        <a:buNone/>
                      </a:pPr>
                      <a:r>
                        <a:rPr lang="en-US" sz="1100" b="1" dirty="0">
                          <a:solidFill>
                            <a:srgbClr val="FFFFFF"/>
                          </a:solidFill>
                        </a:rPr>
                        <a:t>Value</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2E8B8B"/>
                    </a:solidFill>
                  </a:tcPr>
                </a:tc>
                <a:extLst>
                  <a:ext uri="{0D108BD9-81ED-4DB2-BD59-A6C34878D82A}">
                    <a16:rowId xmlns:a16="http://schemas.microsoft.com/office/drawing/2014/main" val="10000"/>
                  </a:ext>
                </a:extLst>
              </a:tr>
              <a:tr h="329184">
                <a:tc>
                  <a:txBody>
                    <a:bodyPr/>
                    <a:lstStyle/>
                    <a:p>
                      <a:pPr marL="0" indent="0">
                        <a:buNone/>
                      </a:pPr>
                      <a:r>
                        <a:rPr lang="en-US" sz="1100" dirty="0">
                          <a:solidFill>
                            <a:srgbClr val="333333"/>
                          </a:solidFill>
                        </a:rPr>
                        <a:t>occupant_record_count</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C75B39"/>
                          </a:solidFill>
                        </a:rPr>
                        <a:t>4</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100" dirty="0">
                          <a:solidFill>
                            <a:srgbClr val="333333"/>
                          </a:solidFill>
                        </a:rPr>
                        <a:t>valid_license_ratio</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b="1" dirty="0">
                          <a:solidFill>
                            <a:srgbClr val="C75B39"/>
                          </a:solidFill>
                        </a:rPr>
                        <a:t>0.50</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2"/>
                  </a:ext>
                </a:extLst>
              </a:tr>
              <a:tr h="329184">
                <a:tc>
                  <a:txBody>
                    <a:bodyPr/>
                    <a:lstStyle/>
                    <a:p>
                      <a:pPr marL="0" indent="0">
                        <a:buNone/>
                      </a:pPr>
                      <a:r>
                        <a:rPr lang="en-US" sz="1100" dirty="0">
                          <a:solidFill>
                            <a:srgbClr val="333333"/>
                          </a:solidFill>
                        </a:rPr>
                        <a:t>male / female ratio</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C75B39"/>
                          </a:solidFill>
                        </a:rPr>
                        <a:t>0.50 / 0.50</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100" dirty="0">
                          <a:solidFill>
                            <a:srgbClr val="333333"/>
                          </a:solidFill>
                        </a:rPr>
                        <a:t>rider / pillion ratio</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b="1" dirty="0">
                          <a:solidFill>
                            <a:srgbClr val="C75B39"/>
                          </a:solidFill>
                        </a:rPr>
                        <a:t>0.75 / 0.25</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4"/>
                  </a:ext>
                </a:extLst>
              </a:tr>
              <a:tr h="329184">
                <a:tc>
                  <a:txBody>
                    <a:bodyPr/>
                    <a:lstStyle/>
                    <a:p>
                      <a:pPr marL="0" indent="0">
                        <a:buNone/>
                      </a:pPr>
                      <a:r>
                        <a:rPr lang="en-US" sz="1100" dirty="0">
                          <a:solidFill>
                            <a:srgbClr val="333333"/>
                          </a:solidFill>
                        </a:rPr>
                        <a:t>safety_noncompliance_rate</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C75B39"/>
                          </a:solidFill>
                        </a:rPr>
                        <a:t>0.50</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2" name="s9_note"/>
          <p:cNvSpPr txBox="1"/>
          <p:nvPr/>
        </p:nvSpPr>
        <p:spPr>
          <a:xfrm>
            <a:off x="4754880" y="3657600"/>
            <a:ext cx="3840480" cy="365760"/>
          </a:xfrm>
          <a:prstGeom prst="rect">
            <a:avLst/>
          </a:prstGeom>
          <a:noFill/>
          <a:ln/>
        </p:spPr>
        <p:txBody>
          <a:bodyPr wrap="square" lIns="0" tIns="0" rIns="0" bIns="0" rtlCol="0" anchor="t"/>
          <a:lstStyle/>
          <a:p>
            <a:pPr marL="0" indent="0">
              <a:buNone/>
            </a:pPr>
            <a:r>
              <a:rPr lang="en-US" sz="1300" b="1" dirty="0">
                <a:solidFill>
                  <a:srgbClr val="C75B39"/>
                </a:solidFill>
                <a:latin typeface="Calibri" pitchFamily="34" charset="0"/>
                <a:ea typeface="Calibri" pitchFamily="34" charset="-122"/>
                <a:cs typeface="Calibri" pitchFamily="34" charset="-120"/>
              </a:rPr>
              <a:t>131,404 rows → 20,000 crashes (6.6× smaller)</a:t>
            </a:r>
            <a:endParaRPr lang="en-US" sz="13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0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nodeType="withEffect">
                                  <p:stCondLst>
                                    <p:cond delay="60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nodeType="withEffect">
                                  <p:stCondLst>
                                    <p:cond delay="100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26" presetClass="emph" presetSubtype="0" fill="hold" nodeType="clickEffect">
                                  <p:stCondLst>
                                    <p:cond delay="0"/>
                                  </p:stCondLst>
                                  <p:childTnLst>
                                    <p:animEffect transition="out" filter="fade">
                                      <p:cBhvr>
                                        <p:cTn id="17" dur="600" tmFilter="0, 0; .2, .5; .8, .5; 1, 0"/>
                                        <p:tgtEl>
                                          <p:spTgt spid="22"/>
                                        </p:tgtEl>
                                      </p:cBhvr>
                                    </p:animEffect>
                                    <p:animScale>
                                      <p:cBhvr>
                                        <p:cTn id="18" dur="300" autoRev="1" fill="hold"/>
                                        <p:tgtEl>
                                          <p:spTgt spid="22"/>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Step 4 · No peeking: the leakage rule</a:t>
            </a:r>
            <a:endParaRPr lang="en-US" sz="2600" dirty="0"/>
          </a:p>
        </p:txBody>
      </p:sp>
      <p:sp>
        <p:nvSpPr>
          <p:cNvPr id="5" name="!!track"/>
          <p:cNvSpPr/>
          <p:nvPr/>
        </p:nvSpPr>
        <p:spPr>
          <a:xfrm>
            <a:off x="914400" y="4572000"/>
            <a:ext cx="7315200" cy="0"/>
          </a:xfrm>
          <a:prstGeom prst="line">
            <a:avLst/>
          </a:prstGeom>
          <a:noFill/>
          <a:ln w="19050">
            <a:solidFill>
              <a:srgbClr val="B9C4D0"/>
            </a:solidFill>
            <a:prstDash val="solid"/>
          </a:ln>
        </p:spPr>
      </p:sp>
      <p:sp>
        <p:nvSpPr>
          <p:cNvPr id="6" name="!!n1"/>
          <p:cNvSpPr txBox="1"/>
          <p:nvPr/>
        </p:nvSpPr>
        <p:spPr>
          <a:xfrm>
            <a:off x="7680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 name="!!n2"/>
          <p:cNvSpPr txBox="1"/>
          <p:nvPr/>
        </p:nvSpPr>
        <p:spPr>
          <a:xfrm>
            <a:off x="16824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 name="!!n3"/>
          <p:cNvSpPr txBox="1"/>
          <p:nvPr/>
        </p:nvSpPr>
        <p:spPr>
          <a:xfrm>
            <a:off x="25968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9" name="!!n4"/>
          <p:cNvSpPr txBox="1"/>
          <p:nvPr/>
        </p:nvSpPr>
        <p:spPr>
          <a:xfrm>
            <a:off x="3511296" y="4425696"/>
            <a:ext cx="292608" cy="292608"/>
          </a:xfrm>
          <a:prstGeom prst="ellipse">
            <a:avLst/>
          </a:prstGeom>
          <a:solidFill>
            <a:srgbClr val="C75B39"/>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0" name="!!n5"/>
          <p:cNvSpPr txBox="1"/>
          <p:nvPr/>
        </p:nvSpPr>
        <p:spPr>
          <a:xfrm>
            <a:off x="44256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1" name="!!n6"/>
          <p:cNvSpPr txBox="1"/>
          <p:nvPr/>
        </p:nvSpPr>
        <p:spPr>
          <a:xfrm>
            <a:off x="53400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 name="!!n7"/>
          <p:cNvSpPr txBox="1"/>
          <p:nvPr/>
        </p:nvSpPr>
        <p:spPr>
          <a:xfrm>
            <a:off x="62544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3" name="!!n8"/>
          <p:cNvSpPr txBox="1"/>
          <p:nvPr/>
        </p:nvSpPr>
        <p:spPr>
          <a:xfrm>
            <a:off x="71688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4" name="!!n9"/>
          <p:cNvSpPr txBox="1"/>
          <p:nvPr/>
        </p:nvSpPr>
        <p:spPr>
          <a:xfrm>
            <a:off x="80832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15" name="s10_l1"/>
          <p:cNvSpPr txBox="1"/>
          <p:nvPr/>
        </p:nvSpPr>
        <p:spPr>
          <a:xfrm>
            <a:off x="731520" y="1115568"/>
            <a:ext cx="2743200" cy="256032"/>
          </a:xfrm>
          <a:prstGeom prst="rect">
            <a:avLst/>
          </a:prstGeom>
          <a:noFill/>
          <a:ln/>
        </p:spPr>
        <p:txBody>
          <a:bodyPr wrap="square" lIns="0" tIns="0" rIns="0" bIns="0" rtlCol="0" anchor="t"/>
          <a:lstStyle/>
          <a:p>
            <a:pPr marL="0" indent="0">
              <a:buNone/>
            </a:pPr>
            <a:r>
              <a:rPr lang="en-US" sz="1250" b="1" dirty="0">
                <a:solidFill>
                  <a:srgbClr val="1B3A5F"/>
                </a:solidFill>
                <a:latin typeface="Calibri" pitchFamily="34" charset="0"/>
                <a:ea typeface="Calibri" pitchFamily="34" charset="-122"/>
                <a:cs typeface="Calibri" pitchFamily="34" charset="-120"/>
              </a:rPr>
              <a:t>50 raw columns</a:t>
            </a:r>
            <a:endParaRPr lang="en-US" sz="1250" dirty="0"/>
          </a:p>
        </p:txBody>
      </p:sp>
      <p:sp>
        <p:nvSpPr>
          <p:cNvPr id="16" name="s10_seg1"/>
          <p:cNvSpPr txBox="1"/>
          <p:nvPr/>
        </p:nvSpPr>
        <p:spPr>
          <a:xfrm>
            <a:off x="731520" y="1417320"/>
            <a:ext cx="614477" cy="457200"/>
          </a:xfrm>
          <a:prstGeom prst="rect">
            <a:avLst/>
          </a:prstGeom>
          <a:solidFill>
            <a:srgbClr val="8A98A8"/>
          </a:solidFill>
          <a:ln w="19050">
            <a:solidFill>
              <a:srgbClr val="FFFFFF"/>
            </a:solidFill>
          </a:ln>
        </p:spPr>
        <p:txBody>
          <a:bodyPr wrap="square" lIns="0" tIns="0" rIns="0" bIns="0" rtlCol="0" anchor="ctr"/>
          <a:lstStyle/>
          <a:p>
            <a:pPr marL="0" indent="0" algn="ctr">
              <a:buNone/>
            </a:pPr>
            <a:endParaRPr lang="en-US" sz="1100" dirty="0"/>
          </a:p>
        </p:txBody>
      </p:sp>
      <p:sp>
        <p:nvSpPr>
          <p:cNvPr id="17" name="s10_seg2"/>
          <p:cNvSpPr txBox="1"/>
          <p:nvPr/>
        </p:nvSpPr>
        <p:spPr>
          <a:xfrm>
            <a:off x="1345997" y="1417320"/>
            <a:ext cx="1382573" cy="457200"/>
          </a:xfrm>
          <a:prstGeom prst="rect">
            <a:avLst/>
          </a:prstGeom>
          <a:solidFill>
            <a:srgbClr val="C75B39"/>
          </a:solidFill>
          <a:ln w="19050">
            <a:solidFill>
              <a:srgbClr val="FFFFFF"/>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Outcomes · 9</a:t>
            </a:r>
            <a:endParaRPr lang="en-US" sz="1100" dirty="0"/>
          </a:p>
        </p:txBody>
      </p:sp>
      <p:sp>
        <p:nvSpPr>
          <p:cNvPr id="18" name="s10_seg3"/>
          <p:cNvSpPr txBox="1"/>
          <p:nvPr/>
        </p:nvSpPr>
        <p:spPr>
          <a:xfrm>
            <a:off x="2728570" y="1417320"/>
            <a:ext cx="153619" cy="457200"/>
          </a:xfrm>
          <a:prstGeom prst="rect">
            <a:avLst/>
          </a:prstGeom>
          <a:solidFill>
            <a:srgbClr val="E0A08F"/>
          </a:solidFill>
          <a:ln w="19050">
            <a:solidFill>
              <a:srgbClr val="FFFFFF"/>
            </a:solidFill>
          </a:ln>
        </p:spPr>
        <p:txBody>
          <a:bodyPr wrap="square" lIns="0" tIns="0" rIns="0" bIns="0" rtlCol="0" anchor="ctr"/>
          <a:lstStyle/>
          <a:p>
            <a:pPr marL="0" indent="0" algn="ctr">
              <a:buNone/>
            </a:pPr>
            <a:endParaRPr lang="en-US" sz="1100" dirty="0"/>
          </a:p>
        </p:txBody>
      </p:sp>
      <p:sp>
        <p:nvSpPr>
          <p:cNvPr id="19" name="s10_seg4"/>
          <p:cNvSpPr txBox="1"/>
          <p:nvPr/>
        </p:nvSpPr>
        <p:spPr>
          <a:xfrm>
            <a:off x="2882189" y="1417320"/>
            <a:ext cx="153619" cy="457200"/>
          </a:xfrm>
          <a:prstGeom prst="rect">
            <a:avLst/>
          </a:prstGeom>
          <a:solidFill>
            <a:srgbClr val="1B3A5F"/>
          </a:solidFill>
          <a:ln w="19050">
            <a:solidFill>
              <a:srgbClr val="FFFFFF"/>
            </a:solidFill>
          </a:ln>
        </p:spPr>
        <p:txBody>
          <a:bodyPr wrap="square" lIns="0" tIns="0" rIns="0" bIns="0" rtlCol="0" anchor="ctr"/>
          <a:lstStyle/>
          <a:p>
            <a:pPr marL="0" indent="0" algn="ctr">
              <a:buNone/>
            </a:pPr>
            <a:endParaRPr lang="en-US" sz="1100" dirty="0"/>
          </a:p>
        </p:txBody>
      </p:sp>
      <p:sp>
        <p:nvSpPr>
          <p:cNvPr id="20" name="s10_seg5"/>
          <p:cNvSpPr txBox="1"/>
          <p:nvPr/>
        </p:nvSpPr>
        <p:spPr>
          <a:xfrm>
            <a:off x="3035808" y="1417320"/>
            <a:ext cx="4301338" cy="457200"/>
          </a:xfrm>
          <a:prstGeom prst="rect">
            <a:avLst/>
          </a:prstGeom>
          <a:solidFill>
            <a:srgbClr val="2E8B8B"/>
          </a:solidFill>
          <a:ln w="19050">
            <a:solidFill>
              <a:srgbClr val="FFFFFF"/>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Crash context · 28</a:t>
            </a:r>
            <a:endParaRPr lang="en-US" sz="1100" dirty="0"/>
          </a:p>
        </p:txBody>
      </p:sp>
      <p:sp>
        <p:nvSpPr>
          <p:cNvPr id="21" name="s10_seg6"/>
          <p:cNvSpPr txBox="1"/>
          <p:nvPr/>
        </p:nvSpPr>
        <p:spPr>
          <a:xfrm>
            <a:off x="7337146" y="1417320"/>
            <a:ext cx="1075334" cy="457200"/>
          </a:xfrm>
          <a:prstGeom prst="rect">
            <a:avLst/>
          </a:prstGeom>
          <a:solidFill>
            <a:srgbClr val="5C7FA6"/>
          </a:solidFill>
          <a:ln w="19050">
            <a:solidFill>
              <a:srgbClr val="FFFFFF"/>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Occupant · 7</a:t>
            </a:r>
            <a:endParaRPr lang="en-US" sz="1100" dirty="0"/>
          </a:p>
        </p:txBody>
      </p:sp>
      <p:sp>
        <p:nvSpPr>
          <p:cNvPr id="22" name="s10_l2"/>
          <p:cNvSpPr txBox="1"/>
          <p:nvPr/>
        </p:nvSpPr>
        <p:spPr>
          <a:xfrm>
            <a:off x="731520" y="2011680"/>
            <a:ext cx="2743200" cy="256032"/>
          </a:xfrm>
          <a:prstGeom prst="rect">
            <a:avLst/>
          </a:prstGeom>
          <a:noFill/>
          <a:ln/>
        </p:spPr>
        <p:txBody>
          <a:bodyPr wrap="square" lIns="0" tIns="0" rIns="0" bIns="0" rtlCol="0" anchor="t"/>
          <a:lstStyle/>
          <a:p>
            <a:pPr marL="0" indent="0">
              <a:buNone/>
            </a:pPr>
            <a:r>
              <a:rPr lang="en-US" sz="1250" b="1" dirty="0">
                <a:solidFill>
                  <a:srgbClr val="1B3A5F"/>
                </a:solidFill>
                <a:latin typeface="Calibri" pitchFamily="34" charset="0"/>
                <a:ea typeface="Calibri" pitchFamily="34" charset="-122"/>
                <a:cs typeface="Calibri" pitchFamily="34" charset="-120"/>
              </a:rPr>
              <a:t>49 model features</a:t>
            </a:r>
            <a:endParaRPr lang="en-US" sz="1250" dirty="0"/>
          </a:p>
        </p:txBody>
      </p:sp>
      <p:sp>
        <p:nvSpPr>
          <p:cNvPr id="23" name="s10_b1"/>
          <p:cNvSpPr txBox="1"/>
          <p:nvPr/>
        </p:nvSpPr>
        <p:spPr>
          <a:xfrm>
            <a:off x="731520" y="2286000"/>
            <a:ext cx="4389120" cy="457200"/>
          </a:xfrm>
          <a:prstGeom prst="rect">
            <a:avLst/>
          </a:prstGeom>
          <a:solidFill>
            <a:srgbClr val="2E8B8B"/>
          </a:solidFill>
          <a:ln w="19050">
            <a:solidFill>
              <a:srgbClr val="FFFFFF"/>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Context · 28</a:t>
            </a:r>
            <a:endParaRPr lang="en-US" sz="1100" dirty="0"/>
          </a:p>
        </p:txBody>
      </p:sp>
      <p:sp>
        <p:nvSpPr>
          <p:cNvPr id="24" name="s10_b2"/>
          <p:cNvSpPr txBox="1"/>
          <p:nvPr/>
        </p:nvSpPr>
        <p:spPr>
          <a:xfrm>
            <a:off x="5120640" y="2286000"/>
            <a:ext cx="2821577" cy="457200"/>
          </a:xfrm>
          <a:prstGeom prst="rect">
            <a:avLst/>
          </a:prstGeom>
          <a:solidFill>
            <a:srgbClr val="5C7FA6"/>
          </a:solidFill>
          <a:ln w="19050">
            <a:solidFill>
              <a:srgbClr val="FFFFFF"/>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Occupant summaries · 18</a:t>
            </a:r>
            <a:endParaRPr lang="en-US" sz="1100" dirty="0"/>
          </a:p>
        </p:txBody>
      </p:sp>
      <p:sp>
        <p:nvSpPr>
          <p:cNvPr id="25" name="s10_b3"/>
          <p:cNvSpPr txBox="1"/>
          <p:nvPr/>
        </p:nvSpPr>
        <p:spPr>
          <a:xfrm>
            <a:off x="7942217" y="2286000"/>
            <a:ext cx="156754" cy="457200"/>
          </a:xfrm>
          <a:prstGeom prst="rect">
            <a:avLst/>
          </a:prstGeom>
          <a:solidFill>
            <a:srgbClr val="8A98A8"/>
          </a:solidFill>
          <a:ln w="19050">
            <a:solidFill>
              <a:srgbClr val="FFFFFF"/>
            </a:solidFill>
          </a:ln>
        </p:spPr>
        <p:txBody>
          <a:bodyPr wrap="square" lIns="0" tIns="0" rIns="0" bIns="0" rtlCol="0" anchor="ctr"/>
          <a:lstStyle/>
          <a:p>
            <a:pPr marL="0" indent="0" algn="ctr">
              <a:buNone/>
            </a:pPr>
            <a:endParaRPr lang="en-US" sz="1100" dirty="0"/>
          </a:p>
        </p:txBody>
      </p:sp>
      <p:sp>
        <p:nvSpPr>
          <p:cNvPr id="26" name="s10_b4"/>
          <p:cNvSpPr txBox="1"/>
          <p:nvPr/>
        </p:nvSpPr>
        <p:spPr>
          <a:xfrm>
            <a:off x="8098971" y="2286000"/>
            <a:ext cx="313509" cy="457200"/>
          </a:xfrm>
          <a:prstGeom prst="rect">
            <a:avLst/>
          </a:prstGeom>
          <a:solidFill>
            <a:srgbClr val="C75B39"/>
          </a:solidFill>
          <a:ln w="19050">
            <a:solidFill>
              <a:srgbClr val="FFFFFF"/>
            </a:solidFill>
          </a:ln>
        </p:spPr>
        <p:txBody>
          <a:bodyPr wrap="square" lIns="0" tIns="0" rIns="0" bIns="0" rtlCol="0" anchor="ctr"/>
          <a:lstStyle/>
          <a:p>
            <a:pPr marL="0" indent="0" algn="ctr">
              <a:buNone/>
            </a:pPr>
            <a:endParaRPr lang="en-US" sz="1100" dirty="0"/>
          </a:p>
        </p:txBody>
      </p:sp>
      <p:sp>
        <p:nvSpPr>
          <p:cNvPr id="27" name="s10_cap"/>
          <p:cNvSpPr txBox="1"/>
          <p:nvPr/>
        </p:nvSpPr>
        <p:spPr>
          <a:xfrm>
            <a:off x="731520" y="2788920"/>
            <a:ext cx="7680960" cy="228600"/>
          </a:xfrm>
          <a:prstGeom prst="rect">
            <a:avLst/>
          </a:prstGeom>
          <a:noFill/>
          <a:ln/>
        </p:spPr>
        <p:txBody>
          <a:bodyPr wrap="square" lIns="0" tIns="0" rIns="0" bIns="0" rtlCol="0" anchor="t"/>
          <a:lstStyle/>
          <a:p>
            <a:pPr marL="0" indent="0">
              <a:buNone/>
            </a:pPr>
            <a:r>
              <a:rPr lang="en-US" sz="1050" i="1" dirty="0">
                <a:solidFill>
                  <a:srgbClr val="6B7785"/>
                </a:solidFill>
                <a:latin typeface="Calibri" pitchFamily="34" charset="0"/>
                <a:ea typeface="Calibri" pitchFamily="34" charset="-122"/>
                <a:cs typeface="Calibri" pitchFamily="34" charset="-120"/>
              </a:rPr>
              <a:t>+1 count, +2 engineered  →  37 numeric and 12 categorical inputs</a:t>
            </a:r>
            <a:endParaRPr lang="en-US" sz="1050" dirty="0"/>
          </a:p>
        </p:txBody>
      </p:sp>
      <p:graphicFrame>
        <p:nvGraphicFramePr>
          <p:cNvPr id="2" name="s10_table"/>
          <p:cNvGraphicFramePr>
            <a:graphicFrameLocks noGrp="1"/>
          </p:cNvGraphicFramePr>
          <p:nvPr>
            <p:extLst>
              <p:ext uri="{D42A27DB-BD31-4B8C-83A1-F6EECF244321}">
                <p14:modId xmlns:p14="http://schemas.microsoft.com/office/powerpoint/2010/main" val="1579011935"/>
              </p:ext>
            </p:extLst>
          </p:nvPr>
        </p:nvGraphicFramePr>
        <p:xfrm>
          <a:off x="731520" y="3108960"/>
          <a:ext cx="7680960" cy="1124712"/>
        </p:xfrm>
        <a:graphic>
          <a:graphicData uri="http://schemas.openxmlformats.org/drawingml/2006/table">
            <a:tbl>
              <a:tblPr/>
              <a:tblGrid>
                <a:gridCol w="17373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256032">
                <a:tc>
                  <a:txBody>
                    <a:bodyPr/>
                    <a:lstStyle/>
                    <a:p>
                      <a:pPr marL="0" indent="0" algn="ctr">
                        <a:buNone/>
                      </a:pPr>
                      <a:r>
                        <a:rPr lang="en-US" sz="1050" b="1" dirty="0">
                          <a:solidFill>
                            <a:srgbClr val="FFFFFF"/>
                          </a:solidFill>
                        </a:rPr>
                        <a:t>Excluded</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Columns</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Why</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extLst>
                  <a:ext uri="{0D108BD9-81ED-4DB2-BD59-A6C34878D82A}">
                    <a16:rowId xmlns:a16="http://schemas.microsoft.com/office/drawing/2014/main" val="10000"/>
                  </a:ext>
                </a:extLst>
              </a:tr>
              <a:tr h="256032">
                <a:tc>
                  <a:txBody>
                    <a:bodyPr/>
                    <a:lstStyle/>
                    <a:p>
                      <a:pPr marL="0" indent="0">
                        <a:buNone/>
                      </a:pPr>
                      <a:r>
                        <a:rPr lang="en-US" sz="1050" b="1" dirty="0">
                          <a:solidFill>
                            <a:srgbClr val="333333"/>
                          </a:solidFill>
                        </a:rPr>
                        <a:t>Identifiers (4)</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050" dirty="0">
                          <a:solidFill>
                            <a:srgbClr val="333333"/>
                          </a:solidFill>
                        </a:rPr>
                        <a:t>record_id, occupant_unique_id, crash_ref_id, occupant_seq_no</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050" dirty="0">
                          <a:solidFill>
                            <a:srgbClr val="333333"/>
                          </a:solidFill>
                        </a:rPr>
                        <a:t>No generalizable signal</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050" b="1" dirty="0">
                          <a:solidFill>
                            <a:srgbClr val="333333"/>
                          </a:solidFill>
                        </a:rPr>
                        <a:t>Post-crash outcomes (9)</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buNone/>
                      </a:pPr>
                      <a:r>
                        <a:rPr lang="en-US" sz="1050" dirty="0">
                          <a:solidFill>
                            <a:srgbClr val="333333"/>
                          </a:solidFill>
                        </a:rPr>
                        <a:t>survived, injury_outcome, hospitalized_flag, total_casualties_reported …</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buNone/>
                      </a:pPr>
                      <a:r>
                        <a:rPr lang="en-US" sz="1050" dirty="0">
                          <a:solidFill>
                            <a:srgbClr val="333333"/>
                          </a:solidFill>
                        </a:rPr>
                        <a:t>Consequences of severity</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2"/>
                  </a:ext>
                </a:extLst>
              </a:tr>
              <a:tr h="256032">
                <a:tc>
                  <a:txBody>
                    <a:bodyPr/>
                    <a:lstStyle/>
                    <a:p>
                      <a:pPr marL="0" indent="0">
                        <a:buNone/>
                      </a:pPr>
                      <a:r>
                        <a:rPr lang="en-US" sz="1050" b="1" dirty="0">
                          <a:solidFill>
                            <a:srgbClr val="333333"/>
                          </a:solidFill>
                        </a:rPr>
                        <a:t>Risk score (1)</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050" dirty="0">
                          <a:solidFill>
                            <a:srgbClr val="333333"/>
                          </a:solidFill>
                        </a:rPr>
                        <a:t>computed_risk_score</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050" dirty="0">
                          <a:solidFill>
                            <a:srgbClr val="333333"/>
                          </a:solidFill>
                        </a:rPr>
                        <a:t>Formula unknown</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8"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par>
                                <p:cTn id="8" presetID="10" presetClass="entr" presetSubtype="0" fill="hold" nodeType="withEffect">
                                  <p:stCondLst>
                                    <p:cond delay="20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40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nodeType="withEffect">
                                  <p:stCondLst>
                                    <p:cond delay="60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400"/>
                                        <p:tgtEl>
                                          <p:spTgt spid="19"/>
                                        </p:tgtEl>
                                      </p:cBhvr>
                                    </p:animEffect>
                                  </p:childTnLst>
                                </p:cTn>
                              </p:par>
                              <p:par>
                                <p:cTn id="17" presetID="10" presetClass="entr" presetSubtype="0" fill="hold" nodeType="withEffect">
                                  <p:stCondLst>
                                    <p:cond delay="8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par>
                                <p:cTn id="20" presetID="10" presetClass="entr" presetSubtype="0" fill="hold" nodeType="withEffect">
                                  <p:stCondLst>
                                    <p:cond delay="100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par>
                                <p:cTn id="23" presetID="10" presetClass="entr" presetSubtype="0" fill="hold" nodeType="withEffect">
                                  <p:stCondLst>
                                    <p:cond delay="140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00"/>
                                        <p:tgtEl>
                                          <p:spTgt spid="23"/>
                                        </p:tgtEl>
                                      </p:cBhvr>
                                    </p:animEffect>
                                  </p:childTnLst>
                                </p:cTn>
                              </p:par>
                              <p:par>
                                <p:cTn id="26" presetID="10" presetClass="entr" presetSubtype="0" fill="hold" nodeType="withEffect">
                                  <p:stCondLst>
                                    <p:cond delay="160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400"/>
                                        <p:tgtEl>
                                          <p:spTgt spid="24"/>
                                        </p:tgtEl>
                                      </p:cBhvr>
                                    </p:animEffect>
                                  </p:childTnLst>
                                </p:cTn>
                              </p:par>
                              <p:par>
                                <p:cTn id="29" presetID="10" presetClass="entr" presetSubtype="0" fill="hold" nodeType="withEffect">
                                  <p:stCondLst>
                                    <p:cond delay="180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200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nodeType="withEffect">
                                  <p:stCondLst>
                                    <p:cond delay="24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6" presetClass="emph" presetSubtype="0" fill="hold" nodeType="clickEffect">
                                  <p:stCondLst>
                                    <p:cond delay="0"/>
                                  </p:stCondLst>
                                  <p:childTnLst>
                                    <p:animEffect transition="out" filter="fade">
                                      <p:cBhvr>
                                        <p:cTn id="41" dur="600" tmFilter="0, 0; .2, .5; .8, .5; 1, 0"/>
                                        <p:tgtEl>
                                          <p:spTgt spid="17"/>
                                        </p:tgtEl>
                                      </p:cBhvr>
                                    </p:animEffect>
                                    <p:animScale>
                                      <p:cBhvr>
                                        <p:cTn id="42" dur="300" autoRev="1" fill="hold"/>
                                        <p:tgtEl>
                                          <p:spTgt spid="17"/>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Steps 6–7 · Model architecture and tuning</a:t>
            </a:r>
            <a:endParaRPr lang="en-US" sz="2600" dirty="0"/>
          </a:p>
        </p:txBody>
      </p:sp>
      <p:sp>
        <p:nvSpPr>
          <p:cNvPr id="5" name="!!track"/>
          <p:cNvSpPr/>
          <p:nvPr/>
        </p:nvSpPr>
        <p:spPr>
          <a:xfrm>
            <a:off x="914400" y="4572000"/>
            <a:ext cx="7315200" cy="0"/>
          </a:xfrm>
          <a:prstGeom prst="line">
            <a:avLst/>
          </a:prstGeom>
          <a:noFill/>
          <a:ln w="19050">
            <a:solidFill>
              <a:srgbClr val="B9C4D0"/>
            </a:solidFill>
            <a:prstDash val="solid"/>
          </a:ln>
        </p:spPr>
      </p:sp>
      <p:sp>
        <p:nvSpPr>
          <p:cNvPr id="6" name="!!n1"/>
          <p:cNvSpPr txBox="1"/>
          <p:nvPr/>
        </p:nvSpPr>
        <p:spPr>
          <a:xfrm>
            <a:off x="7680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 name="!!n2"/>
          <p:cNvSpPr txBox="1"/>
          <p:nvPr/>
        </p:nvSpPr>
        <p:spPr>
          <a:xfrm>
            <a:off x="16824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 name="!!n3"/>
          <p:cNvSpPr txBox="1"/>
          <p:nvPr/>
        </p:nvSpPr>
        <p:spPr>
          <a:xfrm>
            <a:off x="25968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9" name="!!n4"/>
          <p:cNvSpPr txBox="1"/>
          <p:nvPr/>
        </p:nvSpPr>
        <p:spPr>
          <a:xfrm>
            <a:off x="35112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0" name="!!n5"/>
          <p:cNvSpPr txBox="1"/>
          <p:nvPr/>
        </p:nvSpPr>
        <p:spPr>
          <a:xfrm>
            <a:off x="44256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1" name="!!n6"/>
          <p:cNvSpPr txBox="1"/>
          <p:nvPr/>
        </p:nvSpPr>
        <p:spPr>
          <a:xfrm>
            <a:off x="5340096" y="4425696"/>
            <a:ext cx="292608" cy="292608"/>
          </a:xfrm>
          <a:prstGeom prst="ellipse">
            <a:avLst/>
          </a:prstGeom>
          <a:solidFill>
            <a:srgbClr val="1B3A5F"/>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 name="!!n7"/>
          <p:cNvSpPr txBox="1"/>
          <p:nvPr/>
        </p:nvSpPr>
        <p:spPr>
          <a:xfrm>
            <a:off x="6254496" y="4425696"/>
            <a:ext cx="292608" cy="292608"/>
          </a:xfrm>
          <a:prstGeom prst="ellipse">
            <a:avLst/>
          </a:prstGeom>
          <a:solidFill>
            <a:srgbClr val="C75B39"/>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3" name="!!n8"/>
          <p:cNvSpPr txBox="1"/>
          <p:nvPr/>
        </p:nvSpPr>
        <p:spPr>
          <a:xfrm>
            <a:off x="71688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4" name="!!n9"/>
          <p:cNvSpPr txBox="1"/>
          <p:nvPr/>
        </p:nvSpPr>
        <p:spPr>
          <a:xfrm>
            <a:off x="8083296" y="4425696"/>
            <a:ext cx="292608" cy="292608"/>
          </a:xfrm>
          <a:prstGeom prst="ellipse">
            <a:avLst/>
          </a:prstGeom>
          <a:solidFill>
            <a:srgbClr val="B9C4D0"/>
          </a:solidFill>
          <a:ln w="19050">
            <a:solidFill>
              <a:srgbClr val="FFFFFF"/>
            </a:solid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a:t>
            </a:r>
            <a:endParaRPr lang="en-US" sz="900" dirty="0"/>
          </a:p>
        </p:txBody>
      </p:sp>
      <p:sp>
        <p:nvSpPr>
          <p:cNvPr id="15" name="s11_in"/>
          <p:cNvSpPr txBox="1"/>
          <p:nvPr/>
        </p:nvSpPr>
        <p:spPr>
          <a:xfrm>
            <a:off x="548640" y="1325880"/>
            <a:ext cx="1371600" cy="1143000"/>
          </a:xfrm>
          <a:prstGeom prst="roundRect">
            <a:avLst>
              <a:gd name="adj" fmla="val 6400"/>
            </a:avLst>
          </a:prstGeom>
          <a:solidFill>
            <a:srgbClr val="E6ECF3"/>
          </a:solidFill>
          <a:ln w="12700">
            <a:solidFill>
              <a:srgbClr val="1B3A5F"/>
            </a:solidFill>
          </a:ln>
        </p:spPr>
        <p:txBody>
          <a:bodyPr wrap="square" lIns="635" tIns="635" rIns="635" bIns="635" rtlCol="0" anchor="ctr"/>
          <a:lstStyle/>
          <a:p>
            <a:pPr marL="0" indent="0" algn="ctr">
              <a:buNone/>
            </a:pPr>
            <a:r>
              <a:rPr lang="en-US" sz="1200" b="1" dirty="0">
                <a:solidFill>
                  <a:srgbClr val="1B3A5F"/>
                </a:solidFill>
                <a:latin typeface="Calibri" pitchFamily="34" charset="0"/>
                <a:ea typeface="Calibri" pitchFamily="34" charset="-122"/>
                <a:cs typeface="Calibri" pitchFamily="34" charset="-120"/>
              </a:rPr>
              <a:t>Crash-level features</a:t>
            </a:r>
            <a:endParaRPr lang="en-US" sz="1200" dirty="0"/>
          </a:p>
          <a:p>
            <a:pPr marL="0" indent="0" algn="ctr">
              <a:buNone/>
            </a:pPr>
            <a:r>
              <a:rPr lang="en-US" sz="1100" dirty="0">
                <a:solidFill>
                  <a:srgbClr val="333333"/>
                </a:solidFill>
                <a:latin typeface="Calibri" pitchFamily="34" charset="0"/>
                <a:ea typeface="Calibri" pitchFamily="34" charset="-122"/>
                <a:cs typeface="Calibri" pitchFamily="34" charset="-120"/>
              </a:rPr>
              <a:t>49 columns</a:t>
            </a:r>
            <a:endParaRPr lang="en-US" sz="1200" dirty="0"/>
          </a:p>
        </p:txBody>
      </p:sp>
      <p:sp>
        <p:nvSpPr>
          <p:cNvPr id="16" name="s11_ct"/>
          <p:cNvSpPr/>
          <p:nvPr/>
        </p:nvSpPr>
        <p:spPr>
          <a:xfrm>
            <a:off x="2331720" y="1188720"/>
            <a:ext cx="3246120" cy="1417320"/>
          </a:xfrm>
          <a:prstGeom prst="roundRect">
            <a:avLst>
              <a:gd name="adj" fmla="val 5161"/>
            </a:avLst>
          </a:prstGeom>
          <a:solidFill>
            <a:srgbClr val="F6F8FA"/>
          </a:solidFill>
          <a:ln w="9525">
            <a:solidFill>
              <a:srgbClr val="2E8B8B"/>
            </a:solidFill>
            <a:prstDash val="solid"/>
          </a:ln>
        </p:spPr>
      </p:sp>
      <p:sp>
        <p:nvSpPr>
          <p:cNvPr id="17" name="s11_ctl"/>
          <p:cNvSpPr txBox="1"/>
          <p:nvPr/>
        </p:nvSpPr>
        <p:spPr>
          <a:xfrm>
            <a:off x="2423160" y="1216152"/>
            <a:ext cx="3017520" cy="228600"/>
          </a:xfrm>
          <a:prstGeom prst="rect">
            <a:avLst/>
          </a:prstGeom>
          <a:noFill/>
          <a:ln/>
        </p:spPr>
        <p:txBody>
          <a:bodyPr wrap="square" lIns="0" tIns="0" rIns="0" bIns="0" rtlCol="0" anchor="t"/>
          <a:lstStyle/>
          <a:p>
            <a:pPr marL="0" indent="0">
              <a:buNone/>
            </a:pPr>
            <a:r>
              <a:rPr lang="en-US" sz="1050" b="1" dirty="0">
                <a:solidFill>
                  <a:srgbClr val="2E8B8B"/>
                </a:solidFill>
                <a:latin typeface="Calibri" pitchFamily="34" charset="0"/>
                <a:ea typeface="Calibri" pitchFamily="34" charset="-122"/>
                <a:cs typeface="Calibri" pitchFamily="34" charset="-120"/>
              </a:rPr>
              <a:t>ColumnTransformer</a:t>
            </a:r>
            <a:endParaRPr lang="en-US" sz="1050" dirty="0"/>
          </a:p>
        </p:txBody>
      </p:sp>
      <p:sp>
        <p:nvSpPr>
          <p:cNvPr id="18" name="s11_num"/>
          <p:cNvSpPr txBox="1"/>
          <p:nvPr/>
        </p:nvSpPr>
        <p:spPr>
          <a:xfrm>
            <a:off x="2468880" y="1481328"/>
            <a:ext cx="2971800" cy="457200"/>
          </a:xfrm>
          <a:prstGeom prst="roundRect">
            <a:avLst>
              <a:gd name="adj" fmla="val 16000"/>
            </a:avLst>
          </a:prstGeom>
          <a:solidFill>
            <a:srgbClr val="E6ECF3"/>
          </a:solidFill>
          <a:ln w="12700">
            <a:solidFill>
              <a:srgbClr val="1B3A5F"/>
            </a:solidFill>
          </a:ln>
        </p:spPr>
        <p:txBody>
          <a:bodyPr wrap="square" lIns="635" tIns="635" rIns="635" bIns="635"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Numeric (37): median fill → scale (LR only)</a:t>
            </a:r>
            <a:endParaRPr lang="en-US" sz="1100" dirty="0"/>
          </a:p>
        </p:txBody>
      </p:sp>
      <p:sp>
        <p:nvSpPr>
          <p:cNvPr id="19" name="s11_cat"/>
          <p:cNvSpPr txBox="1"/>
          <p:nvPr/>
        </p:nvSpPr>
        <p:spPr>
          <a:xfrm>
            <a:off x="2468880" y="2011680"/>
            <a:ext cx="2971800" cy="457200"/>
          </a:xfrm>
          <a:prstGeom prst="roundRect">
            <a:avLst>
              <a:gd name="adj" fmla="val 16000"/>
            </a:avLst>
          </a:prstGeom>
          <a:solidFill>
            <a:srgbClr val="E3F1F1"/>
          </a:solidFill>
          <a:ln w="12700">
            <a:solidFill>
              <a:srgbClr val="2E8B8B"/>
            </a:solidFill>
          </a:ln>
        </p:spPr>
        <p:txBody>
          <a:bodyPr wrap="square" lIns="635" tIns="635" rIns="635" bIns="635" rtlCol="0" anchor="ctr"/>
          <a:lstStyle/>
          <a:p>
            <a:pPr marL="0" indent="0" algn="ctr">
              <a:buNone/>
            </a:pPr>
            <a:r>
              <a:rPr lang="en-US" sz="1100" dirty="0">
                <a:solidFill>
                  <a:srgbClr val="333333"/>
                </a:solidFill>
                <a:latin typeface="Calibri" pitchFamily="34" charset="0"/>
                <a:ea typeface="Calibri" pitchFamily="34" charset="-122"/>
                <a:cs typeface="Calibri" pitchFamily="34" charset="-120"/>
              </a:rPr>
              <a:t>Categorical (12): mode fill → one-hot</a:t>
            </a:r>
            <a:endParaRPr lang="en-US" sz="1100" dirty="0"/>
          </a:p>
        </p:txBody>
      </p:sp>
      <p:sp>
        <p:nvSpPr>
          <p:cNvPr id="20" name="s11_est"/>
          <p:cNvSpPr txBox="1"/>
          <p:nvPr/>
        </p:nvSpPr>
        <p:spPr>
          <a:xfrm>
            <a:off x="5989320" y="1325880"/>
            <a:ext cx="1280160" cy="1143000"/>
          </a:xfrm>
          <a:prstGeom prst="roundRect">
            <a:avLst>
              <a:gd name="adj" fmla="val 6400"/>
            </a:avLst>
          </a:prstGeom>
          <a:solidFill>
            <a:srgbClr val="FBEAE4"/>
          </a:solidFill>
          <a:ln w="12700">
            <a:solidFill>
              <a:srgbClr val="C75B39"/>
            </a:solidFill>
          </a:ln>
        </p:spPr>
        <p:txBody>
          <a:bodyPr wrap="square" lIns="635" tIns="635" rIns="635" bIns="635" rtlCol="0" anchor="ctr"/>
          <a:lstStyle/>
          <a:p>
            <a:pPr marL="0" indent="0" algn="ctr">
              <a:buNone/>
            </a:pPr>
            <a:r>
              <a:rPr lang="en-US" sz="1200" b="1" dirty="0">
                <a:solidFill>
                  <a:srgbClr val="C75B39"/>
                </a:solidFill>
                <a:latin typeface="Calibri" pitchFamily="34" charset="0"/>
                <a:ea typeface="Calibri" pitchFamily="34" charset="-122"/>
                <a:cs typeface="Calibri" pitchFamily="34" charset="-120"/>
              </a:rPr>
              <a:t>Estimator</a:t>
            </a:r>
            <a:endParaRPr lang="en-US" sz="1200" dirty="0"/>
          </a:p>
          <a:p>
            <a:pPr marL="0" indent="0" algn="ctr">
              <a:buNone/>
            </a:pPr>
            <a:r>
              <a:rPr lang="en-US" sz="1000" dirty="0">
                <a:solidFill>
                  <a:srgbClr val="333333"/>
                </a:solidFill>
                <a:latin typeface="Calibri" pitchFamily="34" charset="0"/>
                <a:ea typeface="Calibri" pitchFamily="34" charset="-122"/>
                <a:cs typeface="Calibri" pitchFamily="34" charset="-120"/>
              </a:rPr>
              <a:t>LR · Tree · Forest · XGBoost</a:t>
            </a:r>
            <a:endParaRPr lang="en-US" sz="1200" dirty="0"/>
          </a:p>
        </p:txBody>
      </p:sp>
      <p:sp>
        <p:nvSpPr>
          <p:cNvPr id="21" name="s11_out"/>
          <p:cNvSpPr txBox="1"/>
          <p:nvPr/>
        </p:nvSpPr>
        <p:spPr>
          <a:xfrm>
            <a:off x="7589520" y="1325880"/>
            <a:ext cx="1005840" cy="1143000"/>
          </a:xfrm>
          <a:prstGeom prst="roundRect">
            <a:avLst>
              <a:gd name="adj" fmla="val 7273"/>
            </a:avLst>
          </a:prstGeom>
          <a:solidFill>
            <a:srgbClr val="1B3A5F"/>
          </a:solidFill>
          <a:ln w="12700">
            <a:solidFill>
              <a:srgbClr val="1B3A5F"/>
            </a:solidFill>
          </a:ln>
        </p:spPr>
        <p:txBody>
          <a:bodyPr wrap="square" lIns="635" tIns="635" rIns="635" bIns="635"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fatal</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major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minor</a:t>
            </a:r>
            <a:endParaRPr lang="en-US" sz="1200" dirty="0"/>
          </a:p>
        </p:txBody>
      </p:sp>
      <p:sp>
        <p:nvSpPr>
          <p:cNvPr id="22" name="s11_a1"/>
          <p:cNvSpPr/>
          <p:nvPr/>
        </p:nvSpPr>
        <p:spPr>
          <a:xfrm>
            <a:off x="1938528" y="1892808"/>
            <a:ext cx="365760" cy="0"/>
          </a:xfrm>
          <a:prstGeom prst="line">
            <a:avLst/>
          </a:prstGeom>
          <a:noFill/>
          <a:ln w="25400">
            <a:solidFill>
              <a:srgbClr val="6B7785"/>
            </a:solidFill>
            <a:prstDash val="solid"/>
            <a:tailEnd type="triangle"/>
          </a:ln>
        </p:spPr>
      </p:sp>
      <p:sp>
        <p:nvSpPr>
          <p:cNvPr id="23" name="s11_a2"/>
          <p:cNvSpPr/>
          <p:nvPr/>
        </p:nvSpPr>
        <p:spPr>
          <a:xfrm>
            <a:off x="5596128" y="1892808"/>
            <a:ext cx="365760" cy="0"/>
          </a:xfrm>
          <a:prstGeom prst="line">
            <a:avLst/>
          </a:prstGeom>
          <a:noFill/>
          <a:ln w="25400">
            <a:solidFill>
              <a:srgbClr val="6B7785"/>
            </a:solidFill>
            <a:prstDash val="solid"/>
            <a:tailEnd type="triangle"/>
          </a:ln>
        </p:spPr>
      </p:sp>
      <p:sp>
        <p:nvSpPr>
          <p:cNvPr id="24" name="s11_a3"/>
          <p:cNvSpPr/>
          <p:nvPr/>
        </p:nvSpPr>
        <p:spPr>
          <a:xfrm>
            <a:off x="7287768" y="1892808"/>
            <a:ext cx="274320" cy="0"/>
          </a:xfrm>
          <a:prstGeom prst="line">
            <a:avLst/>
          </a:prstGeom>
          <a:noFill/>
          <a:ln w="25400">
            <a:solidFill>
              <a:srgbClr val="6B7785"/>
            </a:solidFill>
            <a:prstDash val="solid"/>
            <a:tailEnd type="triangle"/>
          </a:ln>
        </p:spPr>
      </p:sp>
      <p:graphicFrame>
        <p:nvGraphicFramePr>
          <p:cNvPr id="2" name="s11_table"/>
          <p:cNvGraphicFramePr>
            <a:graphicFrameLocks noGrp="1"/>
          </p:cNvGraphicFramePr>
          <p:nvPr>
            <p:extLst>
              <p:ext uri="{D42A27DB-BD31-4B8C-83A1-F6EECF244321}">
                <p14:modId xmlns:p14="http://schemas.microsoft.com/office/powerpoint/2010/main" val="1579011935"/>
              </p:ext>
            </p:extLst>
          </p:nvPr>
        </p:nvGraphicFramePr>
        <p:xfrm>
          <a:off x="548640" y="2724912"/>
          <a:ext cx="8046720" cy="1280160"/>
        </p:xfrm>
        <a:graphic>
          <a:graphicData uri="http://schemas.openxmlformats.org/drawingml/2006/table">
            <a:tbl>
              <a:tblPr/>
              <a:tblGrid>
                <a:gridCol w="21945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56032">
                <a:tc>
                  <a:txBody>
                    <a:bodyPr/>
                    <a:lstStyle/>
                    <a:p>
                      <a:pPr marL="0" indent="0" algn="ctr">
                        <a:buNone/>
                      </a:pPr>
                      <a:r>
                        <a:rPr lang="en-US" sz="1050" b="1" dirty="0">
                          <a:solidFill>
                            <a:srgbClr val="FFFFFF"/>
                          </a:solidFill>
                        </a:rPr>
                        <a:t>Model</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Best setting found</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CV macro-F1</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extLst>
                  <a:ext uri="{0D108BD9-81ED-4DB2-BD59-A6C34878D82A}">
                    <a16:rowId xmlns:a16="http://schemas.microsoft.com/office/drawing/2014/main" val="10000"/>
                  </a:ext>
                </a:extLst>
              </a:tr>
              <a:tr h="256032">
                <a:tc>
                  <a:txBody>
                    <a:bodyPr/>
                    <a:lstStyle/>
                    <a:p>
                      <a:pPr marL="0" indent="0" algn="l">
                        <a:buNone/>
                      </a:pPr>
                      <a:r>
                        <a:rPr lang="en-US" sz="1050" b="1" dirty="0">
                          <a:solidFill>
                            <a:srgbClr val="333333"/>
                          </a:solidFill>
                        </a:rPr>
                        <a:t>Logistic regression</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rPr>
                        <a:t>C = 10</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33333"/>
                          </a:solidFill>
                        </a:rPr>
                        <a:t>0.9298</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lgn="l">
                        <a:buNone/>
                      </a:pPr>
                      <a:r>
                        <a:rPr lang="en-US" sz="1050" b="1" dirty="0">
                          <a:solidFill>
                            <a:srgbClr val="333333"/>
                          </a:solidFill>
                        </a:rPr>
                        <a:t>Decision tree</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l">
                        <a:buNone/>
                      </a:pPr>
                      <a:r>
                        <a:rPr lang="en-US" sz="1050" dirty="0">
                          <a:solidFill>
                            <a:srgbClr val="333333"/>
                          </a:solidFill>
                        </a:rPr>
                        <a:t>depth 3, leaf ≥ 5</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050" dirty="0">
                          <a:solidFill>
                            <a:srgbClr val="333333"/>
                          </a:solidFill>
                        </a:rPr>
                        <a:t>0.9288</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2"/>
                  </a:ext>
                </a:extLst>
              </a:tr>
              <a:tr h="256032">
                <a:tc>
                  <a:txBody>
                    <a:bodyPr/>
                    <a:lstStyle/>
                    <a:p>
                      <a:pPr marL="0" indent="0" algn="l">
                        <a:buNone/>
                      </a:pPr>
                      <a:r>
                        <a:rPr lang="en-US" sz="1050" b="1" dirty="0">
                          <a:solidFill>
                            <a:srgbClr val="333333"/>
                          </a:solidFill>
                        </a:rPr>
                        <a:t>Random forest</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33333"/>
                          </a:solidFill>
                        </a:rPr>
                        <a:t>150 trees, depth 20</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333333"/>
                          </a:solidFill>
                        </a:rPr>
                        <a:t>0.9315</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56032">
                <a:tc>
                  <a:txBody>
                    <a:bodyPr/>
                    <a:lstStyle/>
                    <a:p>
                      <a:pPr marL="0" indent="0" algn="l">
                        <a:buNone/>
                      </a:pPr>
                      <a:r>
                        <a:rPr lang="en-US" sz="1050" b="1" dirty="0">
                          <a:solidFill>
                            <a:srgbClr val="C75B39"/>
                          </a:solidFill>
                        </a:rPr>
                        <a:t>XGBoost</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BEAE4"/>
                    </a:solidFill>
                  </a:tcPr>
                </a:tc>
                <a:tc>
                  <a:txBody>
                    <a:bodyPr/>
                    <a:lstStyle/>
                    <a:p>
                      <a:pPr marL="0" indent="0" algn="l">
                        <a:buNone/>
                      </a:pPr>
                      <a:r>
                        <a:rPr lang="en-US" sz="1050" b="1" dirty="0">
                          <a:solidFill>
                            <a:srgbClr val="C75B39"/>
                          </a:solidFill>
                        </a:rPr>
                        <a:t>150 rounds, depth 5, rate 0.03</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BEAE4"/>
                    </a:solidFill>
                  </a:tcPr>
                </a:tc>
                <a:tc>
                  <a:txBody>
                    <a:bodyPr/>
                    <a:lstStyle/>
                    <a:p>
                      <a:pPr marL="0" indent="0" algn="ctr">
                        <a:buNone/>
                      </a:pPr>
                      <a:r>
                        <a:rPr lang="en-US" sz="1050" b="1" dirty="0">
                          <a:solidFill>
                            <a:srgbClr val="C75B39"/>
                          </a:solidFill>
                        </a:rPr>
                        <a:t>0.9352</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BEAE4"/>
                    </a:solidFill>
                  </a:tcPr>
                </a:tc>
                <a:extLst>
                  <a:ext uri="{0D108BD9-81ED-4DB2-BD59-A6C34878D82A}">
                    <a16:rowId xmlns:a16="http://schemas.microsoft.com/office/drawing/2014/main" val="10004"/>
                  </a:ext>
                </a:extLst>
              </a:tr>
            </a:tbl>
          </a:graphicData>
        </a:graphic>
      </p:graphicFrame>
      <p:sp>
        <p:nvSpPr>
          <p:cNvPr id="26" name="s11_note"/>
          <p:cNvSpPr txBox="1"/>
          <p:nvPr/>
        </p:nvSpPr>
        <p:spPr>
          <a:xfrm>
            <a:off x="548640" y="4114800"/>
            <a:ext cx="8046720" cy="228600"/>
          </a:xfrm>
          <a:prstGeom prst="rect">
            <a:avLst/>
          </a:prstGeom>
          <a:noFill/>
          <a:ln/>
        </p:spPr>
        <p:txBody>
          <a:bodyPr wrap="square" lIns="0" tIns="0" rIns="0" bIns="0" rtlCol="0" anchor="t"/>
          <a:lstStyle/>
          <a:p>
            <a:pPr marL="0" indent="0">
              <a:buNone/>
            </a:pPr>
            <a:r>
              <a:rPr lang="en-US" sz="1050" i="1" dirty="0">
                <a:solidFill>
                  <a:srgbClr val="6B7785"/>
                </a:solidFill>
                <a:latin typeface="Calibri" pitchFamily="34" charset="0"/>
                <a:ea typeface="Calibri" pitchFamily="34" charset="-122"/>
                <a:cs typeface="Calibri" pitchFamily="34" charset="-120"/>
              </a:rPr>
              <a:t>Randomized search · 5-fold stratified CV · scoring: macro-F1 · seed 42 · 175 fits in under 8 minutes</a:t>
            </a:r>
            <a:endParaRPr lang="en-US" sz="105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25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par>
                                <p:cTn id="11" presetID="10" presetClass="entr" presetSubtype="0" fill="hold" nodeType="withEffect">
                                  <p:stCondLst>
                                    <p:cond delay="5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00"/>
                                        <p:tgtEl>
                                          <p:spTgt spid="16"/>
                                        </p:tgtEl>
                                      </p:cBhvr>
                                    </p:animEffect>
                                  </p:childTnLst>
                                </p:cTn>
                              </p:par>
                              <p:par>
                                <p:cTn id="14" presetID="10" presetClass="entr" presetSubtype="0" fill="hold" nodeType="withEffect">
                                  <p:stCondLst>
                                    <p:cond delay="75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00"/>
                                        <p:tgtEl>
                                          <p:spTgt spid="17"/>
                                        </p:tgtEl>
                                      </p:cBhvr>
                                    </p:animEffect>
                                  </p:childTnLst>
                                </p:cTn>
                              </p:par>
                              <p:par>
                                <p:cTn id="17" presetID="10" presetClass="entr" presetSubtype="0" fill="hold" nodeType="withEffect">
                                  <p:stCondLst>
                                    <p:cond delay="100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00"/>
                                        <p:tgtEl>
                                          <p:spTgt spid="18"/>
                                        </p:tgtEl>
                                      </p:cBhvr>
                                    </p:animEffect>
                                  </p:childTnLst>
                                </p:cTn>
                              </p:par>
                              <p:par>
                                <p:cTn id="20" presetID="10" presetClass="entr" presetSubtype="0" fill="hold" nodeType="withEffect">
                                  <p:stCondLst>
                                    <p:cond delay="125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par>
                                <p:cTn id="23" presetID="10" presetClass="entr" presetSubtype="0" fill="hold" nodeType="withEffect">
                                  <p:stCondLst>
                                    <p:cond delay="150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00"/>
                                        <p:tgtEl>
                                          <p:spTgt spid="23"/>
                                        </p:tgtEl>
                                      </p:cBhvr>
                                    </p:animEffect>
                                  </p:childTnLst>
                                </p:cTn>
                              </p:par>
                              <p:par>
                                <p:cTn id="26" presetID="10" presetClass="entr" presetSubtype="0" fill="hold" nodeType="withEffect">
                                  <p:stCondLst>
                                    <p:cond delay="175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nodeType="withEffect">
                                  <p:stCondLst>
                                    <p:cond delay="200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225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par>
                                <p:cTn id="35" presetID="10" presetClass="entr" presetSubtype="0" fill="hold" nodeType="withEffect">
                                  <p:stCondLst>
                                    <p:cond delay="290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3100"/>
                                  </p:stCondLst>
                                  <p:childTnLst>
                                    <p:set>
                                      <p:cBhvr>
                                        <p:cTn id="39" dur="1" fill="hold">
                                          <p:stCondLst>
                                            <p:cond delay="0"/>
                                          </p:stCondLst>
                                        </p:cTn>
                                        <p:tgtEl>
                                          <p:spTgt spid="26"/>
                                        </p:tgtEl>
                                        <p:attrNameLst>
                                          <p:attrName>style.visibility</p:attrName>
                                        </p:attrNameLst>
                                      </p:cBhvr>
                                      <p:to>
                                        <p:strVal val="visible"/>
                                      </p:to>
                                    </p:set>
                                    <p:animEffect transition="in" filter="fade">
                                      <p:cBhvr>
                                        <p:cTn id="4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secnum"/>
          <p:cNvSpPr txBox="1"/>
          <p:nvPr/>
        </p:nvSpPr>
        <p:spPr>
          <a:xfrm>
            <a:off x="731520" y="1051560"/>
            <a:ext cx="1371600" cy="1371600"/>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03</a:t>
            </a:r>
            <a:endParaRPr lang="en-US" sz="4400" dirty="0"/>
          </a:p>
        </p:txBody>
      </p:sp>
      <p:sp>
        <p:nvSpPr>
          <p:cNvPr id="4" name="!!title"/>
          <p:cNvSpPr txBox="1"/>
          <p:nvPr/>
        </p:nvSpPr>
        <p:spPr>
          <a:xfrm>
            <a:off x="731520" y="2697480"/>
            <a:ext cx="7680960" cy="8686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Insights from the Data</a:t>
            </a:r>
            <a:endParaRPr lang="en-US" sz="4000" dirty="0"/>
          </a:p>
        </p:txBody>
      </p:sp>
      <p:sp>
        <p:nvSpPr>
          <p:cNvPr id="5" name="!!subtitle"/>
          <p:cNvSpPr txBox="1"/>
          <p:nvPr/>
        </p:nvSpPr>
        <p:spPr>
          <a:xfrm>
            <a:off x="731520" y="3611880"/>
            <a:ext cx="7498080" cy="640080"/>
          </a:xfrm>
          <a:prstGeom prst="rect">
            <a:avLst/>
          </a:prstGeom>
          <a:noFill/>
          <a:ln/>
        </p:spPr>
        <p:txBody>
          <a:bodyPr wrap="square" lIns="0" tIns="0" rIns="0" bIns="0" rtlCol="0" anchor="t"/>
          <a:lstStyle/>
          <a:p>
            <a:pPr marL="0" indent="0">
              <a:buNone/>
            </a:pPr>
            <a:r>
              <a:rPr lang="en-US" sz="1600" dirty="0">
                <a:solidFill>
                  <a:srgbClr val="B9C9DA"/>
                </a:solidFill>
                <a:latin typeface="Calibri" pitchFamily="34" charset="0"/>
                <a:ea typeface="Calibri" pitchFamily="34" charset="-122"/>
                <a:cs typeface="Calibri" pitchFamily="34" charset="-120"/>
              </a:rPr>
              <a:t>Class balance, time, speed, and how features relate</a:t>
            </a:r>
            <a:endParaRPr lang="en-US" sz="16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9FB4CC"/>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The severity mix: an imbalanced target</a:t>
            </a:r>
            <a:endParaRPr lang="en-US" sz="2600" dirty="0"/>
          </a:p>
        </p:txBody>
      </p:sp>
      <p:graphicFrame>
        <p:nvGraphicFramePr>
          <p:cNvPr id="5" name="s13_chart"/>
          <p:cNvGraphicFramePr/>
          <p:nvPr/>
        </p:nvGraphicFramePr>
        <p:xfrm>
          <a:off x="548640" y="1188720"/>
          <a:ext cx="4572000" cy="2926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s13_table"/>
          <p:cNvGraphicFramePr>
            <a:graphicFrameLocks noGrp="1"/>
          </p:cNvGraphicFramePr>
          <p:nvPr>
            <p:extLst>
              <p:ext uri="{D42A27DB-BD31-4B8C-83A1-F6EECF244321}">
                <p14:modId xmlns:p14="http://schemas.microsoft.com/office/powerpoint/2010/main" val="1579011935"/>
              </p:ext>
            </p:extLst>
          </p:nvPr>
        </p:nvGraphicFramePr>
        <p:xfrm>
          <a:off x="5440680" y="1280160"/>
          <a:ext cx="3154680" cy="1316736"/>
        </p:xfrm>
        <a:graphic>
          <a:graphicData uri="http://schemas.openxmlformats.org/drawingml/2006/table">
            <a:tbl>
              <a:tblPr/>
              <a:tblGrid>
                <a:gridCol w="10515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329184">
                <a:tc>
                  <a:txBody>
                    <a:bodyPr/>
                    <a:lstStyle/>
                    <a:p>
                      <a:pPr marL="0" indent="0" algn="ctr">
                        <a:buNone/>
                      </a:pPr>
                      <a:r>
                        <a:rPr lang="en-US" sz="1050" b="1" dirty="0">
                          <a:solidFill>
                            <a:srgbClr val="FFFFFF"/>
                          </a:solidFill>
                        </a:rPr>
                        <a:t>Split</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Fatal</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Major</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Minor</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extLst>
                  <a:ext uri="{0D108BD9-81ED-4DB2-BD59-A6C34878D82A}">
                    <a16:rowId xmlns:a16="http://schemas.microsoft.com/office/drawing/2014/main" val="10000"/>
                  </a:ext>
                </a:extLst>
              </a:tr>
              <a:tr h="329184">
                <a:tc>
                  <a:txBody>
                    <a:bodyPr/>
                    <a:lstStyle/>
                    <a:p>
                      <a:pPr marL="0" indent="0" algn="l">
                        <a:buNone/>
                      </a:pPr>
                      <a:r>
                        <a:rPr lang="en-US" sz="1100" b="1" dirty="0">
                          <a:solidFill>
                            <a:srgbClr val="333333"/>
                          </a:solidFill>
                        </a:rPr>
                        <a:t>Full data</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2,987</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5,988</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11,025</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100" b="1" dirty="0">
                          <a:solidFill>
                            <a:srgbClr val="333333"/>
                          </a:solidFill>
                        </a:rPr>
                        <a:t>Train (80%)</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2,390</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4,790</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8,820</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2"/>
                  </a:ext>
                </a:extLst>
              </a:tr>
              <a:tr h="329184">
                <a:tc>
                  <a:txBody>
                    <a:bodyPr/>
                    <a:lstStyle/>
                    <a:p>
                      <a:pPr marL="0" indent="0" algn="l">
                        <a:buNone/>
                      </a:pPr>
                      <a:r>
                        <a:rPr lang="en-US" sz="1100" b="1" dirty="0">
                          <a:solidFill>
                            <a:srgbClr val="333333"/>
                          </a:solidFill>
                        </a:rPr>
                        <a:t>Test (20%)</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597</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1,198</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2,205</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13_chip"/>
          <p:cNvSpPr/>
          <p:nvPr/>
        </p:nvSpPr>
        <p:spPr>
          <a:xfrm>
            <a:off x="5440680" y="2834640"/>
            <a:ext cx="3154680" cy="1005840"/>
          </a:xfrm>
          <a:prstGeom prst="roundRect">
            <a:avLst>
              <a:gd name="adj" fmla="val 7273"/>
            </a:avLst>
          </a:prstGeom>
          <a:solidFill>
            <a:srgbClr val="FBEAE4"/>
          </a:solidFill>
          <a:ln w="9525">
            <a:solidFill>
              <a:srgbClr val="C75B39"/>
            </a:solidFill>
            <a:prstDash val="solid"/>
          </a:ln>
        </p:spPr>
      </p:sp>
      <p:sp>
        <p:nvSpPr>
          <p:cNvPr id="8" name="s13_chipt"/>
          <p:cNvSpPr txBox="1"/>
          <p:nvPr/>
        </p:nvSpPr>
        <p:spPr>
          <a:xfrm>
            <a:off x="5577840" y="2862072"/>
            <a:ext cx="2926080" cy="960120"/>
          </a:xfrm>
          <a:prstGeom prst="rect">
            <a:avLst/>
          </a:prstGeom>
          <a:noFill/>
          <a:ln/>
        </p:spPr>
        <p:txBody>
          <a:bodyPr wrap="square" lIns="0" tIns="0" rIns="0" bIns="0" rtlCol="0" anchor="ctr"/>
          <a:lstStyle/>
          <a:p>
            <a:pPr marL="0" indent="0">
              <a:buNone/>
            </a:pPr>
            <a:r>
              <a:rPr lang="en-US" sz="3000" b="1" dirty="0">
                <a:solidFill>
                  <a:srgbClr val="C75B39"/>
                </a:solidFill>
                <a:latin typeface="Calibri" pitchFamily="34" charset="0"/>
                <a:ea typeface="Calibri" pitchFamily="34" charset="-122"/>
                <a:cs typeface="Calibri" pitchFamily="34" charset="-120"/>
              </a:rPr>
              <a:t>14.9%</a:t>
            </a:r>
            <a:endParaRPr lang="en-US" sz="1400" dirty="0"/>
          </a:p>
          <a:p>
            <a:pPr marL="0" indent="0">
              <a:buNone/>
            </a:pPr>
            <a:r>
              <a:rPr lang="en-US" sz="1150" dirty="0">
                <a:solidFill>
                  <a:srgbClr val="333333"/>
                </a:solidFill>
                <a:latin typeface="Calibri" pitchFamily="34" charset="0"/>
                <a:ea typeface="Calibri" pitchFamily="34" charset="-122"/>
                <a:cs typeface="Calibri" pitchFamily="34" charset="-120"/>
              </a:rPr>
              <a:t>of crashes are fatal: the rarest, most critical class</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fade">
                                      <p:cBhvr>
                                        <p:cTn id="7" dur="500"/>
                                        <p:tgtEl>
                                          <p:spTgt spid="5">
                                            <p:graphicEl>
                                              <a:chart seriesIdx="-3" categoryIdx="-3" bldStep="gridLegend"/>
                                            </p:graphicEl>
                                          </p:spTgt>
                                        </p:tgtEl>
                                      </p:cBhvr>
                                    </p:animEffect>
                                  </p:childTnLst>
                                </p:cTn>
                              </p:par>
                              <p:par>
                                <p:cTn id="8" presetID="10" presetClass="entr" presetSubtype="0" fill="hold" grpId="0" nodeType="withEffect">
                                  <p:stCondLst>
                                    <p:cond delay="400"/>
                                  </p:stCondLst>
                                  <p:childTnLst>
                                    <p:set>
                                      <p:cBhvr>
                                        <p:cTn id="9" dur="1" fill="hold">
                                          <p:stCondLst>
                                            <p:cond delay="0"/>
                                          </p:stCondLst>
                                        </p:cTn>
                                        <p:tgtEl>
                                          <p:spTgt spid="5">
                                            <p:graphicEl>
                                              <a:chart seriesIdx="-4" categoryIdx="0" bldStep="category"/>
                                            </p:graphicEl>
                                          </p:spTgt>
                                        </p:tgtEl>
                                        <p:attrNameLst>
                                          <p:attrName>style.visibility</p:attrName>
                                        </p:attrNameLst>
                                      </p:cBhvr>
                                      <p:to>
                                        <p:strVal val="visible"/>
                                      </p:to>
                                    </p:set>
                                    <p:animEffect transition="in" filter="fade">
                                      <p:cBhvr>
                                        <p:cTn id="10" dur="500"/>
                                        <p:tgtEl>
                                          <p:spTgt spid="5">
                                            <p:graphicEl>
                                              <a:chart seriesIdx="-4" categoryIdx="0" bldStep="category"/>
                                            </p:graphicEl>
                                          </p:spTgt>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5">
                                            <p:graphicEl>
                                              <a:chart seriesIdx="-4" categoryIdx="1" bldStep="category"/>
                                            </p:graphicEl>
                                          </p:spTgt>
                                        </p:tgtEl>
                                        <p:attrNameLst>
                                          <p:attrName>style.visibility</p:attrName>
                                        </p:attrNameLst>
                                      </p:cBhvr>
                                      <p:to>
                                        <p:strVal val="visible"/>
                                      </p:to>
                                    </p:set>
                                    <p:animEffect transition="in" filter="fade">
                                      <p:cBhvr>
                                        <p:cTn id="13" dur="500"/>
                                        <p:tgtEl>
                                          <p:spTgt spid="5">
                                            <p:graphicEl>
                                              <a:chart seriesIdx="-4" categoryIdx="1" bldStep="category"/>
                                            </p:graphicEl>
                                          </p:spTgt>
                                        </p:tgtEl>
                                      </p:cBhvr>
                                    </p:animEffect>
                                  </p:childTnLst>
                                </p:cTn>
                              </p:par>
                              <p:par>
                                <p:cTn id="14" presetID="10" presetClass="entr" presetSubtype="0" fill="hold" grpId="0" nodeType="withEffect">
                                  <p:stCondLst>
                                    <p:cond delay="1100"/>
                                  </p:stCondLst>
                                  <p:childTnLst>
                                    <p:set>
                                      <p:cBhvr>
                                        <p:cTn id="15" dur="1" fill="hold">
                                          <p:stCondLst>
                                            <p:cond delay="0"/>
                                          </p:stCondLst>
                                        </p:cTn>
                                        <p:tgtEl>
                                          <p:spTgt spid="5">
                                            <p:graphicEl>
                                              <a:chart seriesIdx="-4" categoryIdx="2" bldStep="category"/>
                                            </p:graphicEl>
                                          </p:spTgt>
                                        </p:tgtEl>
                                        <p:attrNameLst>
                                          <p:attrName>style.visibility</p:attrName>
                                        </p:attrNameLst>
                                      </p:cBhvr>
                                      <p:to>
                                        <p:strVal val="visible"/>
                                      </p:to>
                                    </p:set>
                                    <p:animEffect transition="in" filter="fade">
                                      <p:cBhvr>
                                        <p:cTn id="16" dur="500"/>
                                        <p:tgtEl>
                                          <p:spTgt spid="5">
                                            <p:graphicEl>
                                              <a:chart seriesIdx="-4" categoryIdx="2" bldStep="category"/>
                                            </p:graphicEl>
                                          </p:spTgt>
                                        </p:tgtEl>
                                      </p:cBhvr>
                                    </p:animEffect>
                                  </p:childTnLst>
                                </p:cTn>
                              </p:par>
                              <p:par>
                                <p:cTn id="17" presetID="10" presetClass="entr" presetSubtype="0" fill="hold" nodeType="withEffect">
                                  <p:stCondLst>
                                    <p:cond delay="12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53" presetClass="entr" presetSubtype="16" fill="hold" nodeType="withEffect">
                                  <p:stCondLst>
                                    <p:cond delay="150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ppt_w</p:attrName>
                                        </p:attrNameLst>
                                      </p:cBhvr>
                                      <p:tavLst>
                                        <p:tav tm="0">
                                          <p:val>
                                            <p:fltVal val="0"/>
                                          </p:val>
                                        </p:tav>
                                        <p:tav tm="100000">
                                          <p:val>
                                            <p:strVal val="#ppt_w"/>
                                          </p:val>
                                        </p:tav>
                                      </p:tavLst>
                                    </p:anim>
                                    <p:anim calcmode="lin" valueType="num">
                                      <p:cBhvr additive="base">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10" presetClass="entr" presetSubtype="0" fill="hold" nodeType="withEffect">
                                  <p:stCondLst>
                                    <p:cond delay="160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nodeType="clickEffect">
                                  <p:stCondLst>
                                    <p:cond delay="0"/>
                                  </p:stCondLst>
                                  <p:childTnLst>
                                    <p:animEffect transition="out" filter="fade">
                                      <p:cBhvr>
                                        <p:cTn id="31" dur="600" tmFilter="0, 0; .2, .5; .8, .5; 1, 0"/>
                                        <p:tgtEl>
                                          <p:spTgt spid="7"/>
                                        </p:tgtEl>
                                      </p:cBhvr>
                                    </p:animEffect>
                                    <p:animScale>
                                      <p:cBhvr>
                                        <p:cTn id="32" dur="300" autoRev="1" fill="hold"/>
                                        <p:tgtEl>
                                          <p:spTgt spid="7"/>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category"/>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What does not matter: the day of the week</a:t>
            </a:r>
            <a:endParaRPr lang="en-US" sz="2600" dirty="0"/>
          </a:p>
        </p:txBody>
      </p:sp>
      <p:graphicFrame>
        <p:nvGraphicFramePr>
          <p:cNvPr id="5" name="s14_chart"/>
          <p:cNvGraphicFramePr/>
          <p:nvPr/>
        </p:nvGraphicFramePr>
        <p:xfrm>
          <a:off x="548640" y="1188720"/>
          <a:ext cx="50292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14_k1"/>
          <p:cNvSpPr/>
          <p:nvPr/>
        </p:nvSpPr>
        <p:spPr>
          <a:xfrm>
            <a:off x="5852160" y="1188720"/>
            <a:ext cx="2743200" cy="868680"/>
          </a:xfrm>
          <a:prstGeom prst="roundRect">
            <a:avLst>
              <a:gd name="adj" fmla="val 8421"/>
            </a:avLst>
          </a:prstGeom>
          <a:solidFill>
            <a:srgbClr val="F6F8FA"/>
          </a:solidFill>
          <a:ln w="9525">
            <a:solidFill>
              <a:srgbClr val="D5DCE4"/>
            </a:solidFill>
            <a:prstDash val="solid"/>
          </a:ln>
        </p:spPr>
      </p:sp>
      <p:sp>
        <p:nvSpPr>
          <p:cNvPr id="7" name="s14_k1t"/>
          <p:cNvSpPr txBox="1"/>
          <p:nvPr/>
        </p:nvSpPr>
        <p:spPr>
          <a:xfrm>
            <a:off x="5989320" y="1188720"/>
            <a:ext cx="2514600" cy="868680"/>
          </a:xfrm>
          <a:prstGeom prst="rect">
            <a:avLst/>
          </a:prstGeom>
          <a:noFill/>
          <a:ln/>
        </p:spPr>
        <p:txBody>
          <a:bodyPr wrap="square" lIns="0" tIns="0" rIns="0" bIns="0" rtlCol="0" anchor="ctr"/>
          <a:lstStyle/>
          <a:p>
            <a:pPr marL="0" indent="0">
              <a:buNone/>
            </a:pPr>
            <a:r>
              <a:rPr lang="en-US" sz="1300" b="1" dirty="0">
                <a:solidFill>
                  <a:srgbClr val="2E8B8B"/>
                </a:solidFill>
                <a:latin typeface="Calibri" pitchFamily="34" charset="0"/>
                <a:ea typeface="Calibri" pitchFamily="34" charset="-122"/>
                <a:cs typeface="Calibri" pitchFamily="34" charset="-120"/>
              </a:rPr>
              <a:t>Hour of day</a:t>
            </a:r>
            <a:endParaRPr lang="en-US" sz="1400" dirty="0"/>
          </a:p>
          <a:p>
            <a:pPr marL="0" indent="0">
              <a:buNone/>
            </a:pPr>
            <a:r>
              <a:rPr lang="en-US" sz="1150" dirty="0">
                <a:solidFill>
                  <a:srgbClr val="333333"/>
                </a:solidFill>
                <a:latin typeface="Calibri" pitchFamily="34" charset="0"/>
                <a:ea typeface="Calibri" pitchFamily="34" charset="-122"/>
                <a:cs typeface="Calibri" pitchFamily="34" charset="-120"/>
              </a:rPr>
              <a:t>Flat curve: no rush-hour effect on severity</a:t>
            </a:r>
            <a:endParaRPr lang="en-US" sz="1400" dirty="0"/>
          </a:p>
        </p:txBody>
      </p:sp>
      <p:sp>
        <p:nvSpPr>
          <p:cNvPr id="8" name="s14_k2"/>
          <p:cNvSpPr/>
          <p:nvPr/>
        </p:nvSpPr>
        <p:spPr>
          <a:xfrm>
            <a:off x="5852160" y="2194560"/>
            <a:ext cx="2743200" cy="868680"/>
          </a:xfrm>
          <a:prstGeom prst="roundRect">
            <a:avLst>
              <a:gd name="adj" fmla="val 8421"/>
            </a:avLst>
          </a:prstGeom>
          <a:solidFill>
            <a:srgbClr val="F6F8FA"/>
          </a:solidFill>
          <a:ln w="9525">
            <a:solidFill>
              <a:srgbClr val="D5DCE4"/>
            </a:solidFill>
            <a:prstDash val="solid"/>
          </a:ln>
        </p:spPr>
      </p:sp>
      <p:sp>
        <p:nvSpPr>
          <p:cNvPr id="9" name="s14_k2t"/>
          <p:cNvSpPr txBox="1"/>
          <p:nvPr/>
        </p:nvSpPr>
        <p:spPr>
          <a:xfrm>
            <a:off x="5989320" y="2194560"/>
            <a:ext cx="2514600" cy="868680"/>
          </a:xfrm>
          <a:prstGeom prst="rect">
            <a:avLst/>
          </a:prstGeom>
          <a:noFill/>
          <a:ln/>
        </p:spPr>
        <p:txBody>
          <a:bodyPr wrap="square" lIns="0" tIns="0" rIns="0" bIns="0" rtlCol="0" anchor="ctr"/>
          <a:lstStyle/>
          <a:p>
            <a:pPr marL="0" indent="0">
              <a:buNone/>
            </a:pPr>
            <a:r>
              <a:rPr lang="en-US" sz="1300" b="1" dirty="0">
                <a:solidFill>
                  <a:srgbClr val="1B3A5F"/>
                </a:solidFill>
                <a:latin typeface="Calibri" pitchFamily="34" charset="0"/>
                <a:ea typeface="Calibri" pitchFamily="34" charset="-122"/>
                <a:cs typeface="Calibri" pitchFamily="34" charset="-120"/>
              </a:rPr>
              <a:t>Weekday test</a:t>
            </a:r>
            <a:endParaRPr lang="en-US" sz="1400" dirty="0"/>
          </a:p>
          <a:p>
            <a:pPr marL="0" indent="0">
              <a:buNone/>
            </a:pPr>
            <a:r>
              <a:rPr lang="en-US" sz="1150" dirty="0">
                <a:solidFill>
                  <a:srgbClr val="333333"/>
                </a:solidFill>
                <a:latin typeface="Calibri" pitchFamily="34" charset="0"/>
                <a:ea typeface="Calibri" pitchFamily="34" charset="-122"/>
                <a:cs typeface="Calibri" pitchFamily="34" charset="-120"/>
              </a:rPr>
              <a:t>χ²(12) = 8.15, p = 0.77: no link</a:t>
            </a:r>
            <a:endParaRPr lang="en-US" sz="1400" dirty="0"/>
          </a:p>
        </p:txBody>
      </p:sp>
      <p:sp>
        <p:nvSpPr>
          <p:cNvPr id="10" name="s14_k3"/>
          <p:cNvSpPr/>
          <p:nvPr/>
        </p:nvSpPr>
        <p:spPr>
          <a:xfrm>
            <a:off x="5852160" y="3200400"/>
            <a:ext cx="2743200" cy="868680"/>
          </a:xfrm>
          <a:prstGeom prst="roundRect">
            <a:avLst>
              <a:gd name="adj" fmla="val 8421"/>
            </a:avLst>
          </a:prstGeom>
          <a:solidFill>
            <a:srgbClr val="F6F8FA"/>
          </a:solidFill>
          <a:ln w="9525">
            <a:solidFill>
              <a:srgbClr val="D5DCE4"/>
            </a:solidFill>
            <a:prstDash val="solid"/>
          </a:ln>
        </p:spPr>
      </p:sp>
      <p:sp>
        <p:nvSpPr>
          <p:cNvPr id="11" name="s14_k3t"/>
          <p:cNvSpPr txBox="1"/>
          <p:nvPr/>
        </p:nvSpPr>
        <p:spPr>
          <a:xfrm>
            <a:off x="5989320" y="3200400"/>
            <a:ext cx="2514600" cy="868680"/>
          </a:xfrm>
          <a:prstGeom prst="rect">
            <a:avLst/>
          </a:prstGeom>
          <a:noFill/>
          <a:ln/>
        </p:spPr>
        <p:txBody>
          <a:bodyPr wrap="square" lIns="0" tIns="0" rIns="0" bIns="0" rtlCol="0" anchor="ctr"/>
          <a:lstStyle/>
          <a:p>
            <a:pPr marL="0" indent="0">
              <a:buNone/>
            </a:pPr>
            <a:r>
              <a:rPr lang="en-US" sz="1300" b="1" dirty="0">
                <a:solidFill>
                  <a:srgbClr val="C75B39"/>
                </a:solidFill>
                <a:latin typeface="Calibri" pitchFamily="34" charset="0"/>
                <a:ea typeface="Calibri" pitchFamily="34" charset="-122"/>
                <a:cs typeface="Calibri" pitchFamily="34" charset="-120"/>
              </a:rPr>
              <a:t>Monthly “trend”</a:t>
            </a:r>
            <a:endParaRPr lang="en-US" sz="1400" dirty="0"/>
          </a:p>
          <a:p>
            <a:pPr marL="0" indent="0">
              <a:buNone/>
            </a:pPr>
            <a:r>
              <a:rPr lang="en-US" sz="1150" dirty="0">
                <a:solidFill>
                  <a:srgbClr val="333333"/>
                </a:solidFill>
                <a:latin typeface="Calibri" pitchFamily="34" charset="0"/>
                <a:ea typeface="Calibri" pitchFamily="34" charset="-122"/>
                <a:cs typeface="Calibri" pitchFamily="34" charset="-120"/>
              </a:rPr>
              <a:t>An artifact: 2025 covers only part of a year</a:t>
            </a:r>
            <a:endParaRPr lang="en-US" sz="1400" dirty="0"/>
          </a:p>
        </p:txBody>
      </p:sp>
      <p:sp>
        <p:nvSpPr>
          <p:cNvPr id="12" name="s14_why_bg"/>
          <p:cNvSpPr/>
          <p:nvPr/>
        </p:nvSpPr>
        <p:spPr>
          <a:xfrm>
            <a:off x="548640" y="4251960"/>
            <a:ext cx="8046720" cy="329184"/>
          </a:xfrm>
          <a:prstGeom prst="roundRect">
            <a:avLst>
              <a:gd name="adj" fmla="val 22222"/>
            </a:avLst>
          </a:prstGeom>
          <a:solidFill>
            <a:srgbClr val="E3F1F1"/>
          </a:solidFill>
          <a:ln w="9525">
            <a:solidFill>
              <a:srgbClr val="E3F1F1"/>
            </a:solidFill>
            <a:prstDash val="solid"/>
          </a:ln>
        </p:spPr>
      </p:sp>
      <p:sp>
        <p:nvSpPr>
          <p:cNvPr id="13" name="s14_why"/>
          <p:cNvSpPr txBox="1"/>
          <p:nvPr/>
        </p:nvSpPr>
        <p:spPr>
          <a:xfrm>
            <a:off x="731520" y="4251960"/>
            <a:ext cx="7772400" cy="329184"/>
          </a:xfrm>
          <a:prstGeom prst="rect">
            <a:avLst/>
          </a:prstGeom>
          <a:noFill/>
          <a:ln/>
        </p:spPr>
        <p:txBody>
          <a:bodyPr wrap="square" lIns="0" tIns="0" rIns="0" bIns="0" rtlCol="0" anchor="ctr"/>
          <a:lstStyle/>
          <a:p>
            <a:pPr marL="0" indent="0">
              <a:buNone/>
            </a:pPr>
            <a:r>
              <a:rPr lang="en-US" sz="1000" b="1" kern="0" spc="200" dirty="0">
                <a:solidFill>
                  <a:srgbClr val="2E8B8B"/>
                </a:solidFill>
                <a:latin typeface="Calibri" pitchFamily="34" charset="0"/>
                <a:ea typeface="Calibri" pitchFamily="34" charset="-122"/>
                <a:cs typeface="Calibri" pitchFamily="34" charset="-120"/>
              </a:rPr>
              <a:t>WHY IT MATTERS  </a:t>
            </a:r>
            <a:r>
              <a:rPr lang="en-US" sz="1200" dirty="0">
                <a:solidFill>
                  <a:srgbClr val="333333"/>
                </a:solidFill>
                <a:latin typeface="Calibri" pitchFamily="34" charset="0"/>
                <a:ea typeface="Calibri" pitchFamily="34" charset="-122"/>
                <a:cs typeface="Calibri" pitchFamily="34" charset="-120"/>
              </a:rPr>
              <a:t>Focus safety effort on factors that move severity.</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fade">
                                      <p:cBhvr>
                                        <p:cTn id="7" dur="500"/>
                                        <p:tgtEl>
                                          <p:spTgt spid="5">
                                            <p:graphicEl>
                                              <a:chart seriesIdx="-3" categoryIdx="-3" bldStep="gridLegend"/>
                                            </p:graphicEl>
                                          </p:spTgt>
                                        </p:tgtEl>
                                      </p:cBhvr>
                                    </p:animEffect>
                                  </p:childTnLst>
                                </p:cTn>
                              </p:par>
                              <p:par>
                                <p:cTn id="8" presetID="10" presetClass="entr" presetSubtype="0" fill="hold" grpId="0" nodeType="withEffect">
                                  <p:stCondLst>
                                    <p:cond delay="400"/>
                                  </p:stCondLst>
                                  <p:childTnLst>
                                    <p:set>
                                      <p:cBhvr>
                                        <p:cTn id="9" dur="1" fill="hold">
                                          <p:stCondLst>
                                            <p:cond delay="0"/>
                                          </p:stCondLst>
                                        </p:cTn>
                                        <p:tgtEl>
                                          <p:spTgt spid="5">
                                            <p:graphicEl>
                                              <a:chart seriesIdx="-4" categoryIdx="0" bldStep="category"/>
                                            </p:graphicEl>
                                          </p:spTgt>
                                        </p:tgtEl>
                                        <p:attrNameLst>
                                          <p:attrName>style.visibility</p:attrName>
                                        </p:attrNameLst>
                                      </p:cBhvr>
                                      <p:to>
                                        <p:strVal val="visible"/>
                                      </p:to>
                                    </p:set>
                                    <p:animEffect transition="in" filter="fade">
                                      <p:cBhvr>
                                        <p:cTn id="10" dur="500"/>
                                        <p:tgtEl>
                                          <p:spTgt spid="5">
                                            <p:graphicEl>
                                              <a:chart seriesIdx="-4" categoryIdx="0" bldStep="category"/>
                                            </p:graphicEl>
                                          </p:spTgt>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5">
                                            <p:graphicEl>
                                              <a:chart seriesIdx="-4" categoryIdx="1" bldStep="category"/>
                                            </p:graphicEl>
                                          </p:spTgt>
                                        </p:tgtEl>
                                        <p:attrNameLst>
                                          <p:attrName>style.visibility</p:attrName>
                                        </p:attrNameLst>
                                      </p:cBhvr>
                                      <p:to>
                                        <p:strVal val="visible"/>
                                      </p:to>
                                    </p:set>
                                    <p:animEffect transition="in" filter="fade">
                                      <p:cBhvr>
                                        <p:cTn id="13" dur="500"/>
                                        <p:tgtEl>
                                          <p:spTgt spid="5">
                                            <p:graphicEl>
                                              <a:chart seriesIdx="-4" categoryIdx="1" bldStep="category"/>
                                            </p:graphicEl>
                                          </p:spTgt>
                                        </p:tgtEl>
                                      </p:cBhvr>
                                    </p:animEffect>
                                  </p:childTnLst>
                                </p:cTn>
                              </p:par>
                              <p:par>
                                <p:cTn id="14" presetID="10" presetClass="entr" presetSubtype="0" fill="hold" grpId="0" nodeType="withEffect">
                                  <p:stCondLst>
                                    <p:cond delay="1100"/>
                                  </p:stCondLst>
                                  <p:childTnLst>
                                    <p:set>
                                      <p:cBhvr>
                                        <p:cTn id="15" dur="1" fill="hold">
                                          <p:stCondLst>
                                            <p:cond delay="0"/>
                                          </p:stCondLst>
                                        </p:cTn>
                                        <p:tgtEl>
                                          <p:spTgt spid="5">
                                            <p:graphicEl>
                                              <a:chart seriesIdx="-4" categoryIdx="2" bldStep="category"/>
                                            </p:graphicEl>
                                          </p:spTgt>
                                        </p:tgtEl>
                                        <p:attrNameLst>
                                          <p:attrName>style.visibility</p:attrName>
                                        </p:attrNameLst>
                                      </p:cBhvr>
                                      <p:to>
                                        <p:strVal val="visible"/>
                                      </p:to>
                                    </p:set>
                                    <p:animEffect transition="in" filter="fade">
                                      <p:cBhvr>
                                        <p:cTn id="16" dur="500"/>
                                        <p:tgtEl>
                                          <p:spTgt spid="5">
                                            <p:graphicEl>
                                              <a:chart seriesIdx="-4" categoryIdx="2" bldStep="category"/>
                                            </p:graphicEl>
                                          </p:spTgt>
                                        </p:tgtEl>
                                      </p:cBhvr>
                                    </p:animEffect>
                                  </p:childTnLst>
                                </p:cTn>
                              </p:par>
                              <p:par>
                                <p:cTn id="17" presetID="10" presetClass="entr" presetSubtype="0" fill="hold" grpId="0" nodeType="withEffect">
                                  <p:stCondLst>
                                    <p:cond delay="1450"/>
                                  </p:stCondLst>
                                  <p:childTnLst>
                                    <p:set>
                                      <p:cBhvr>
                                        <p:cTn id="18" dur="1" fill="hold">
                                          <p:stCondLst>
                                            <p:cond delay="0"/>
                                          </p:stCondLst>
                                        </p:cTn>
                                        <p:tgtEl>
                                          <p:spTgt spid="5">
                                            <p:graphicEl>
                                              <a:chart seriesIdx="-4" categoryIdx="3" bldStep="category"/>
                                            </p:graphicEl>
                                          </p:spTgt>
                                        </p:tgtEl>
                                        <p:attrNameLst>
                                          <p:attrName>style.visibility</p:attrName>
                                        </p:attrNameLst>
                                      </p:cBhvr>
                                      <p:to>
                                        <p:strVal val="visible"/>
                                      </p:to>
                                    </p:set>
                                    <p:animEffect transition="in" filter="fade">
                                      <p:cBhvr>
                                        <p:cTn id="19" dur="500"/>
                                        <p:tgtEl>
                                          <p:spTgt spid="5">
                                            <p:graphicEl>
                                              <a:chart seriesIdx="-4" categoryIdx="3" bldStep="category"/>
                                            </p:graphicEl>
                                          </p:spTgt>
                                        </p:tgtEl>
                                      </p:cBhvr>
                                    </p:animEffect>
                                  </p:childTnLst>
                                </p:cTn>
                              </p:par>
                              <p:par>
                                <p:cTn id="20" presetID="10" presetClass="entr" presetSubtype="0" fill="hold" grpId="0" nodeType="withEffect">
                                  <p:stCondLst>
                                    <p:cond delay="1800"/>
                                  </p:stCondLst>
                                  <p:childTnLst>
                                    <p:set>
                                      <p:cBhvr>
                                        <p:cTn id="21" dur="1" fill="hold">
                                          <p:stCondLst>
                                            <p:cond delay="0"/>
                                          </p:stCondLst>
                                        </p:cTn>
                                        <p:tgtEl>
                                          <p:spTgt spid="5">
                                            <p:graphicEl>
                                              <a:chart seriesIdx="-4" categoryIdx="4" bldStep="category"/>
                                            </p:graphicEl>
                                          </p:spTgt>
                                        </p:tgtEl>
                                        <p:attrNameLst>
                                          <p:attrName>style.visibility</p:attrName>
                                        </p:attrNameLst>
                                      </p:cBhvr>
                                      <p:to>
                                        <p:strVal val="visible"/>
                                      </p:to>
                                    </p:set>
                                    <p:animEffect transition="in" filter="fade">
                                      <p:cBhvr>
                                        <p:cTn id="22" dur="500"/>
                                        <p:tgtEl>
                                          <p:spTgt spid="5">
                                            <p:graphicEl>
                                              <a:chart seriesIdx="-4" categoryIdx="4" bldStep="category"/>
                                            </p:graphicEl>
                                          </p:spTgt>
                                        </p:tgtEl>
                                      </p:cBhvr>
                                    </p:animEffect>
                                  </p:childTnLst>
                                </p:cTn>
                              </p:par>
                              <p:par>
                                <p:cTn id="23" presetID="10" presetClass="entr" presetSubtype="0" fill="hold" grpId="0" nodeType="withEffect">
                                  <p:stCondLst>
                                    <p:cond delay="2150"/>
                                  </p:stCondLst>
                                  <p:childTnLst>
                                    <p:set>
                                      <p:cBhvr>
                                        <p:cTn id="24" dur="1" fill="hold">
                                          <p:stCondLst>
                                            <p:cond delay="0"/>
                                          </p:stCondLst>
                                        </p:cTn>
                                        <p:tgtEl>
                                          <p:spTgt spid="5">
                                            <p:graphicEl>
                                              <a:chart seriesIdx="-4" categoryIdx="5" bldStep="category"/>
                                            </p:graphicEl>
                                          </p:spTgt>
                                        </p:tgtEl>
                                        <p:attrNameLst>
                                          <p:attrName>style.visibility</p:attrName>
                                        </p:attrNameLst>
                                      </p:cBhvr>
                                      <p:to>
                                        <p:strVal val="visible"/>
                                      </p:to>
                                    </p:set>
                                    <p:animEffect transition="in" filter="fade">
                                      <p:cBhvr>
                                        <p:cTn id="25" dur="500"/>
                                        <p:tgtEl>
                                          <p:spTgt spid="5">
                                            <p:graphicEl>
                                              <a:chart seriesIdx="-4" categoryIdx="5" bldStep="category"/>
                                            </p:graphicEl>
                                          </p:spTgt>
                                        </p:tgtEl>
                                      </p:cBhvr>
                                    </p:animEffect>
                                  </p:childTnLst>
                                </p:cTn>
                              </p:par>
                              <p:par>
                                <p:cTn id="26" presetID="10" presetClass="entr" presetSubtype="0" fill="hold" grpId="0" nodeType="withEffect">
                                  <p:stCondLst>
                                    <p:cond delay="2500"/>
                                  </p:stCondLst>
                                  <p:childTnLst>
                                    <p:set>
                                      <p:cBhvr>
                                        <p:cTn id="27" dur="1" fill="hold">
                                          <p:stCondLst>
                                            <p:cond delay="0"/>
                                          </p:stCondLst>
                                        </p:cTn>
                                        <p:tgtEl>
                                          <p:spTgt spid="5">
                                            <p:graphicEl>
                                              <a:chart seriesIdx="-4" categoryIdx="6" bldStep="category"/>
                                            </p:graphicEl>
                                          </p:spTgt>
                                        </p:tgtEl>
                                        <p:attrNameLst>
                                          <p:attrName>style.visibility</p:attrName>
                                        </p:attrNameLst>
                                      </p:cBhvr>
                                      <p:to>
                                        <p:strVal val="visible"/>
                                      </p:to>
                                    </p:set>
                                    <p:animEffect transition="in" filter="fade">
                                      <p:cBhvr>
                                        <p:cTn id="28" dur="500"/>
                                        <p:tgtEl>
                                          <p:spTgt spid="5">
                                            <p:graphicEl>
                                              <a:chart seriesIdx="-4" categoryIdx="6" bldStep="category"/>
                                            </p:graphicEl>
                                          </p:spTgt>
                                        </p:tgtEl>
                                      </p:cBhvr>
                                    </p:animEffect>
                                  </p:childTnLst>
                                </p:cTn>
                              </p:par>
                              <p:par>
                                <p:cTn id="29" presetID="2" presetClass="entr" presetSubtype="2" fill="hold" nodeType="withEffect">
                                  <p:stCondLst>
                                    <p:cond delay="160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1+#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160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1+#ppt_w/2"/>
                                          </p:val>
                                        </p:tav>
                                        <p:tav tm="100000">
                                          <p:val>
                                            <p:strVal val="#ppt_x"/>
                                          </p:val>
                                        </p:tav>
                                      </p:tavLst>
                                    </p:anim>
                                    <p:anim calcmode="lin" valueType="num">
                                      <p:cBhvr additive="base">
                                        <p:cTn id="36" dur="500" fill="hold"/>
                                        <p:tgtEl>
                                          <p:spTgt spid="7"/>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stCondLst>
                                    <p:cond delay="1850"/>
                                  </p:stCondLst>
                                  <p:childTnLst>
                                    <p:set>
                                      <p:cBhvr>
                                        <p:cTn id="38" dur="1" fill="hold">
                                          <p:stCondLst>
                                            <p:cond delay="0"/>
                                          </p:stCondLst>
                                        </p:cTn>
                                        <p:tgtEl>
                                          <p:spTgt spid="8"/>
                                        </p:tgtEl>
                                        <p:attrNameLst>
                                          <p:attrName>style.visibility</p:attrName>
                                        </p:attrNameLst>
                                      </p:cBhvr>
                                      <p:to>
                                        <p:strVal val="visible"/>
                                      </p:to>
                                    </p:set>
                                    <p:anim calcmode="lin" valueType="num">
                                      <p:cBhvr additive="base">
                                        <p:cTn id="39" dur="500" fill="hold"/>
                                        <p:tgtEl>
                                          <p:spTgt spid="8"/>
                                        </p:tgtEl>
                                        <p:attrNameLst>
                                          <p:attrName>ppt_x</p:attrName>
                                        </p:attrNameLst>
                                      </p:cBhvr>
                                      <p:tavLst>
                                        <p:tav tm="0">
                                          <p:val>
                                            <p:strVal val="1+#ppt_w/2"/>
                                          </p:val>
                                        </p:tav>
                                        <p:tav tm="100000">
                                          <p:val>
                                            <p:strVal val="#ppt_x"/>
                                          </p:val>
                                        </p:tav>
                                      </p:tavLst>
                                    </p:anim>
                                    <p:anim calcmode="lin" valueType="num">
                                      <p:cBhvr additive="base">
                                        <p:cTn id="40" dur="500" fill="hold"/>
                                        <p:tgtEl>
                                          <p:spTgt spid="8"/>
                                        </p:tgtEl>
                                        <p:attrNameLst>
                                          <p:attrName>ppt_y</p:attrName>
                                        </p:attrNameLst>
                                      </p:cBhvr>
                                      <p:tavLst>
                                        <p:tav tm="0">
                                          <p:val>
                                            <p:strVal val="#ppt_y"/>
                                          </p:val>
                                        </p:tav>
                                        <p:tav tm="100000">
                                          <p:val>
                                            <p:strVal val="#ppt_y"/>
                                          </p:val>
                                        </p:tav>
                                      </p:tavLst>
                                    </p:anim>
                                  </p:childTnLst>
                                </p:cTn>
                              </p:par>
                              <p:par>
                                <p:cTn id="41" presetID="2" presetClass="entr" presetSubtype="2" fill="hold" nodeType="withEffect">
                                  <p:stCondLst>
                                    <p:cond delay="185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1+#ppt_w/2"/>
                                          </p:val>
                                        </p:tav>
                                        <p:tav tm="100000">
                                          <p:val>
                                            <p:strVal val="#ppt_x"/>
                                          </p:val>
                                        </p:tav>
                                      </p:tavLst>
                                    </p:anim>
                                    <p:anim calcmode="lin" valueType="num">
                                      <p:cBhvr additive="base">
                                        <p:cTn id="44" dur="500" fill="hold"/>
                                        <p:tgtEl>
                                          <p:spTgt spid="9"/>
                                        </p:tgtEl>
                                        <p:attrNameLst>
                                          <p:attrName>ppt_y</p:attrName>
                                        </p:attrNameLst>
                                      </p:cBhvr>
                                      <p:tavLst>
                                        <p:tav tm="0">
                                          <p:val>
                                            <p:strVal val="#ppt_y"/>
                                          </p:val>
                                        </p:tav>
                                        <p:tav tm="100000">
                                          <p:val>
                                            <p:strVal val="#ppt_y"/>
                                          </p:val>
                                        </p:tav>
                                      </p:tavLst>
                                    </p:anim>
                                  </p:childTnLst>
                                </p:cTn>
                              </p:par>
                              <p:par>
                                <p:cTn id="45" presetID="2" presetClass="entr" presetSubtype="2" fill="hold" nodeType="withEffect">
                                  <p:stCondLst>
                                    <p:cond delay="210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1+#ppt_w/2"/>
                                          </p:val>
                                        </p:tav>
                                        <p:tav tm="100000">
                                          <p:val>
                                            <p:strVal val="#ppt_x"/>
                                          </p:val>
                                        </p:tav>
                                      </p:tavLst>
                                    </p:anim>
                                    <p:anim calcmode="lin" valueType="num">
                                      <p:cBhvr additive="base">
                                        <p:cTn id="48" dur="500" fill="hold"/>
                                        <p:tgtEl>
                                          <p:spTgt spid="10"/>
                                        </p:tgtEl>
                                        <p:attrNameLst>
                                          <p:attrName>ppt_y</p:attrName>
                                        </p:attrNameLst>
                                      </p:cBhvr>
                                      <p:tavLst>
                                        <p:tav tm="0">
                                          <p:val>
                                            <p:strVal val="#ppt_y"/>
                                          </p:val>
                                        </p:tav>
                                        <p:tav tm="100000">
                                          <p:val>
                                            <p:strVal val="#ppt_y"/>
                                          </p:val>
                                        </p:tav>
                                      </p:tavLst>
                                    </p:anim>
                                  </p:childTnLst>
                                </p:cTn>
                              </p:par>
                              <p:par>
                                <p:cTn id="49" presetID="2" presetClass="entr" presetSubtype="2" fill="hold" nodeType="withEffect">
                                  <p:stCondLst>
                                    <p:cond delay="2100"/>
                                  </p:stCondLst>
                                  <p:childTnLst>
                                    <p:set>
                                      <p:cBhvr>
                                        <p:cTn id="50" dur="1" fill="hold">
                                          <p:stCondLst>
                                            <p:cond delay="0"/>
                                          </p:stCondLst>
                                        </p:cTn>
                                        <p:tgtEl>
                                          <p:spTgt spid="11"/>
                                        </p:tgtEl>
                                        <p:attrNameLst>
                                          <p:attrName>style.visibility</p:attrName>
                                        </p:attrNameLst>
                                      </p:cBhvr>
                                      <p:to>
                                        <p:strVal val="visible"/>
                                      </p:to>
                                    </p:set>
                                    <p:anim calcmode="lin" valueType="num">
                                      <p:cBhvr additive="base">
                                        <p:cTn id="51" dur="500" fill="hold"/>
                                        <p:tgtEl>
                                          <p:spTgt spid="11"/>
                                        </p:tgtEl>
                                        <p:attrNameLst>
                                          <p:attrName>ppt_x</p:attrName>
                                        </p:attrNameLst>
                                      </p:cBhvr>
                                      <p:tavLst>
                                        <p:tav tm="0">
                                          <p:val>
                                            <p:strVal val="1+#ppt_w/2"/>
                                          </p:val>
                                        </p:tav>
                                        <p:tav tm="100000">
                                          <p:val>
                                            <p:strVal val="#ppt_x"/>
                                          </p:val>
                                        </p:tav>
                                      </p:tavLst>
                                    </p:anim>
                                    <p:anim calcmode="lin" valueType="num">
                                      <p:cBhvr additive="base">
                                        <p:cTn id="52"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category"/>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Speed separates the severity classes</a:t>
            </a:r>
            <a:endParaRPr lang="en-US" sz="2600" dirty="0"/>
          </a:p>
        </p:txBody>
      </p:sp>
      <p:pic>
        <p:nvPicPr>
          <p:cNvPr id="5" name="s15_img" descr="Box plot of mean impact speed by severity: fatal about 85 km/h, major about 62, minor about 35"/>
          <p:cNvPicPr>
            <a:picLocks noChangeAspect="1"/>
          </p:cNvPicPr>
          <p:nvPr/>
        </p:nvPicPr>
        <p:blipFill>
          <a:blip r:embed="rId3"/>
          <a:stretch>
            <a:fillRect/>
          </a:stretch>
        </p:blipFill>
        <p:spPr>
          <a:xfrm>
            <a:off x="548640" y="1188720"/>
            <a:ext cx="4297680" cy="2713768"/>
          </a:xfrm>
          <a:prstGeom prst="rect">
            <a:avLst/>
          </a:prstGeom>
        </p:spPr>
      </p:pic>
      <p:sp>
        <p:nvSpPr>
          <p:cNvPr id="6" name="s15_cap"/>
          <p:cNvSpPr txBox="1"/>
          <p:nvPr/>
        </p:nvSpPr>
        <p:spPr>
          <a:xfrm>
            <a:off x="548640" y="3948208"/>
            <a:ext cx="4297680" cy="228600"/>
          </a:xfrm>
          <a:prstGeom prst="rect">
            <a:avLst/>
          </a:prstGeom>
          <a:noFill/>
          <a:ln/>
        </p:spPr>
        <p:txBody>
          <a:bodyPr wrap="square" lIns="0" tIns="0" rIns="0" bIns="0" rtlCol="0" anchor="t"/>
          <a:lstStyle/>
          <a:p>
            <a:pPr marL="0" indent="0">
              <a:buNone/>
            </a:pPr>
            <a:r>
              <a:rPr lang="en-US" sz="1000" i="1" dirty="0">
                <a:solidFill>
                  <a:srgbClr val="6B7785"/>
                </a:solidFill>
                <a:latin typeface="Calibri" pitchFamily="34" charset="0"/>
                <a:ea typeface="Calibri" pitchFamily="34" charset="-122"/>
                <a:cs typeface="Calibri" pitchFamily="34" charset="-120"/>
              </a:rPr>
              <a:t>Notebook box plot: mean impact speed by severity</a:t>
            </a:r>
            <a:endParaRPr lang="en-US" sz="1000" dirty="0"/>
          </a:p>
        </p:txBody>
      </p:sp>
      <p:graphicFrame>
        <p:nvGraphicFramePr>
          <p:cNvPr id="16" name="s15_table"/>
          <p:cNvGraphicFramePr>
            <a:graphicFrameLocks noGrp="1"/>
          </p:cNvGraphicFramePr>
          <p:nvPr>
            <p:extLst>
              <p:ext uri="{D42A27DB-BD31-4B8C-83A1-F6EECF244321}">
                <p14:modId xmlns:p14="http://schemas.microsoft.com/office/powerpoint/2010/main" val="1579011935"/>
              </p:ext>
            </p:extLst>
          </p:nvPr>
        </p:nvGraphicFramePr>
        <p:xfrm>
          <a:off x="5120640" y="1280160"/>
          <a:ext cx="3474720" cy="1316736"/>
        </p:xfrm>
        <a:graphic>
          <a:graphicData uri="http://schemas.openxmlformats.org/drawingml/2006/table">
            <a:tbl>
              <a:tblPr/>
              <a:tblGrid>
                <a:gridCol w="10058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29184">
                <a:tc>
                  <a:txBody>
                    <a:bodyPr/>
                    <a:lstStyle/>
                    <a:p>
                      <a:pPr marL="0" indent="0" algn="ctr">
                        <a:buNone/>
                      </a:pPr>
                      <a:r>
                        <a:rPr lang="en-US" sz="1050" b="1" dirty="0">
                          <a:solidFill>
                            <a:srgbClr val="FFFFFF"/>
                          </a:solidFill>
                        </a:rPr>
                        <a:t>Severity</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Median km/h</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Middle half</a:t>
                      </a:r>
                      <a:endParaRPr lang="en-US" sz="105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extLst>
                  <a:ext uri="{0D108BD9-81ED-4DB2-BD59-A6C34878D82A}">
                    <a16:rowId xmlns:a16="http://schemas.microsoft.com/office/drawing/2014/main" val="10000"/>
                  </a:ext>
                </a:extLst>
              </a:tr>
              <a:tr h="329184">
                <a:tc>
                  <a:txBody>
                    <a:bodyPr/>
                    <a:lstStyle/>
                    <a:p>
                      <a:pPr marL="0" indent="0" algn="ctr">
                        <a:buNone/>
                      </a:pPr>
                      <a:r>
                        <a:rPr lang="en-US" sz="1100" b="1" dirty="0">
                          <a:solidFill>
                            <a:srgbClr val="C75B39"/>
                          </a:solidFill>
                        </a:rPr>
                        <a:t>Fatal</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 85</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 80–89</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lang="en-US" sz="1100" b="1" dirty="0">
                          <a:solidFill>
                            <a:srgbClr val="1B3A5F"/>
                          </a:solidFill>
                        </a:rPr>
                        <a:t>Major</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 62</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 58–66</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2"/>
                  </a:ext>
                </a:extLst>
              </a:tr>
              <a:tr h="329184">
                <a:tc>
                  <a:txBody>
                    <a:bodyPr/>
                    <a:lstStyle/>
                    <a:p>
                      <a:pPr marL="0" indent="0" algn="ctr">
                        <a:buNone/>
                      </a:pPr>
                      <a:r>
                        <a:rPr lang="en-US" sz="1100" b="1" dirty="0">
                          <a:solidFill>
                            <a:srgbClr val="2E8B8B"/>
                          </a:solidFill>
                        </a:rPr>
                        <a:t>Minor</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 35</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 31–39</a:t>
                      </a:r>
                      <a:endParaRPr lang="en-US" sz="1100" dirty="0"/>
                    </a:p>
                  </a:txBody>
                  <a:tcPr marL="54864" marR="54864" marT="18288" marB="18288"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s15_big"/>
          <p:cNvSpPr txBox="1"/>
          <p:nvPr/>
        </p:nvSpPr>
        <p:spPr>
          <a:xfrm>
            <a:off x="5120640" y="2743200"/>
            <a:ext cx="1828800" cy="822960"/>
          </a:xfrm>
          <a:prstGeom prst="rect">
            <a:avLst/>
          </a:prstGeom>
          <a:noFill/>
          <a:ln/>
        </p:spPr>
        <p:txBody>
          <a:bodyPr wrap="square" lIns="0" tIns="0" rIns="0" bIns="0" rtlCol="0" anchor="ctr"/>
          <a:lstStyle/>
          <a:p>
            <a:pPr marL="0" indent="0">
              <a:buNone/>
            </a:pPr>
            <a:r>
              <a:rPr lang="en-US" sz="5400" b="1" dirty="0">
                <a:solidFill>
                  <a:srgbClr val="C75B39"/>
                </a:solidFill>
                <a:latin typeface="Calibri" pitchFamily="34" charset="0"/>
                <a:ea typeface="Calibri" pitchFamily="34" charset="-122"/>
                <a:cs typeface="Calibri" pitchFamily="34" charset="-120"/>
              </a:rPr>
              <a:t>45%</a:t>
            </a:r>
            <a:endParaRPr lang="en-US" sz="5400" dirty="0"/>
          </a:p>
        </p:txBody>
      </p:sp>
      <p:sp>
        <p:nvSpPr>
          <p:cNvPr id="9" name="s15_bigt"/>
          <p:cNvSpPr txBox="1"/>
          <p:nvPr/>
        </p:nvSpPr>
        <p:spPr>
          <a:xfrm>
            <a:off x="6720840" y="2788920"/>
            <a:ext cx="1874520" cy="777240"/>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of the model’s importance comes from mean impact speed</a:t>
            </a:r>
            <a:endParaRPr lang="en-US" sz="1200" dirty="0"/>
          </a:p>
        </p:txBody>
      </p:sp>
      <p:sp>
        <p:nvSpPr>
          <p:cNvPr id="10" name="s15_src"/>
          <p:cNvSpPr txBox="1"/>
          <p:nvPr/>
        </p:nvSpPr>
        <p:spPr>
          <a:xfrm>
            <a:off x="5120640" y="3657600"/>
            <a:ext cx="3474720" cy="365760"/>
          </a:xfrm>
          <a:prstGeom prst="rect">
            <a:avLst/>
          </a:prstGeom>
          <a:noFill/>
          <a:ln/>
        </p:spPr>
        <p:txBody>
          <a:bodyPr wrap="square" lIns="0" tIns="0" rIns="0" bIns="0" rtlCol="0" anchor="t"/>
          <a:lstStyle/>
          <a:p>
            <a:pPr marL="0" indent="0">
              <a:buNone/>
            </a:pPr>
            <a:r>
              <a:rPr lang="en-US" sz="1000" i="1" dirty="0">
                <a:solidFill>
                  <a:srgbClr val="6B7785"/>
                </a:solidFill>
                <a:latin typeface="Calibri" pitchFamily="34" charset="0"/>
                <a:ea typeface="Calibri" pitchFamily="34" charset="-122"/>
                <a:cs typeface="Calibri" pitchFamily="34" charset="-120"/>
              </a:rPr>
              <a:t>Values read from the chart; importance from the fitted XGBoost model.</a:t>
            </a:r>
            <a:endParaRPr lang="en-US" sz="10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nodeType="withEffect">
                                  <p:stCondLst>
                                    <p:cond delay="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60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53" presetClass="entr" presetSubtype="16" fill="hold" nodeType="withEffect">
                                  <p:stCondLst>
                                    <p:cond delay="100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ppt_w</p:attrName>
                                        </p:attrNameLst>
                                      </p:cBhvr>
                                      <p:tavLst>
                                        <p:tav tm="0">
                                          <p:val>
                                            <p:fltVal val="0"/>
                                          </p:val>
                                        </p:tav>
                                        <p:tav tm="100000">
                                          <p:val>
                                            <p:strVal val="#ppt_w"/>
                                          </p:val>
                                        </p:tav>
                                      </p:tavLst>
                                    </p:anim>
                                    <p:anim calcmode="lin" valueType="num">
                                      <p:cBhvr additive="base">
                                        <p:cTn id="17" dur="500" fill="hold"/>
                                        <p:tgtEl>
                                          <p:spTgt spid="8"/>
                                        </p:tgtEl>
                                        <p:attrNameLst>
                                          <p:attrName>ppt_h</p:attrName>
                                        </p:attrNameLst>
                                      </p:cBhvr>
                                      <p:tavLst>
                                        <p:tav tm="0">
                                          <p:val>
                                            <p:fltVal val="0"/>
                                          </p:val>
                                        </p:tav>
                                        <p:tav tm="100000">
                                          <p:val>
                                            <p:strVal val="#ppt_h"/>
                                          </p:val>
                                        </p:tav>
                                      </p:tavLst>
                                    </p:anim>
                                    <p:animEffect transition="in" filter="fade">
                                      <p:cBhvr>
                                        <p:cTn id="18" dur="500"/>
                                        <p:tgtEl>
                                          <p:spTgt spid="8"/>
                                        </p:tgtEl>
                                      </p:cBhvr>
                                    </p:animEffect>
                                  </p:childTnLst>
                                </p:cTn>
                              </p:par>
                              <p:par>
                                <p:cTn id="19" presetID="10" presetClass="entr" presetSubtype="0" fill="hold" nodeType="withEffect">
                                  <p:stCondLst>
                                    <p:cond delay="120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nodeType="withEffect">
                                  <p:stCondLst>
                                    <p:cond delay="140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6" presetClass="emph" presetSubtype="0" fill="hold" nodeType="clickEffect">
                                  <p:stCondLst>
                                    <p:cond delay="0"/>
                                  </p:stCondLst>
                                  <p:childTnLst>
                                    <p:animEffect transition="out" filter="fade">
                                      <p:cBhvr>
                                        <p:cTn id="28" dur="600" tmFilter="0, 0; .2, .5; .8, .5; 1, 0"/>
                                        <p:tgtEl>
                                          <p:spTgt spid="8"/>
                                        </p:tgtEl>
                                      </p:cBhvr>
                                    </p:animEffect>
                                    <p:animScale>
                                      <p:cBhvr>
                                        <p:cTn id="29" dur="300" autoRev="1" fill="hold"/>
                                        <p:tgtEl>
                                          <p:spTgt spid="8"/>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How the features relate to each other</a:t>
            </a:r>
            <a:endParaRPr lang="en-US" sz="2600" dirty="0"/>
          </a:p>
        </p:txBody>
      </p:sp>
      <p:pic>
        <p:nvPicPr>
          <p:cNvPr id="5" name="s16_img" descr="Correlation heatmap of numeric features: strong blocks for speed, group size and complementary ratios"/>
          <p:cNvPicPr>
            <a:picLocks noChangeAspect="1"/>
          </p:cNvPicPr>
          <p:nvPr/>
        </p:nvPicPr>
        <p:blipFill>
          <a:blip r:embed="rId3"/>
          <a:stretch>
            <a:fillRect/>
          </a:stretch>
        </p:blipFill>
        <p:spPr>
          <a:xfrm>
            <a:off x="548640" y="1097280"/>
            <a:ext cx="4401679" cy="3429000"/>
          </a:xfrm>
          <a:prstGeom prst="rect">
            <a:avLst/>
          </a:prstGeom>
        </p:spPr>
      </p:pic>
      <p:sp>
        <p:nvSpPr>
          <p:cNvPr id="6" name="s16_p1_bg"/>
          <p:cNvSpPr/>
          <p:nvPr/>
        </p:nvSpPr>
        <p:spPr>
          <a:xfrm>
            <a:off x="5074920" y="1188720"/>
            <a:ext cx="3520440" cy="658368"/>
          </a:xfrm>
          <a:prstGeom prst="roundRect">
            <a:avLst>
              <a:gd name="adj" fmla="val 11111"/>
            </a:avLst>
          </a:prstGeom>
          <a:solidFill>
            <a:srgbClr val="F6F8FA"/>
          </a:solidFill>
          <a:ln w="9525">
            <a:solidFill>
              <a:srgbClr val="D5DCE4"/>
            </a:solidFill>
            <a:prstDash val="solid"/>
          </a:ln>
        </p:spPr>
      </p:sp>
      <p:sp>
        <p:nvSpPr>
          <p:cNvPr id="7" name="s16_p1"/>
          <p:cNvSpPr txBox="1"/>
          <p:nvPr/>
        </p:nvSpPr>
        <p:spPr>
          <a:xfrm>
            <a:off x="5212080" y="1188720"/>
            <a:ext cx="3291840" cy="658368"/>
          </a:xfrm>
          <a:prstGeom prst="rect">
            <a:avLst/>
          </a:prstGeom>
          <a:noFill/>
          <a:ln/>
        </p:spPr>
        <p:txBody>
          <a:bodyPr wrap="square" lIns="0" tIns="0" rIns="0" bIns="0" rtlCol="0" anchor="ctr"/>
          <a:lstStyle/>
          <a:p>
            <a:pPr marL="0" indent="0">
              <a:buNone/>
            </a:pPr>
            <a:r>
              <a:rPr lang="en-US" sz="1250" b="1" dirty="0">
                <a:solidFill>
                  <a:srgbClr val="1B3A5F"/>
                </a:solidFill>
                <a:latin typeface="Calibri" pitchFamily="34" charset="0"/>
                <a:ea typeface="Calibri" pitchFamily="34" charset="-122"/>
                <a:cs typeface="Calibri" pitchFamily="34" charset="-120"/>
              </a:rPr>
              <a:t>Speed block</a:t>
            </a:r>
            <a:endParaRPr lang="en-US" sz="1400" dirty="0"/>
          </a:p>
          <a:p>
            <a:pPr marL="0" indent="0">
              <a:buNone/>
            </a:pPr>
            <a:r>
              <a:rPr lang="en-US" sz="1100" dirty="0">
                <a:solidFill>
                  <a:srgbClr val="333333"/>
                </a:solidFill>
                <a:latin typeface="Calibri" pitchFamily="34" charset="0"/>
                <a:ea typeface="Calibri" pitchFamily="34" charset="-122"/>
                <a:cs typeface="Calibri" pitchFamily="34" charset="-120"/>
              </a:rPr>
              <a:t>mean, max and min speed correlate about 0.9 or more</a:t>
            </a:r>
            <a:endParaRPr lang="en-US" sz="1400" dirty="0"/>
          </a:p>
        </p:txBody>
      </p:sp>
      <p:sp>
        <p:nvSpPr>
          <p:cNvPr id="8" name="s16_p2_bg"/>
          <p:cNvSpPr/>
          <p:nvPr/>
        </p:nvSpPr>
        <p:spPr>
          <a:xfrm>
            <a:off x="5074920" y="1965960"/>
            <a:ext cx="3520440" cy="658368"/>
          </a:xfrm>
          <a:prstGeom prst="roundRect">
            <a:avLst>
              <a:gd name="adj" fmla="val 11111"/>
            </a:avLst>
          </a:prstGeom>
          <a:solidFill>
            <a:srgbClr val="F6F8FA"/>
          </a:solidFill>
          <a:ln w="9525">
            <a:solidFill>
              <a:srgbClr val="D5DCE4"/>
            </a:solidFill>
            <a:prstDash val="solid"/>
          </a:ln>
        </p:spPr>
      </p:sp>
      <p:sp>
        <p:nvSpPr>
          <p:cNvPr id="9" name="s16_p2"/>
          <p:cNvSpPr txBox="1"/>
          <p:nvPr/>
        </p:nvSpPr>
        <p:spPr>
          <a:xfrm>
            <a:off x="5212080" y="1965960"/>
            <a:ext cx="3291840" cy="658368"/>
          </a:xfrm>
          <a:prstGeom prst="rect">
            <a:avLst/>
          </a:prstGeom>
          <a:noFill/>
          <a:ln/>
        </p:spPr>
        <p:txBody>
          <a:bodyPr wrap="square" lIns="0" tIns="0" rIns="0" bIns="0" rtlCol="0" anchor="ctr"/>
          <a:lstStyle/>
          <a:p>
            <a:pPr marL="0" indent="0">
              <a:buNone/>
            </a:pPr>
            <a:r>
              <a:rPr lang="en-US" sz="1250" b="1" dirty="0">
                <a:solidFill>
                  <a:srgbClr val="1B3A5F"/>
                </a:solidFill>
                <a:latin typeface="Calibri" pitchFamily="34" charset="0"/>
                <a:ea typeface="Calibri" pitchFamily="34" charset="-122"/>
                <a:cs typeface="Calibri" pitchFamily="34" charset="-120"/>
              </a:rPr>
              <a:t>Group-size block</a:t>
            </a:r>
            <a:endParaRPr lang="en-US" sz="1400" dirty="0"/>
          </a:p>
          <a:p>
            <a:pPr marL="0" indent="0">
              <a:buNone/>
            </a:pPr>
            <a:r>
              <a:rPr lang="en-US" sz="1100" dirty="0">
                <a:solidFill>
                  <a:srgbClr val="333333"/>
                </a:solidFill>
                <a:latin typeface="Calibri" pitchFamily="34" charset="0"/>
                <a:ea typeface="Calibri" pitchFamily="34" charset="-122"/>
                <a:cs typeface="Calibri" pitchFamily="34" charset="-120"/>
              </a:rPr>
              <a:t>occupants and vehicles move together</a:t>
            </a:r>
            <a:endParaRPr lang="en-US" sz="1400" dirty="0"/>
          </a:p>
        </p:txBody>
      </p:sp>
      <p:sp>
        <p:nvSpPr>
          <p:cNvPr id="10" name="s16_p3_bg"/>
          <p:cNvSpPr/>
          <p:nvPr/>
        </p:nvSpPr>
        <p:spPr>
          <a:xfrm>
            <a:off x="5074920" y="2743200"/>
            <a:ext cx="3520440" cy="658368"/>
          </a:xfrm>
          <a:prstGeom prst="roundRect">
            <a:avLst>
              <a:gd name="adj" fmla="val 11111"/>
            </a:avLst>
          </a:prstGeom>
          <a:solidFill>
            <a:srgbClr val="F6F8FA"/>
          </a:solidFill>
          <a:ln w="9525">
            <a:solidFill>
              <a:srgbClr val="D5DCE4"/>
            </a:solidFill>
            <a:prstDash val="solid"/>
          </a:ln>
        </p:spPr>
      </p:sp>
      <p:sp>
        <p:nvSpPr>
          <p:cNvPr id="11" name="s16_p3"/>
          <p:cNvSpPr txBox="1"/>
          <p:nvPr/>
        </p:nvSpPr>
        <p:spPr>
          <a:xfrm>
            <a:off x="5212080" y="2743200"/>
            <a:ext cx="3291840" cy="658368"/>
          </a:xfrm>
          <a:prstGeom prst="rect">
            <a:avLst/>
          </a:prstGeom>
          <a:noFill/>
          <a:ln/>
        </p:spPr>
        <p:txBody>
          <a:bodyPr wrap="square" lIns="0" tIns="0" rIns="0" bIns="0" rtlCol="0" anchor="ctr"/>
          <a:lstStyle/>
          <a:p>
            <a:pPr marL="0" indent="0">
              <a:buNone/>
            </a:pPr>
            <a:r>
              <a:rPr lang="en-US" sz="1250" b="1" dirty="0">
                <a:solidFill>
                  <a:srgbClr val="1B3A5F"/>
                </a:solidFill>
                <a:latin typeface="Calibri" pitchFamily="34" charset="0"/>
                <a:ea typeface="Calibri" pitchFamily="34" charset="-122"/>
                <a:cs typeface="Calibri" pitchFamily="34" charset="-120"/>
              </a:rPr>
              <a:t>Exact opposites</a:t>
            </a:r>
            <a:endParaRPr lang="en-US" sz="1400" dirty="0"/>
          </a:p>
          <a:p>
            <a:pPr marL="0" indent="0">
              <a:buNone/>
            </a:pPr>
            <a:r>
              <a:rPr lang="en-US" sz="1100" dirty="0">
                <a:solidFill>
                  <a:srgbClr val="333333"/>
                </a:solidFill>
                <a:latin typeface="Calibri" pitchFamily="34" charset="0"/>
                <a:ea typeface="Calibri" pitchFamily="34" charset="-122"/>
                <a:cs typeface="Calibri" pitchFamily="34" charset="-120"/>
              </a:rPr>
              <a:t>male vs female share; helmet use vs rule-breaking (−1)</a:t>
            </a:r>
            <a:endParaRPr lang="en-US" sz="1400" dirty="0"/>
          </a:p>
        </p:txBody>
      </p:sp>
      <p:sp>
        <p:nvSpPr>
          <p:cNvPr id="12" name="s16_p4_bg"/>
          <p:cNvSpPr/>
          <p:nvPr/>
        </p:nvSpPr>
        <p:spPr>
          <a:xfrm>
            <a:off x="5074920" y="3520440"/>
            <a:ext cx="3520440" cy="658368"/>
          </a:xfrm>
          <a:prstGeom prst="roundRect">
            <a:avLst>
              <a:gd name="adj" fmla="val 11111"/>
            </a:avLst>
          </a:prstGeom>
          <a:solidFill>
            <a:srgbClr val="FBEAE4"/>
          </a:solidFill>
          <a:ln w="9525">
            <a:solidFill>
              <a:srgbClr val="C75B39"/>
            </a:solidFill>
            <a:prstDash val="solid"/>
          </a:ln>
        </p:spPr>
      </p:sp>
      <p:sp>
        <p:nvSpPr>
          <p:cNvPr id="13" name="s16_p4"/>
          <p:cNvSpPr txBox="1"/>
          <p:nvPr/>
        </p:nvSpPr>
        <p:spPr>
          <a:xfrm>
            <a:off x="5212080" y="3520440"/>
            <a:ext cx="3291840" cy="658368"/>
          </a:xfrm>
          <a:prstGeom prst="rect">
            <a:avLst/>
          </a:prstGeom>
          <a:noFill/>
          <a:ln/>
        </p:spPr>
        <p:txBody>
          <a:bodyPr wrap="square" lIns="0" tIns="0" rIns="0" bIns="0" rtlCol="0" anchor="ctr"/>
          <a:lstStyle/>
          <a:p>
            <a:pPr marL="0" indent="0">
              <a:buNone/>
            </a:pPr>
            <a:r>
              <a:rPr lang="en-US" sz="1250" b="1" dirty="0">
                <a:solidFill>
                  <a:srgbClr val="C75B39"/>
                </a:solidFill>
                <a:latin typeface="Calibri" pitchFamily="34" charset="0"/>
                <a:ea typeface="Calibri" pitchFamily="34" charset="-122"/>
                <a:cs typeface="Calibri" pitchFamily="34" charset="-120"/>
              </a:rPr>
              <a:t>So what</a:t>
            </a:r>
            <a:endParaRPr lang="en-US" sz="1400" dirty="0"/>
          </a:p>
          <a:p>
            <a:pPr marL="0" indent="0">
              <a:buNone/>
            </a:pPr>
            <a:r>
              <a:rPr lang="en-US" sz="1100" dirty="0">
                <a:solidFill>
                  <a:srgbClr val="333333"/>
                </a:solidFill>
                <a:latin typeface="Calibri" pitchFamily="34" charset="0"/>
                <a:ea typeface="Calibri" pitchFamily="34" charset="-122"/>
                <a:cs typeface="Calibri" pitchFamily="34" charset="-120"/>
              </a:rPr>
              <a:t>trees cope; do not over-read linear weights</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2" presetClass="entr" presetSubtype="2" fill="hold" nodeType="withEffect">
                                  <p:stCondLst>
                                    <p:cond delay="60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1+#ppt_w/2"/>
                                          </p:val>
                                        </p:tav>
                                        <p:tav tm="100000">
                                          <p:val>
                                            <p:strVal val="#ppt_x"/>
                                          </p:val>
                                        </p:tav>
                                      </p:tavLst>
                                    </p:anim>
                                    <p:anim calcmode="lin" valueType="num">
                                      <p:cBhvr additive="base">
                                        <p:cTn id="11" dur="500" fill="hold"/>
                                        <p:tgtEl>
                                          <p:spTgt spid="6"/>
                                        </p:tgtEl>
                                        <p:attrNameLst>
                                          <p:attrName>ppt_y</p:attrName>
                                        </p:attrNameLst>
                                      </p:cBhvr>
                                      <p:tavLst>
                                        <p:tav tm="0">
                                          <p:val>
                                            <p:strVal val="#ppt_y"/>
                                          </p:val>
                                        </p:tav>
                                        <p:tav tm="100000">
                                          <p:val>
                                            <p:strVal val="#ppt_y"/>
                                          </p:val>
                                        </p:tav>
                                      </p:tavLst>
                                    </p:anim>
                                  </p:childTnLst>
                                </p:cTn>
                              </p:par>
                              <p:par>
                                <p:cTn id="12" presetID="2" presetClass="entr" presetSubtype="2" fill="hold" nodeType="withEffect">
                                  <p:stCondLst>
                                    <p:cond delay="60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1+#ppt_w/2"/>
                                          </p:val>
                                        </p:tav>
                                        <p:tav tm="100000">
                                          <p:val>
                                            <p:strVal val="#ppt_x"/>
                                          </p:val>
                                        </p:tav>
                                      </p:tavLst>
                                    </p:anim>
                                    <p:anim calcmode="lin" valueType="num">
                                      <p:cBhvr additive="base">
                                        <p:cTn id="15" dur="500" fill="hold"/>
                                        <p:tgtEl>
                                          <p:spTgt spid="7"/>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85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1+#ppt_w/2"/>
                                          </p:val>
                                        </p:tav>
                                        <p:tav tm="100000">
                                          <p:val>
                                            <p:strVal val="#ppt_x"/>
                                          </p:val>
                                        </p:tav>
                                      </p:tavLst>
                                    </p:anim>
                                    <p:anim calcmode="lin" valueType="num">
                                      <p:cBhvr additive="base">
                                        <p:cTn id="19" dur="500" fill="hold"/>
                                        <p:tgtEl>
                                          <p:spTgt spid="8"/>
                                        </p:tgtEl>
                                        <p:attrNameLst>
                                          <p:attrName>ppt_y</p:attrName>
                                        </p:attrNameLst>
                                      </p:cBhvr>
                                      <p:tavLst>
                                        <p:tav tm="0">
                                          <p:val>
                                            <p:strVal val="#ppt_y"/>
                                          </p:val>
                                        </p:tav>
                                        <p:tav tm="100000">
                                          <p:val>
                                            <p:strVal val="#ppt_y"/>
                                          </p:val>
                                        </p:tav>
                                      </p:tavLst>
                                    </p:anim>
                                  </p:childTnLst>
                                </p:cTn>
                              </p:par>
                              <p:par>
                                <p:cTn id="20" presetID="2" presetClass="entr" presetSubtype="2" fill="hold" nodeType="withEffect">
                                  <p:stCondLst>
                                    <p:cond delay="85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1+#ppt_w/2"/>
                                          </p:val>
                                        </p:tav>
                                        <p:tav tm="100000">
                                          <p:val>
                                            <p:strVal val="#ppt_x"/>
                                          </p:val>
                                        </p:tav>
                                      </p:tavLst>
                                    </p:anim>
                                    <p:anim calcmode="lin" valueType="num">
                                      <p:cBhvr additive="base">
                                        <p:cTn id="23" dur="500" fill="hold"/>
                                        <p:tgtEl>
                                          <p:spTgt spid="9"/>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110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1+#ppt_w/2"/>
                                          </p:val>
                                        </p:tav>
                                        <p:tav tm="100000">
                                          <p:val>
                                            <p:strVal val="#ppt_x"/>
                                          </p:val>
                                        </p:tav>
                                      </p:tavLst>
                                    </p:anim>
                                    <p:anim calcmode="lin" valueType="num">
                                      <p:cBhvr additive="base">
                                        <p:cTn id="27" dur="500" fill="hold"/>
                                        <p:tgtEl>
                                          <p:spTgt spid="10"/>
                                        </p:tgtEl>
                                        <p:attrNameLst>
                                          <p:attrName>ppt_y</p:attrName>
                                        </p:attrNameLst>
                                      </p:cBhvr>
                                      <p:tavLst>
                                        <p:tav tm="0">
                                          <p:val>
                                            <p:strVal val="#ppt_y"/>
                                          </p:val>
                                        </p:tav>
                                        <p:tav tm="100000">
                                          <p:val>
                                            <p:strVal val="#ppt_y"/>
                                          </p:val>
                                        </p:tav>
                                      </p:tavLst>
                                    </p:anim>
                                  </p:childTnLst>
                                </p:cTn>
                              </p:par>
                              <p:par>
                                <p:cTn id="28" presetID="2" presetClass="entr" presetSubtype="2" fill="hold" nodeType="withEffect">
                                  <p:stCondLst>
                                    <p:cond delay="110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1+#ppt_w/2"/>
                                          </p:val>
                                        </p:tav>
                                        <p:tav tm="100000">
                                          <p:val>
                                            <p:strVal val="#ppt_x"/>
                                          </p:val>
                                        </p:tav>
                                      </p:tavLst>
                                    </p:anim>
                                    <p:anim calcmode="lin" valueType="num">
                                      <p:cBhvr additive="base">
                                        <p:cTn id="31" dur="500" fill="hold"/>
                                        <p:tgtEl>
                                          <p:spTgt spid="11"/>
                                        </p:tgtEl>
                                        <p:attrNameLst>
                                          <p:attrName>ppt_y</p:attrName>
                                        </p:attrNameLst>
                                      </p:cBhvr>
                                      <p:tavLst>
                                        <p:tav tm="0">
                                          <p:val>
                                            <p:strVal val="#ppt_y"/>
                                          </p:val>
                                        </p:tav>
                                        <p:tav tm="100000">
                                          <p:val>
                                            <p:strVal val="#ppt_y"/>
                                          </p:val>
                                        </p:tav>
                                      </p:tavLst>
                                    </p:anim>
                                  </p:childTnLst>
                                </p:cTn>
                              </p:par>
                              <p:par>
                                <p:cTn id="32" presetID="2" presetClass="entr" presetSubtype="2" fill="hold" nodeType="withEffect">
                                  <p:stCondLst>
                                    <p:cond delay="135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ppt_x</p:attrName>
                                        </p:attrNameLst>
                                      </p:cBhvr>
                                      <p:tavLst>
                                        <p:tav tm="0">
                                          <p:val>
                                            <p:strVal val="1+#ppt_w/2"/>
                                          </p:val>
                                        </p:tav>
                                        <p:tav tm="100000">
                                          <p:val>
                                            <p:strVal val="#ppt_x"/>
                                          </p:val>
                                        </p:tav>
                                      </p:tavLst>
                                    </p:anim>
                                    <p:anim calcmode="lin" valueType="num">
                                      <p:cBhvr additive="base">
                                        <p:cTn id="35" dur="500" fill="hold"/>
                                        <p:tgtEl>
                                          <p:spTgt spid="12"/>
                                        </p:tgtEl>
                                        <p:attrNameLst>
                                          <p:attrName>ppt_y</p:attrName>
                                        </p:attrNameLst>
                                      </p:cBhvr>
                                      <p:tavLst>
                                        <p:tav tm="0">
                                          <p:val>
                                            <p:strVal val="#ppt_y"/>
                                          </p:val>
                                        </p:tav>
                                        <p:tav tm="100000">
                                          <p:val>
                                            <p:strVal val="#ppt_y"/>
                                          </p:val>
                                        </p:tav>
                                      </p:tavLst>
                                    </p:anim>
                                  </p:childTnLst>
                                </p:cTn>
                              </p:par>
                              <p:par>
                                <p:cTn id="36" presetID="2" presetClass="entr" presetSubtype="2" fill="hold" nodeType="withEffect">
                                  <p:stCondLst>
                                    <p:cond delay="135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1+#ppt_w/2"/>
                                          </p:val>
                                        </p:tav>
                                        <p:tav tm="100000">
                                          <p:val>
                                            <p:strVal val="#ppt_x"/>
                                          </p:val>
                                        </p:tav>
                                      </p:tavLst>
                                    </p:anim>
                                    <p:anim calcmode="lin" valueType="num">
                                      <p:cBhvr additive="base">
                                        <p:cTn id="39"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secnum"/>
          <p:cNvSpPr txBox="1"/>
          <p:nvPr/>
        </p:nvSpPr>
        <p:spPr>
          <a:xfrm>
            <a:off x="731520" y="1051560"/>
            <a:ext cx="1371600" cy="1371600"/>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04</a:t>
            </a:r>
            <a:endParaRPr lang="en-US" sz="4400" dirty="0"/>
          </a:p>
        </p:txBody>
      </p:sp>
      <p:sp>
        <p:nvSpPr>
          <p:cNvPr id="4" name="!!title"/>
          <p:cNvSpPr txBox="1"/>
          <p:nvPr/>
        </p:nvSpPr>
        <p:spPr>
          <a:xfrm>
            <a:off x="731520" y="2697480"/>
            <a:ext cx="7680960" cy="86868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Results and Evaluation</a:t>
            </a:r>
            <a:endParaRPr lang="en-US" sz="4000" dirty="0"/>
          </a:p>
        </p:txBody>
      </p:sp>
      <p:sp>
        <p:nvSpPr>
          <p:cNvPr id="5" name="!!subtitle"/>
          <p:cNvSpPr txBox="1"/>
          <p:nvPr/>
        </p:nvSpPr>
        <p:spPr>
          <a:xfrm>
            <a:off x="731520" y="3611880"/>
            <a:ext cx="7498080" cy="640080"/>
          </a:xfrm>
          <a:prstGeom prst="rect">
            <a:avLst/>
          </a:prstGeom>
          <a:noFill/>
          <a:ln/>
        </p:spPr>
        <p:txBody>
          <a:bodyPr wrap="square" lIns="0" tIns="0" rIns="0" bIns="0" rtlCol="0" anchor="t"/>
          <a:lstStyle/>
          <a:p>
            <a:pPr marL="0" indent="0">
              <a:buNone/>
            </a:pPr>
            <a:r>
              <a:rPr lang="en-US" sz="1600" dirty="0">
                <a:solidFill>
                  <a:srgbClr val="B9C9DA"/>
                </a:solidFill>
                <a:latin typeface="Calibri" pitchFamily="34" charset="0"/>
                <a:ea typeface="Calibri" pitchFamily="34" charset="-122"/>
                <a:cs typeface="Calibri" pitchFamily="34" charset="-120"/>
              </a:rPr>
              <a:t>Which model won, where it errs, and what it relies on</a:t>
            </a:r>
            <a:endParaRPr lang="en-US" sz="16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9FB4CC"/>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Model showdown: XGBoost wins every metric</a:t>
            </a:r>
            <a:endParaRPr lang="en-US" sz="2600" dirty="0"/>
          </a:p>
        </p:txBody>
      </p:sp>
      <p:graphicFrame>
        <p:nvGraphicFramePr>
          <p:cNvPr id="19" name="s18_table"/>
          <p:cNvGraphicFramePr>
            <a:graphicFrameLocks noGrp="1"/>
          </p:cNvGraphicFramePr>
          <p:nvPr>
            <p:extLst>
              <p:ext uri="{D42A27DB-BD31-4B8C-83A1-F6EECF244321}">
                <p14:modId xmlns:p14="http://schemas.microsoft.com/office/powerpoint/2010/main" val="1579011935"/>
              </p:ext>
            </p:extLst>
          </p:nvPr>
        </p:nvGraphicFramePr>
        <p:xfrm>
          <a:off x="548640" y="1188720"/>
          <a:ext cx="4297680" cy="1874520"/>
        </p:xfrm>
        <a:graphic>
          <a:graphicData uri="http://schemas.openxmlformats.org/drawingml/2006/table">
            <a:tbl>
              <a:tblPr/>
              <a:tblGrid>
                <a:gridCol w="13716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411480">
                <a:tc>
                  <a:txBody>
                    <a:bodyPr/>
                    <a:lstStyle/>
                    <a:p>
                      <a:pPr marL="0" indent="0" algn="ctr">
                        <a:buNone/>
                      </a:pPr>
                      <a:r>
                        <a:rPr lang="en-US" sz="1050" b="1" dirty="0">
                          <a:solidFill>
                            <a:srgbClr val="FFFFFF"/>
                          </a:solidFill>
                        </a:rPr>
                        <a:t>Model</a:t>
                      </a:r>
                      <a:endParaRPr lang="en-US" sz="105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Accuracy</a:t>
                      </a:r>
                      <a:endParaRPr lang="en-US" sz="105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Macro-F1</a:t>
                      </a:r>
                      <a:endParaRPr lang="en-US" sz="105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AUC</a:t>
                      </a:r>
                      <a:endParaRPr lang="en-US" sz="105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050" b="1" dirty="0">
                          <a:solidFill>
                            <a:srgbClr val="FFFFFF"/>
                          </a:solidFill>
                        </a:rPr>
                        <a:t>Errors / 4,000</a:t>
                      </a:r>
                      <a:endParaRPr lang="en-US" sz="105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extLst>
                  <a:ext uri="{0D108BD9-81ED-4DB2-BD59-A6C34878D82A}">
                    <a16:rowId xmlns:a16="http://schemas.microsoft.com/office/drawing/2014/main" val="10000"/>
                  </a:ext>
                </a:extLst>
              </a:tr>
              <a:tr h="365760">
                <a:tc>
                  <a:txBody>
                    <a:bodyPr/>
                    <a:lstStyle/>
                    <a:p>
                      <a:pPr marL="0" indent="0" algn="l">
                        <a:buNone/>
                      </a:pPr>
                      <a:r>
                        <a:rPr lang="en-US" sz="1100" b="1" dirty="0">
                          <a:solidFill>
                            <a:srgbClr val="C75B39"/>
                          </a:solidFill>
                        </a:rPr>
                        <a:t>XGBoost</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BEAE4"/>
                    </a:solidFill>
                  </a:tcPr>
                </a:tc>
                <a:tc>
                  <a:txBody>
                    <a:bodyPr/>
                    <a:lstStyle/>
                    <a:p>
                      <a:pPr marL="0" indent="0" algn="ctr">
                        <a:buNone/>
                      </a:pPr>
                      <a:r>
                        <a:rPr lang="en-US" sz="1100" b="1" dirty="0">
                          <a:solidFill>
                            <a:srgbClr val="C75B39"/>
                          </a:solidFill>
                        </a:rPr>
                        <a:t>95.28%</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BEAE4"/>
                    </a:solidFill>
                  </a:tcPr>
                </a:tc>
                <a:tc>
                  <a:txBody>
                    <a:bodyPr/>
                    <a:lstStyle/>
                    <a:p>
                      <a:pPr marL="0" indent="0" algn="ctr">
                        <a:buNone/>
                      </a:pPr>
                      <a:r>
                        <a:rPr lang="en-US" sz="1100" b="1" dirty="0">
                          <a:solidFill>
                            <a:srgbClr val="C75B39"/>
                          </a:solidFill>
                        </a:rPr>
                        <a:t>94.23%</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BEAE4"/>
                    </a:solidFill>
                  </a:tcPr>
                </a:tc>
                <a:tc>
                  <a:txBody>
                    <a:bodyPr/>
                    <a:lstStyle/>
                    <a:p>
                      <a:pPr marL="0" indent="0" algn="ctr">
                        <a:buNone/>
                      </a:pPr>
                      <a:r>
                        <a:rPr lang="en-US" sz="1100" b="1" dirty="0">
                          <a:solidFill>
                            <a:srgbClr val="C75B39"/>
                          </a:solidFill>
                        </a:rPr>
                        <a:t>0.995</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BEAE4"/>
                    </a:solidFill>
                  </a:tcPr>
                </a:tc>
                <a:tc>
                  <a:txBody>
                    <a:bodyPr/>
                    <a:lstStyle/>
                    <a:p>
                      <a:pPr marL="0" indent="0" algn="ctr">
                        <a:buNone/>
                      </a:pPr>
                      <a:r>
                        <a:rPr lang="en-US" sz="1100" b="1" dirty="0">
                          <a:solidFill>
                            <a:srgbClr val="C75B39"/>
                          </a:solidFill>
                        </a:rPr>
                        <a:t>189</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BEAE4"/>
                    </a:solidFill>
                  </a:tcPr>
                </a:tc>
                <a:extLst>
                  <a:ext uri="{0D108BD9-81ED-4DB2-BD59-A6C34878D82A}">
                    <a16:rowId xmlns:a16="http://schemas.microsoft.com/office/drawing/2014/main" val="10001"/>
                  </a:ext>
                </a:extLst>
              </a:tr>
              <a:tr h="365760">
                <a:tc>
                  <a:txBody>
                    <a:bodyPr/>
                    <a:lstStyle/>
                    <a:p>
                      <a:pPr marL="0" indent="0" algn="l">
                        <a:buNone/>
                      </a:pPr>
                      <a:r>
                        <a:rPr lang="en-US" sz="1100" b="1" dirty="0">
                          <a:solidFill>
                            <a:srgbClr val="333333"/>
                          </a:solidFill>
                        </a:rPr>
                        <a:t>Random forest</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94.65%</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93.65%</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0.993</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214</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2"/>
                  </a:ext>
                </a:extLst>
              </a:tr>
              <a:tr h="365760">
                <a:tc>
                  <a:txBody>
                    <a:bodyPr/>
                    <a:lstStyle/>
                    <a:p>
                      <a:pPr marL="0" indent="0" algn="l">
                        <a:buNone/>
                      </a:pPr>
                      <a:r>
                        <a:rPr lang="en-US" sz="1100" b="1" dirty="0">
                          <a:solidFill>
                            <a:srgbClr val="333333"/>
                          </a:solidFill>
                        </a:rPr>
                        <a:t>Logistic regression</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94.48%</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93.30%</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0.990</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333333"/>
                          </a:solidFill>
                        </a:rPr>
                        <a:t>221</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100" b="1" dirty="0">
                          <a:solidFill>
                            <a:srgbClr val="333333"/>
                          </a:solidFill>
                        </a:rPr>
                        <a:t>Decision tree</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94.15%</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92.99%</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0.983</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lgn="ctr">
                        <a:buNone/>
                      </a:pPr>
                      <a:r>
                        <a:rPr lang="en-US" sz="1100" dirty="0">
                          <a:solidFill>
                            <a:srgbClr val="333333"/>
                          </a:solidFill>
                        </a:rPr>
                        <a:t>234</a:t>
                      </a:r>
                      <a:endParaRPr lang="en-US" sz="1100" dirty="0"/>
                    </a:p>
                  </a:txBody>
                  <a:tcPr marL="45720" marR="45720"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4"/>
                  </a:ext>
                </a:extLst>
              </a:tr>
            </a:tbl>
          </a:graphicData>
        </a:graphic>
      </p:graphicFrame>
      <p:sp>
        <p:nvSpPr>
          <p:cNvPr id="6" name="s18_def"/>
          <p:cNvSpPr txBox="1"/>
          <p:nvPr/>
        </p:nvSpPr>
        <p:spPr>
          <a:xfrm>
            <a:off x="548640" y="3200400"/>
            <a:ext cx="4297680" cy="685800"/>
          </a:xfrm>
          <a:prstGeom prst="rect">
            <a:avLst/>
          </a:prstGeom>
          <a:noFill/>
          <a:ln/>
        </p:spPr>
        <p:txBody>
          <a:bodyPr wrap="square" lIns="0" tIns="0" rIns="0" bIns="0" rtlCol="0" anchor="t"/>
          <a:lstStyle/>
          <a:p>
            <a:pPr marL="0" indent="0">
              <a:buNone/>
            </a:pPr>
            <a:r>
              <a:rPr lang="en-US" sz="1100" b="1" dirty="0">
                <a:solidFill>
                  <a:srgbClr val="1B3A5F"/>
                </a:solidFill>
                <a:latin typeface="Calibri" pitchFamily="34" charset="0"/>
                <a:ea typeface="Calibri" pitchFamily="34" charset="-122"/>
                <a:cs typeface="Calibri" pitchFamily="34" charset="-120"/>
              </a:rPr>
              <a:t>Macro-F1: </a:t>
            </a:r>
            <a:r>
              <a:rPr lang="en-US" sz="1100" dirty="0">
                <a:solidFill>
                  <a:srgbClr val="333333"/>
                </a:solidFill>
                <a:latin typeface="Calibri" pitchFamily="34" charset="0"/>
                <a:ea typeface="Calibri" pitchFamily="34" charset="-122"/>
                <a:cs typeface="Calibri" pitchFamily="34" charset="-120"/>
              </a:rPr>
              <a:t>grades minor, major and fatal equally. </a:t>
            </a:r>
            <a:r>
              <a:rPr lang="en-US" sz="1100" b="1" dirty="0">
                <a:solidFill>
                  <a:srgbClr val="1B3A5F"/>
                </a:solidFill>
                <a:latin typeface="Calibri" pitchFamily="34" charset="0"/>
                <a:ea typeface="Calibri" pitchFamily="34" charset="-122"/>
                <a:cs typeface="Calibri" pitchFamily="34" charset="-120"/>
              </a:rPr>
              <a:t>AUC: </a:t>
            </a:r>
            <a:r>
              <a:rPr lang="en-US" sz="1100" dirty="0">
                <a:solidFill>
                  <a:srgbClr val="333333"/>
                </a:solidFill>
                <a:latin typeface="Calibri" pitchFamily="34" charset="0"/>
                <a:ea typeface="Calibri" pitchFamily="34" charset="-122"/>
                <a:cs typeface="Calibri" pitchFamily="34" charset="-120"/>
              </a:rPr>
              <a:t>how well crashes are ranked by seriousness (1.0 = perfect).</a:t>
            </a:r>
            <a:endParaRPr lang="en-US" sz="1100" dirty="0"/>
          </a:p>
        </p:txBody>
      </p:sp>
      <p:graphicFrame>
        <p:nvGraphicFramePr>
          <p:cNvPr id="7" name="s18_chart"/>
          <p:cNvGraphicFramePr/>
          <p:nvPr/>
        </p:nvGraphicFramePr>
        <p:xfrm>
          <a:off x="5029200" y="1143000"/>
          <a:ext cx="36118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8" name="s18_axis"/>
          <p:cNvSpPr txBox="1"/>
          <p:nvPr/>
        </p:nvSpPr>
        <p:spPr>
          <a:xfrm>
            <a:off x="5029200" y="4160520"/>
            <a:ext cx="3611880" cy="228600"/>
          </a:xfrm>
          <a:prstGeom prst="rect">
            <a:avLst/>
          </a:prstGeom>
          <a:noFill/>
          <a:ln/>
        </p:spPr>
        <p:txBody>
          <a:bodyPr wrap="square" lIns="0" tIns="0" rIns="0" bIns="0" rtlCol="0" anchor="t"/>
          <a:lstStyle/>
          <a:p>
            <a:pPr marL="0" indent="0">
              <a:buNone/>
            </a:pPr>
            <a:r>
              <a:rPr lang="en-US" sz="950" i="1" dirty="0">
                <a:solidFill>
                  <a:srgbClr val="6B7785"/>
                </a:solidFill>
                <a:latin typeface="Calibri" pitchFamily="34" charset="0"/>
                <a:ea typeface="Calibri" pitchFamily="34" charset="-122"/>
                <a:cs typeface="Calibri" pitchFamily="34" charset="-120"/>
              </a:rPr>
              <a:t>Axis starts at 90% to show small gaps (real gap ≈ 1 point).</a:t>
            </a:r>
            <a:endParaRPr lang="en-US" sz="95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600"/>
                                        <p:tgtEl>
                                          <p:spTgt spid="19"/>
                                        </p:tgtEl>
                                      </p:cBhvr>
                                    </p:animEffect>
                                  </p:childTnLst>
                                </p:cTn>
                              </p:par>
                              <p:par>
                                <p:cTn id="8" presetID="10" presetClass="entr" presetSubtype="0" fill="hold" nodeType="withEffect">
                                  <p:stCondLst>
                                    <p:cond delay="4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800"/>
                                  </p:stCondLst>
                                  <p:childTnLst>
                                    <p:set>
                                      <p:cBhvr>
                                        <p:cTn id="12" dur="1" fill="hold">
                                          <p:stCondLst>
                                            <p:cond delay="0"/>
                                          </p:stCondLst>
                                        </p:cTn>
                                        <p:tgtEl>
                                          <p:spTgt spid="7">
                                            <p:graphicEl>
                                              <a:chart seriesIdx="-3" categoryIdx="-3" bldStep="gridLegend"/>
                                            </p:graphicEl>
                                          </p:spTgt>
                                        </p:tgtEl>
                                        <p:attrNameLst>
                                          <p:attrName>style.visibility</p:attrName>
                                        </p:attrNameLst>
                                      </p:cBhvr>
                                      <p:to>
                                        <p:strVal val="visible"/>
                                      </p:to>
                                    </p:set>
                                    <p:animEffect transition="in" filter="fade">
                                      <p:cBhvr>
                                        <p:cTn id="13" dur="400"/>
                                        <p:tgtEl>
                                          <p:spTgt spid="7">
                                            <p:graphicEl>
                                              <a:chart seriesIdx="-3" categoryIdx="-3" bldStep="gridLegend"/>
                                            </p:graphicEl>
                                          </p:spTgt>
                                        </p:tgtEl>
                                      </p:cBhvr>
                                    </p:animEffect>
                                  </p:childTnLst>
                                </p:cTn>
                              </p:par>
                              <p:par>
                                <p:cTn id="14" presetID="10" presetClass="entr" presetSubtype="0" fill="hold" grpId="0" nodeType="withEffect">
                                  <p:stCondLst>
                                    <p:cond delay="1200"/>
                                  </p:stCondLst>
                                  <p:childTnLst>
                                    <p:set>
                                      <p:cBhvr>
                                        <p:cTn id="15" dur="1" fill="hold">
                                          <p:stCondLst>
                                            <p:cond delay="0"/>
                                          </p:stCondLst>
                                        </p:cTn>
                                        <p:tgtEl>
                                          <p:spTgt spid="7">
                                            <p:graphicEl>
                                              <a:chart seriesIdx="0" categoryIdx="0" bldStep="ptInSeries"/>
                                            </p:graphicEl>
                                          </p:spTgt>
                                        </p:tgtEl>
                                        <p:attrNameLst>
                                          <p:attrName>style.visibility</p:attrName>
                                        </p:attrNameLst>
                                      </p:cBhvr>
                                      <p:to>
                                        <p:strVal val="visible"/>
                                      </p:to>
                                    </p:set>
                                    <p:animEffect transition="in" filter="fade">
                                      <p:cBhvr>
                                        <p:cTn id="16" dur="400"/>
                                        <p:tgtEl>
                                          <p:spTgt spid="7">
                                            <p:graphicEl>
                                              <a:chart seriesIdx="0" categoryIdx="0" bldStep="ptInSeries"/>
                                            </p:graphicEl>
                                          </p:spTgt>
                                        </p:tgtEl>
                                      </p:cBhvr>
                                    </p:animEffect>
                                  </p:childTnLst>
                                </p:cTn>
                              </p:par>
                              <p:par>
                                <p:cTn id="17" presetID="10" presetClass="entr" presetSubtype="0" fill="hold" grpId="0" nodeType="withEffect">
                                  <p:stCondLst>
                                    <p:cond delay="1450"/>
                                  </p:stCondLst>
                                  <p:childTnLst>
                                    <p:set>
                                      <p:cBhvr>
                                        <p:cTn id="18" dur="1" fill="hold">
                                          <p:stCondLst>
                                            <p:cond delay="0"/>
                                          </p:stCondLst>
                                        </p:cTn>
                                        <p:tgtEl>
                                          <p:spTgt spid="7">
                                            <p:graphicEl>
                                              <a:chart seriesIdx="0" categoryIdx="1" bldStep="ptInSeries"/>
                                            </p:graphicEl>
                                          </p:spTgt>
                                        </p:tgtEl>
                                        <p:attrNameLst>
                                          <p:attrName>style.visibility</p:attrName>
                                        </p:attrNameLst>
                                      </p:cBhvr>
                                      <p:to>
                                        <p:strVal val="visible"/>
                                      </p:to>
                                    </p:set>
                                    <p:animEffect transition="in" filter="fade">
                                      <p:cBhvr>
                                        <p:cTn id="19" dur="400"/>
                                        <p:tgtEl>
                                          <p:spTgt spid="7">
                                            <p:graphicEl>
                                              <a:chart seriesIdx="0" categoryIdx="1" bldStep="ptInSeries"/>
                                            </p:graphicEl>
                                          </p:spTgt>
                                        </p:tgtEl>
                                      </p:cBhvr>
                                    </p:animEffect>
                                  </p:childTnLst>
                                </p:cTn>
                              </p:par>
                              <p:par>
                                <p:cTn id="20" presetID="10" presetClass="entr" presetSubtype="0" fill="hold" grpId="0" nodeType="withEffect">
                                  <p:stCondLst>
                                    <p:cond delay="1700"/>
                                  </p:stCondLst>
                                  <p:childTnLst>
                                    <p:set>
                                      <p:cBhvr>
                                        <p:cTn id="21" dur="1" fill="hold">
                                          <p:stCondLst>
                                            <p:cond delay="0"/>
                                          </p:stCondLst>
                                        </p:cTn>
                                        <p:tgtEl>
                                          <p:spTgt spid="7">
                                            <p:graphicEl>
                                              <a:chart seriesIdx="0" categoryIdx="2" bldStep="ptInSeries"/>
                                            </p:graphicEl>
                                          </p:spTgt>
                                        </p:tgtEl>
                                        <p:attrNameLst>
                                          <p:attrName>style.visibility</p:attrName>
                                        </p:attrNameLst>
                                      </p:cBhvr>
                                      <p:to>
                                        <p:strVal val="visible"/>
                                      </p:to>
                                    </p:set>
                                    <p:animEffect transition="in" filter="fade">
                                      <p:cBhvr>
                                        <p:cTn id="22" dur="400"/>
                                        <p:tgtEl>
                                          <p:spTgt spid="7">
                                            <p:graphicEl>
                                              <a:chart seriesIdx="0" categoryIdx="2" bldStep="ptInSeries"/>
                                            </p:graphicEl>
                                          </p:spTgt>
                                        </p:tgtEl>
                                      </p:cBhvr>
                                    </p:animEffect>
                                  </p:childTnLst>
                                </p:cTn>
                              </p:par>
                              <p:par>
                                <p:cTn id="23" presetID="10" presetClass="entr" presetSubtype="0" fill="hold" grpId="0" nodeType="withEffect">
                                  <p:stCondLst>
                                    <p:cond delay="1950"/>
                                  </p:stCondLst>
                                  <p:childTnLst>
                                    <p:set>
                                      <p:cBhvr>
                                        <p:cTn id="24" dur="1" fill="hold">
                                          <p:stCondLst>
                                            <p:cond delay="0"/>
                                          </p:stCondLst>
                                        </p:cTn>
                                        <p:tgtEl>
                                          <p:spTgt spid="7">
                                            <p:graphicEl>
                                              <a:chart seriesIdx="0" categoryIdx="3" bldStep="ptInSeries"/>
                                            </p:graphicEl>
                                          </p:spTgt>
                                        </p:tgtEl>
                                        <p:attrNameLst>
                                          <p:attrName>style.visibility</p:attrName>
                                        </p:attrNameLst>
                                      </p:cBhvr>
                                      <p:to>
                                        <p:strVal val="visible"/>
                                      </p:to>
                                    </p:set>
                                    <p:animEffect transition="in" filter="fade">
                                      <p:cBhvr>
                                        <p:cTn id="25" dur="400"/>
                                        <p:tgtEl>
                                          <p:spTgt spid="7">
                                            <p:graphicEl>
                                              <a:chart seriesIdx="0" categoryIdx="3" bldStep="ptInSeries"/>
                                            </p:graphicEl>
                                          </p:spTgt>
                                        </p:tgtEl>
                                      </p:cBhvr>
                                    </p:animEffect>
                                  </p:childTnLst>
                                </p:cTn>
                              </p:par>
                              <p:par>
                                <p:cTn id="26" presetID="10" presetClass="entr" presetSubtype="0" fill="hold" grpId="0" nodeType="withEffect">
                                  <p:stCondLst>
                                    <p:cond delay="2200"/>
                                  </p:stCondLst>
                                  <p:childTnLst>
                                    <p:set>
                                      <p:cBhvr>
                                        <p:cTn id="27" dur="1" fill="hold">
                                          <p:stCondLst>
                                            <p:cond delay="0"/>
                                          </p:stCondLst>
                                        </p:cTn>
                                        <p:tgtEl>
                                          <p:spTgt spid="7">
                                            <p:graphicEl>
                                              <a:chart seriesIdx="1" categoryIdx="0" bldStep="ptInSeries"/>
                                            </p:graphicEl>
                                          </p:spTgt>
                                        </p:tgtEl>
                                        <p:attrNameLst>
                                          <p:attrName>style.visibility</p:attrName>
                                        </p:attrNameLst>
                                      </p:cBhvr>
                                      <p:to>
                                        <p:strVal val="visible"/>
                                      </p:to>
                                    </p:set>
                                    <p:animEffect transition="in" filter="fade">
                                      <p:cBhvr>
                                        <p:cTn id="28" dur="400"/>
                                        <p:tgtEl>
                                          <p:spTgt spid="7">
                                            <p:graphicEl>
                                              <a:chart seriesIdx="1" categoryIdx="0" bldStep="ptInSeries"/>
                                            </p:graphicEl>
                                          </p:spTgt>
                                        </p:tgtEl>
                                      </p:cBhvr>
                                    </p:animEffect>
                                  </p:childTnLst>
                                </p:cTn>
                              </p:par>
                              <p:par>
                                <p:cTn id="29" presetID="10" presetClass="entr" presetSubtype="0" fill="hold" grpId="0" nodeType="withEffect">
                                  <p:stCondLst>
                                    <p:cond delay="2450"/>
                                  </p:stCondLst>
                                  <p:childTnLst>
                                    <p:set>
                                      <p:cBhvr>
                                        <p:cTn id="30" dur="1" fill="hold">
                                          <p:stCondLst>
                                            <p:cond delay="0"/>
                                          </p:stCondLst>
                                        </p:cTn>
                                        <p:tgtEl>
                                          <p:spTgt spid="7">
                                            <p:graphicEl>
                                              <a:chart seriesIdx="1" categoryIdx="1" bldStep="ptInSeries"/>
                                            </p:graphicEl>
                                          </p:spTgt>
                                        </p:tgtEl>
                                        <p:attrNameLst>
                                          <p:attrName>style.visibility</p:attrName>
                                        </p:attrNameLst>
                                      </p:cBhvr>
                                      <p:to>
                                        <p:strVal val="visible"/>
                                      </p:to>
                                    </p:set>
                                    <p:animEffect transition="in" filter="fade">
                                      <p:cBhvr>
                                        <p:cTn id="31" dur="400"/>
                                        <p:tgtEl>
                                          <p:spTgt spid="7">
                                            <p:graphicEl>
                                              <a:chart seriesIdx="1" categoryIdx="1" bldStep="ptInSeries"/>
                                            </p:graphicEl>
                                          </p:spTgt>
                                        </p:tgtEl>
                                      </p:cBhvr>
                                    </p:animEffect>
                                  </p:childTnLst>
                                </p:cTn>
                              </p:par>
                              <p:par>
                                <p:cTn id="32" presetID="10" presetClass="entr" presetSubtype="0" fill="hold" grpId="0" nodeType="withEffect">
                                  <p:stCondLst>
                                    <p:cond delay="2700"/>
                                  </p:stCondLst>
                                  <p:childTnLst>
                                    <p:set>
                                      <p:cBhvr>
                                        <p:cTn id="33" dur="1" fill="hold">
                                          <p:stCondLst>
                                            <p:cond delay="0"/>
                                          </p:stCondLst>
                                        </p:cTn>
                                        <p:tgtEl>
                                          <p:spTgt spid="7">
                                            <p:graphicEl>
                                              <a:chart seriesIdx="1" categoryIdx="2" bldStep="ptInSeries"/>
                                            </p:graphicEl>
                                          </p:spTgt>
                                        </p:tgtEl>
                                        <p:attrNameLst>
                                          <p:attrName>style.visibility</p:attrName>
                                        </p:attrNameLst>
                                      </p:cBhvr>
                                      <p:to>
                                        <p:strVal val="visible"/>
                                      </p:to>
                                    </p:set>
                                    <p:animEffect transition="in" filter="fade">
                                      <p:cBhvr>
                                        <p:cTn id="34" dur="400"/>
                                        <p:tgtEl>
                                          <p:spTgt spid="7">
                                            <p:graphicEl>
                                              <a:chart seriesIdx="1" categoryIdx="2" bldStep="ptInSeries"/>
                                            </p:graphicEl>
                                          </p:spTgt>
                                        </p:tgtEl>
                                      </p:cBhvr>
                                    </p:animEffect>
                                  </p:childTnLst>
                                </p:cTn>
                              </p:par>
                              <p:par>
                                <p:cTn id="35" presetID="10" presetClass="entr" presetSubtype="0" fill="hold" grpId="0" nodeType="withEffect">
                                  <p:stCondLst>
                                    <p:cond delay="2950"/>
                                  </p:stCondLst>
                                  <p:childTnLst>
                                    <p:set>
                                      <p:cBhvr>
                                        <p:cTn id="36" dur="1" fill="hold">
                                          <p:stCondLst>
                                            <p:cond delay="0"/>
                                          </p:stCondLst>
                                        </p:cTn>
                                        <p:tgtEl>
                                          <p:spTgt spid="7">
                                            <p:graphicEl>
                                              <a:chart seriesIdx="1" categoryIdx="3" bldStep="ptInSeries"/>
                                            </p:graphicEl>
                                          </p:spTgt>
                                        </p:tgtEl>
                                        <p:attrNameLst>
                                          <p:attrName>style.visibility</p:attrName>
                                        </p:attrNameLst>
                                      </p:cBhvr>
                                      <p:to>
                                        <p:strVal val="visible"/>
                                      </p:to>
                                    </p:set>
                                    <p:animEffect transition="in" filter="fade">
                                      <p:cBhvr>
                                        <p:cTn id="37" dur="400"/>
                                        <p:tgtEl>
                                          <p:spTgt spid="7">
                                            <p:graphicEl>
                                              <a:chart seriesIdx="1" categoryIdx="3" bldStep="ptIn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Chart bld="seriesEl"/>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Where the errors are: the confusion matrix</a:t>
            </a:r>
            <a:endParaRPr lang="en-US" sz="2600" dirty="0"/>
          </a:p>
        </p:txBody>
      </p:sp>
      <p:sp>
        <p:nvSpPr>
          <p:cNvPr id="5" name="s19_ax"/>
          <p:cNvSpPr txBox="1"/>
          <p:nvPr/>
        </p:nvSpPr>
        <p:spPr>
          <a:xfrm>
            <a:off x="2103120" y="1188720"/>
            <a:ext cx="3429000" cy="228600"/>
          </a:xfrm>
          <a:prstGeom prst="rect">
            <a:avLst/>
          </a:prstGeom>
          <a:noFill/>
          <a:ln/>
        </p:spPr>
        <p:txBody>
          <a:bodyPr wrap="square" lIns="0" tIns="0" rIns="0" bIns="0" rtlCol="0" anchor="t"/>
          <a:lstStyle/>
          <a:p>
            <a:pPr marL="0" indent="0" algn="ctr">
              <a:buNone/>
            </a:pPr>
            <a:r>
              <a:rPr lang="en-US" sz="1200" b="1" dirty="0">
                <a:solidFill>
                  <a:srgbClr val="2E8B8B"/>
                </a:solidFill>
                <a:latin typeface="Calibri" pitchFamily="34" charset="0"/>
                <a:ea typeface="Calibri" pitchFamily="34" charset="-122"/>
                <a:cs typeface="Calibri" pitchFamily="34" charset="-120"/>
              </a:rPr>
              <a:t>Predicted by the model</a:t>
            </a:r>
            <a:endParaRPr lang="en-US" sz="1200" dirty="0"/>
          </a:p>
        </p:txBody>
      </p:sp>
      <p:sp>
        <p:nvSpPr>
          <p:cNvPr id="6" name="s19_ay"/>
          <p:cNvSpPr txBox="1"/>
          <p:nvPr/>
        </p:nvSpPr>
        <p:spPr>
          <a:xfrm>
            <a:off x="640080" y="2574950"/>
            <a:ext cx="822960" cy="274320"/>
          </a:xfrm>
          <a:prstGeom prst="rect">
            <a:avLst/>
          </a:prstGeom>
          <a:noFill/>
          <a:ln/>
        </p:spPr>
        <p:txBody>
          <a:bodyPr wrap="square" lIns="0" tIns="0" rIns="0" bIns="0" rtlCol="0" anchor="t"/>
          <a:lstStyle/>
          <a:p>
            <a:pPr marL="0" indent="0">
              <a:buNone/>
            </a:pPr>
            <a:r>
              <a:rPr lang="en-US" sz="1200" b="1" dirty="0">
                <a:solidFill>
                  <a:srgbClr val="2E8B8B"/>
                </a:solidFill>
                <a:latin typeface="Calibri" pitchFamily="34" charset="0"/>
                <a:ea typeface="Calibri" pitchFamily="34" charset="-122"/>
                <a:cs typeface="Calibri" pitchFamily="34" charset="-120"/>
              </a:rPr>
              <a:t>Actual</a:t>
            </a:r>
            <a:endParaRPr lang="en-US" sz="1200" dirty="0"/>
          </a:p>
        </p:txBody>
      </p:sp>
      <p:sp>
        <p:nvSpPr>
          <p:cNvPr id="7" name="!!ch0"/>
          <p:cNvSpPr txBox="1"/>
          <p:nvPr/>
        </p:nvSpPr>
        <p:spPr>
          <a:xfrm>
            <a:off x="2103120" y="1389888"/>
            <a:ext cx="1143000" cy="201168"/>
          </a:xfrm>
          <a:prstGeom prst="rect">
            <a:avLst/>
          </a:prstGeom>
          <a:noFill/>
          <a:ln/>
        </p:spPr>
        <p:txBody>
          <a:bodyPr wrap="square" lIns="0" tIns="0" rIns="0" bIns="0" rtlCol="0" anchor="t"/>
          <a:lstStyle/>
          <a:p>
            <a:pPr marL="0" indent="0" algn="ctr">
              <a:buNone/>
            </a:pPr>
            <a:r>
              <a:rPr lang="en-US" sz="1100" b="1" dirty="0">
                <a:solidFill>
                  <a:srgbClr val="1B3A5F"/>
                </a:solidFill>
                <a:latin typeface="Calibri" pitchFamily="34" charset="0"/>
                <a:ea typeface="Calibri" pitchFamily="34" charset="-122"/>
                <a:cs typeface="Calibri" pitchFamily="34" charset="-120"/>
              </a:rPr>
              <a:t>fatal</a:t>
            </a:r>
            <a:endParaRPr lang="en-US" sz="1100" dirty="0"/>
          </a:p>
        </p:txBody>
      </p:sp>
      <p:sp>
        <p:nvSpPr>
          <p:cNvPr id="8" name="!!ch1"/>
          <p:cNvSpPr txBox="1"/>
          <p:nvPr/>
        </p:nvSpPr>
        <p:spPr>
          <a:xfrm>
            <a:off x="3246120" y="1389888"/>
            <a:ext cx="1143000" cy="201168"/>
          </a:xfrm>
          <a:prstGeom prst="rect">
            <a:avLst/>
          </a:prstGeom>
          <a:noFill/>
          <a:ln/>
        </p:spPr>
        <p:txBody>
          <a:bodyPr wrap="square" lIns="0" tIns="0" rIns="0" bIns="0" rtlCol="0" anchor="t"/>
          <a:lstStyle/>
          <a:p>
            <a:pPr marL="0" indent="0" algn="ctr">
              <a:buNone/>
            </a:pPr>
            <a:r>
              <a:rPr lang="en-US" sz="1100" b="1" dirty="0">
                <a:solidFill>
                  <a:srgbClr val="1B3A5F"/>
                </a:solidFill>
                <a:latin typeface="Calibri" pitchFamily="34" charset="0"/>
                <a:ea typeface="Calibri" pitchFamily="34" charset="-122"/>
                <a:cs typeface="Calibri" pitchFamily="34" charset="-120"/>
              </a:rPr>
              <a:t>major</a:t>
            </a:r>
            <a:endParaRPr lang="en-US" sz="1100" dirty="0"/>
          </a:p>
        </p:txBody>
      </p:sp>
      <p:sp>
        <p:nvSpPr>
          <p:cNvPr id="9" name="!!ch2"/>
          <p:cNvSpPr txBox="1"/>
          <p:nvPr/>
        </p:nvSpPr>
        <p:spPr>
          <a:xfrm>
            <a:off x="4389120" y="1389888"/>
            <a:ext cx="1143000" cy="201168"/>
          </a:xfrm>
          <a:prstGeom prst="rect">
            <a:avLst/>
          </a:prstGeom>
          <a:noFill/>
          <a:ln/>
        </p:spPr>
        <p:txBody>
          <a:bodyPr wrap="square" lIns="0" tIns="0" rIns="0" bIns="0" rtlCol="0" anchor="t"/>
          <a:lstStyle/>
          <a:p>
            <a:pPr marL="0" indent="0" algn="ctr">
              <a:buNone/>
            </a:pPr>
            <a:r>
              <a:rPr lang="en-US" sz="1100" b="1" dirty="0">
                <a:solidFill>
                  <a:srgbClr val="1B3A5F"/>
                </a:solidFill>
                <a:latin typeface="Calibri" pitchFamily="34" charset="0"/>
                <a:ea typeface="Calibri" pitchFamily="34" charset="-122"/>
                <a:cs typeface="Calibri" pitchFamily="34" charset="-120"/>
              </a:rPr>
              <a:t>minor</a:t>
            </a:r>
            <a:endParaRPr lang="en-US" sz="1100" dirty="0"/>
          </a:p>
        </p:txBody>
      </p:sp>
      <p:sp>
        <p:nvSpPr>
          <p:cNvPr id="10" name="!!rh0"/>
          <p:cNvSpPr txBox="1"/>
          <p:nvPr/>
        </p:nvSpPr>
        <p:spPr>
          <a:xfrm>
            <a:off x="1280160" y="1600200"/>
            <a:ext cx="777240" cy="749808"/>
          </a:xfrm>
          <a:prstGeom prst="rect">
            <a:avLst/>
          </a:prstGeom>
          <a:noFill/>
          <a:ln/>
        </p:spPr>
        <p:txBody>
          <a:bodyPr wrap="square" lIns="0" tIns="0" rIns="0" bIns="0" rtlCol="0" anchor="ctr"/>
          <a:lstStyle/>
          <a:p>
            <a:pPr marL="0" indent="0" algn="r">
              <a:buNone/>
            </a:pPr>
            <a:r>
              <a:rPr lang="en-US" sz="1100" b="1" dirty="0">
                <a:solidFill>
                  <a:srgbClr val="1B3A5F"/>
                </a:solidFill>
                <a:latin typeface="Calibri" pitchFamily="34" charset="0"/>
                <a:ea typeface="Calibri" pitchFamily="34" charset="-122"/>
                <a:cs typeface="Calibri" pitchFamily="34" charset="-120"/>
              </a:rPr>
              <a:t>fatal</a:t>
            </a:r>
            <a:endParaRPr lang="en-US" sz="1100" dirty="0"/>
          </a:p>
        </p:txBody>
      </p:sp>
      <p:sp>
        <p:nvSpPr>
          <p:cNvPr id="11" name="!!rh1"/>
          <p:cNvSpPr txBox="1"/>
          <p:nvPr/>
        </p:nvSpPr>
        <p:spPr>
          <a:xfrm>
            <a:off x="1280160" y="2350008"/>
            <a:ext cx="777240" cy="749808"/>
          </a:xfrm>
          <a:prstGeom prst="rect">
            <a:avLst/>
          </a:prstGeom>
          <a:noFill/>
          <a:ln/>
        </p:spPr>
        <p:txBody>
          <a:bodyPr wrap="square" lIns="0" tIns="0" rIns="0" bIns="0" rtlCol="0" anchor="ctr"/>
          <a:lstStyle/>
          <a:p>
            <a:pPr marL="0" indent="0" algn="r">
              <a:buNone/>
            </a:pPr>
            <a:r>
              <a:rPr lang="en-US" sz="1100" b="1" dirty="0">
                <a:solidFill>
                  <a:srgbClr val="1B3A5F"/>
                </a:solidFill>
                <a:latin typeface="Calibri" pitchFamily="34" charset="0"/>
                <a:ea typeface="Calibri" pitchFamily="34" charset="-122"/>
                <a:cs typeface="Calibri" pitchFamily="34" charset="-120"/>
              </a:rPr>
              <a:t>major</a:t>
            </a:r>
            <a:endParaRPr lang="en-US" sz="1100" dirty="0"/>
          </a:p>
        </p:txBody>
      </p:sp>
      <p:sp>
        <p:nvSpPr>
          <p:cNvPr id="12" name="!!rh2"/>
          <p:cNvSpPr txBox="1"/>
          <p:nvPr/>
        </p:nvSpPr>
        <p:spPr>
          <a:xfrm>
            <a:off x="1280160" y="3099816"/>
            <a:ext cx="777240" cy="749808"/>
          </a:xfrm>
          <a:prstGeom prst="rect">
            <a:avLst/>
          </a:prstGeom>
          <a:noFill/>
          <a:ln/>
        </p:spPr>
        <p:txBody>
          <a:bodyPr wrap="square" lIns="0" tIns="0" rIns="0" bIns="0" rtlCol="0" anchor="ctr"/>
          <a:lstStyle/>
          <a:p>
            <a:pPr marL="0" indent="0" algn="r">
              <a:buNone/>
            </a:pPr>
            <a:r>
              <a:rPr lang="en-US" sz="1100" b="1" dirty="0">
                <a:solidFill>
                  <a:srgbClr val="1B3A5F"/>
                </a:solidFill>
                <a:latin typeface="Calibri" pitchFamily="34" charset="0"/>
                <a:ea typeface="Calibri" pitchFamily="34" charset="-122"/>
                <a:cs typeface="Calibri" pitchFamily="34" charset="-120"/>
              </a:rPr>
              <a:t>minor</a:t>
            </a:r>
            <a:endParaRPr lang="en-US" sz="1100" dirty="0"/>
          </a:p>
        </p:txBody>
      </p:sp>
      <p:sp>
        <p:nvSpPr>
          <p:cNvPr id="13" name="!!c00"/>
          <p:cNvSpPr txBox="1"/>
          <p:nvPr/>
        </p:nvSpPr>
        <p:spPr>
          <a:xfrm>
            <a:off x="2103120" y="1600200"/>
            <a:ext cx="1143000" cy="749808"/>
          </a:xfrm>
          <a:prstGeom prst="rect">
            <a:avLst/>
          </a:prstGeom>
          <a:solidFill>
            <a:srgbClr val="C9D6E6"/>
          </a:solidFill>
          <a:ln w="12700">
            <a:solidFill>
              <a:srgbClr val="C8D1DC"/>
            </a:solidFill>
          </a:ln>
        </p:spPr>
        <p:txBody>
          <a:bodyPr wrap="square" lIns="0" tIns="0" rIns="0" bIns="0" rtlCol="0" anchor="ctr"/>
          <a:lstStyle/>
          <a:p>
            <a:pPr marL="0" indent="0" algn="ctr">
              <a:buNone/>
            </a:pPr>
            <a:r>
              <a:rPr lang="en-US" sz="2000" b="1" dirty="0">
                <a:solidFill>
                  <a:srgbClr val="1B3A5F"/>
                </a:solidFill>
                <a:latin typeface="Calibri" pitchFamily="34" charset="0"/>
                <a:ea typeface="Calibri" pitchFamily="34" charset="-122"/>
                <a:cs typeface="Calibri" pitchFamily="34" charset="-120"/>
              </a:rPr>
              <a:t>557</a:t>
            </a:r>
            <a:endParaRPr lang="en-US" sz="2000" dirty="0"/>
          </a:p>
        </p:txBody>
      </p:sp>
      <p:sp>
        <p:nvSpPr>
          <p:cNvPr id="14" name="!!c01"/>
          <p:cNvSpPr txBox="1"/>
          <p:nvPr/>
        </p:nvSpPr>
        <p:spPr>
          <a:xfrm>
            <a:off x="3246120" y="1600200"/>
            <a:ext cx="1143000" cy="749808"/>
          </a:xfrm>
          <a:prstGeom prst="rect">
            <a:avLst/>
          </a:prstGeom>
          <a:solidFill>
            <a:srgbClr val="FFFFFF"/>
          </a:solidFill>
          <a:ln w="12700">
            <a:solidFill>
              <a:srgbClr val="C8D1DC"/>
            </a:solidFill>
          </a:ln>
        </p:spPr>
        <p:txBody>
          <a:bodyPr wrap="square" lIns="0" tIns="0" rIns="0" bIns="0" rtlCol="0" anchor="ctr"/>
          <a:lstStyle/>
          <a:p>
            <a:pPr marL="0" indent="0" algn="ctr">
              <a:buNone/>
            </a:pPr>
            <a:r>
              <a:rPr lang="en-US" sz="2000" b="1" dirty="0">
                <a:solidFill>
                  <a:srgbClr val="1B3A5F"/>
                </a:solidFill>
                <a:latin typeface="Calibri" pitchFamily="34" charset="0"/>
                <a:ea typeface="Calibri" pitchFamily="34" charset="-122"/>
                <a:cs typeface="Calibri" pitchFamily="34" charset="-120"/>
              </a:rPr>
              <a:t>40</a:t>
            </a:r>
            <a:endParaRPr lang="en-US" sz="2000" dirty="0"/>
          </a:p>
        </p:txBody>
      </p:sp>
      <p:sp>
        <p:nvSpPr>
          <p:cNvPr id="15" name="!!c02"/>
          <p:cNvSpPr txBox="1"/>
          <p:nvPr/>
        </p:nvSpPr>
        <p:spPr>
          <a:xfrm>
            <a:off x="4389120" y="1600200"/>
            <a:ext cx="1143000" cy="749808"/>
          </a:xfrm>
          <a:prstGeom prst="rect">
            <a:avLst/>
          </a:prstGeom>
          <a:solidFill>
            <a:srgbClr val="FFFFFF"/>
          </a:solidFill>
          <a:ln w="12700">
            <a:solidFill>
              <a:srgbClr val="C8D1DC"/>
            </a:solidFill>
          </a:ln>
        </p:spPr>
        <p:txBody>
          <a:bodyPr wrap="square" lIns="0" tIns="0" rIns="0" bIns="0" rtlCol="0" anchor="ctr"/>
          <a:lstStyle/>
          <a:p>
            <a:pPr marL="0" indent="0" algn="ctr">
              <a:buNone/>
            </a:pPr>
            <a:r>
              <a:rPr lang="en-US" sz="2000" b="1" dirty="0">
                <a:solidFill>
                  <a:srgbClr val="1B3A5F"/>
                </a:solidFill>
                <a:latin typeface="Calibri" pitchFamily="34" charset="0"/>
                <a:ea typeface="Calibri" pitchFamily="34" charset="-122"/>
                <a:cs typeface="Calibri" pitchFamily="34" charset="-120"/>
              </a:rPr>
              <a:t>0</a:t>
            </a:r>
            <a:endParaRPr lang="en-US" sz="2000" dirty="0"/>
          </a:p>
        </p:txBody>
      </p:sp>
      <p:sp>
        <p:nvSpPr>
          <p:cNvPr id="16" name="!!c10"/>
          <p:cNvSpPr txBox="1"/>
          <p:nvPr/>
        </p:nvSpPr>
        <p:spPr>
          <a:xfrm>
            <a:off x="2103120" y="2350008"/>
            <a:ext cx="1143000" cy="749808"/>
          </a:xfrm>
          <a:prstGeom prst="rect">
            <a:avLst/>
          </a:prstGeom>
          <a:solidFill>
            <a:srgbClr val="FFFFFF"/>
          </a:solidFill>
          <a:ln w="12700">
            <a:solidFill>
              <a:srgbClr val="C8D1DC"/>
            </a:solidFill>
          </a:ln>
        </p:spPr>
        <p:txBody>
          <a:bodyPr wrap="square" lIns="0" tIns="0" rIns="0" bIns="0" rtlCol="0" anchor="ctr"/>
          <a:lstStyle/>
          <a:p>
            <a:pPr marL="0" indent="0" algn="ctr">
              <a:buNone/>
            </a:pPr>
            <a:r>
              <a:rPr lang="en-US" sz="2000" b="1" dirty="0">
                <a:solidFill>
                  <a:srgbClr val="1B3A5F"/>
                </a:solidFill>
                <a:latin typeface="Calibri" pitchFamily="34" charset="0"/>
                <a:ea typeface="Calibri" pitchFamily="34" charset="-122"/>
                <a:cs typeface="Calibri" pitchFamily="34" charset="-120"/>
              </a:rPr>
              <a:t>44</a:t>
            </a:r>
            <a:endParaRPr lang="en-US" sz="2000" dirty="0"/>
          </a:p>
        </p:txBody>
      </p:sp>
      <p:sp>
        <p:nvSpPr>
          <p:cNvPr id="17" name="!!c11"/>
          <p:cNvSpPr txBox="1"/>
          <p:nvPr/>
        </p:nvSpPr>
        <p:spPr>
          <a:xfrm>
            <a:off x="3246120" y="2350008"/>
            <a:ext cx="1143000" cy="749808"/>
          </a:xfrm>
          <a:prstGeom prst="rect">
            <a:avLst/>
          </a:prstGeom>
          <a:solidFill>
            <a:srgbClr val="C9D6E6"/>
          </a:solidFill>
          <a:ln w="12700">
            <a:solidFill>
              <a:srgbClr val="C8D1DC"/>
            </a:solidFill>
          </a:ln>
        </p:spPr>
        <p:txBody>
          <a:bodyPr wrap="square" lIns="0" tIns="0" rIns="0" bIns="0" rtlCol="0" anchor="ctr"/>
          <a:lstStyle/>
          <a:p>
            <a:pPr marL="0" indent="0" algn="ctr">
              <a:buNone/>
            </a:pPr>
            <a:r>
              <a:rPr lang="en-US" sz="2000" b="1" dirty="0">
                <a:solidFill>
                  <a:srgbClr val="1B3A5F"/>
                </a:solidFill>
                <a:latin typeface="Calibri" pitchFamily="34" charset="0"/>
                <a:ea typeface="Calibri" pitchFamily="34" charset="-122"/>
                <a:cs typeface="Calibri" pitchFamily="34" charset="-120"/>
              </a:rPr>
              <a:t>1,105</a:t>
            </a:r>
            <a:endParaRPr lang="en-US" sz="2000" dirty="0"/>
          </a:p>
        </p:txBody>
      </p:sp>
      <p:sp>
        <p:nvSpPr>
          <p:cNvPr id="18" name="!!c12"/>
          <p:cNvSpPr txBox="1"/>
          <p:nvPr/>
        </p:nvSpPr>
        <p:spPr>
          <a:xfrm>
            <a:off x="4389120" y="2350008"/>
            <a:ext cx="1143000" cy="749808"/>
          </a:xfrm>
          <a:prstGeom prst="rect">
            <a:avLst/>
          </a:prstGeom>
          <a:solidFill>
            <a:srgbClr val="FFFFFF"/>
          </a:solidFill>
          <a:ln w="12700">
            <a:solidFill>
              <a:srgbClr val="C8D1DC"/>
            </a:solidFill>
          </a:ln>
        </p:spPr>
        <p:txBody>
          <a:bodyPr wrap="square" lIns="0" tIns="0" rIns="0" bIns="0" rtlCol="0" anchor="ctr"/>
          <a:lstStyle/>
          <a:p>
            <a:pPr marL="0" indent="0" algn="ctr">
              <a:buNone/>
            </a:pPr>
            <a:r>
              <a:rPr lang="en-US" sz="2000" b="1" dirty="0">
                <a:solidFill>
                  <a:srgbClr val="1B3A5F"/>
                </a:solidFill>
                <a:latin typeface="Calibri" pitchFamily="34" charset="0"/>
                <a:ea typeface="Calibri" pitchFamily="34" charset="-122"/>
                <a:cs typeface="Calibri" pitchFamily="34" charset="-120"/>
              </a:rPr>
              <a:t>49</a:t>
            </a:r>
            <a:endParaRPr lang="en-US" sz="2000" dirty="0"/>
          </a:p>
        </p:txBody>
      </p:sp>
      <p:sp>
        <p:nvSpPr>
          <p:cNvPr id="19" name="!!c20"/>
          <p:cNvSpPr txBox="1"/>
          <p:nvPr/>
        </p:nvSpPr>
        <p:spPr>
          <a:xfrm>
            <a:off x="2103120" y="3099816"/>
            <a:ext cx="1143000" cy="749808"/>
          </a:xfrm>
          <a:prstGeom prst="rect">
            <a:avLst/>
          </a:prstGeom>
          <a:solidFill>
            <a:srgbClr val="FFFFFF"/>
          </a:solidFill>
          <a:ln w="12700">
            <a:solidFill>
              <a:srgbClr val="C8D1DC"/>
            </a:solidFill>
          </a:ln>
        </p:spPr>
        <p:txBody>
          <a:bodyPr wrap="square" lIns="0" tIns="0" rIns="0" bIns="0" rtlCol="0" anchor="ctr"/>
          <a:lstStyle/>
          <a:p>
            <a:pPr marL="0" indent="0" algn="ctr">
              <a:buNone/>
            </a:pPr>
            <a:r>
              <a:rPr lang="en-US" sz="2000" b="1" dirty="0">
                <a:solidFill>
                  <a:srgbClr val="1B3A5F"/>
                </a:solidFill>
                <a:latin typeface="Calibri" pitchFamily="34" charset="0"/>
                <a:ea typeface="Calibri" pitchFamily="34" charset="-122"/>
                <a:cs typeface="Calibri" pitchFamily="34" charset="-120"/>
              </a:rPr>
              <a:t>1</a:t>
            </a:r>
            <a:endParaRPr lang="en-US" sz="2000" dirty="0"/>
          </a:p>
        </p:txBody>
      </p:sp>
      <p:sp>
        <p:nvSpPr>
          <p:cNvPr id="20" name="!!c21"/>
          <p:cNvSpPr txBox="1"/>
          <p:nvPr/>
        </p:nvSpPr>
        <p:spPr>
          <a:xfrm>
            <a:off x="3246120" y="3099816"/>
            <a:ext cx="1143000" cy="749808"/>
          </a:xfrm>
          <a:prstGeom prst="rect">
            <a:avLst/>
          </a:prstGeom>
          <a:solidFill>
            <a:srgbClr val="FFFFFF"/>
          </a:solidFill>
          <a:ln w="12700">
            <a:solidFill>
              <a:srgbClr val="C8D1DC"/>
            </a:solidFill>
          </a:ln>
        </p:spPr>
        <p:txBody>
          <a:bodyPr wrap="square" lIns="0" tIns="0" rIns="0" bIns="0" rtlCol="0" anchor="ctr"/>
          <a:lstStyle/>
          <a:p>
            <a:pPr marL="0" indent="0" algn="ctr">
              <a:buNone/>
            </a:pPr>
            <a:r>
              <a:rPr lang="en-US" sz="2000" b="1" dirty="0">
                <a:solidFill>
                  <a:srgbClr val="1B3A5F"/>
                </a:solidFill>
                <a:latin typeface="Calibri" pitchFamily="34" charset="0"/>
                <a:ea typeface="Calibri" pitchFamily="34" charset="-122"/>
                <a:cs typeface="Calibri" pitchFamily="34" charset="-120"/>
              </a:rPr>
              <a:t>55</a:t>
            </a:r>
            <a:endParaRPr lang="en-US" sz="2000" dirty="0"/>
          </a:p>
        </p:txBody>
      </p:sp>
      <p:sp>
        <p:nvSpPr>
          <p:cNvPr id="21" name="!!c22"/>
          <p:cNvSpPr txBox="1"/>
          <p:nvPr/>
        </p:nvSpPr>
        <p:spPr>
          <a:xfrm>
            <a:off x="4389120" y="3099816"/>
            <a:ext cx="1143000" cy="749808"/>
          </a:xfrm>
          <a:prstGeom prst="rect">
            <a:avLst/>
          </a:prstGeom>
          <a:solidFill>
            <a:srgbClr val="C9D6E6"/>
          </a:solidFill>
          <a:ln w="12700">
            <a:solidFill>
              <a:srgbClr val="C8D1DC"/>
            </a:solidFill>
          </a:ln>
        </p:spPr>
        <p:txBody>
          <a:bodyPr wrap="square" lIns="0" tIns="0" rIns="0" bIns="0" rtlCol="0" anchor="ctr"/>
          <a:lstStyle/>
          <a:p>
            <a:pPr marL="0" indent="0" algn="ctr">
              <a:buNone/>
            </a:pPr>
            <a:r>
              <a:rPr lang="en-US" sz="2000" b="1" dirty="0">
                <a:solidFill>
                  <a:srgbClr val="1B3A5F"/>
                </a:solidFill>
                <a:latin typeface="Calibri" pitchFamily="34" charset="0"/>
                <a:ea typeface="Calibri" pitchFamily="34" charset="-122"/>
                <a:cs typeface="Calibri" pitchFamily="34" charset="-120"/>
              </a:rPr>
              <a:t>2,149</a:t>
            </a:r>
            <a:endParaRPr lang="en-US" sz="2000" dirty="0"/>
          </a:p>
        </p:txBody>
      </p:sp>
      <p:sp>
        <p:nvSpPr>
          <p:cNvPr id="22" name="s19_k"/>
          <p:cNvSpPr/>
          <p:nvPr/>
        </p:nvSpPr>
        <p:spPr>
          <a:xfrm>
            <a:off x="5943600" y="1600200"/>
            <a:ext cx="2651760" cy="1051560"/>
          </a:xfrm>
          <a:prstGeom prst="roundRect">
            <a:avLst>
              <a:gd name="adj" fmla="val 6957"/>
            </a:avLst>
          </a:prstGeom>
          <a:solidFill>
            <a:srgbClr val="E6ECF3"/>
          </a:solidFill>
          <a:ln w="9525">
            <a:solidFill>
              <a:srgbClr val="D5DCE4"/>
            </a:solidFill>
            <a:prstDash val="solid"/>
          </a:ln>
        </p:spPr>
      </p:sp>
      <p:sp>
        <p:nvSpPr>
          <p:cNvPr id="23" name="s19_kt"/>
          <p:cNvSpPr txBox="1"/>
          <p:nvPr/>
        </p:nvSpPr>
        <p:spPr>
          <a:xfrm>
            <a:off x="6080760" y="1627632"/>
            <a:ext cx="2423160" cy="1005840"/>
          </a:xfrm>
          <a:prstGeom prst="rect">
            <a:avLst/>
          </a:prstGeom>
          <a:noFill/>
          <a:ln/>
        </p:spPr>
        <p:txBody>
          <a:bodyPr wrap="square" lIns="0" tIns="0" rIns="0" bIns="0" rtlCol="0" anchor="ctr"/>
          <a:lstStyle/>
          <a:p>
            <a:pPr marL="0" indent="0">
              <a:buNone/>
            </a:pPr>
            <a:r>
              <a:rPr lang="en-US" sz="2800" b="1" dirty="0">
                <a:solidFill>
                  <a:srgbClr val="2E8B8B"/>
                </a:solidFill>
                <a:latin typeface="Calibri" pitchFamily="34" charset="0"/>
                <a:ea typeface="Calibri" pitchFamily="34" charset="-122"/>
                <a:cs typeface="Calibri" pitchFamily="34" charset="-120"/>
              </a:rPr>
              <a:t>3,811</a:t>
            </a:r>
            <a:endParaRPr lang="en-US" sz="1400" dirty="0"/>
          </a:p>
          <a:p>
            <a:pPr marL="0" indent="0">
              <a:buNone/>
            </a:pPr>
            <a:r>
              <a:rPr lang="en-US" sz="1150" dirty="0">
                <a:solidFill>
                  <a:srgbClr val="333333"/>
                </a:solidFill>
                <a:latin typeface="Calibri" pitchFamily="34" charset="0"/>
                <a:ea typeface="Calibri" pitchFamily="34" charset="-122"/>
                <a:cs typeface="Calibri" pitchFamily="34" charset="-120"/>
              </a:rPr>
              <a:t>of 4,000 test crashes sorted correctly</a:t>
            </a:r>
            <a:endParaRPr lang="en-US" sz="1400" dirty="0"/>
          </a:p>
        </p:txBody>
      </p:sp>
      <p:sp>
        <p:nvSpPr>
          <p:cNvPr id="24" name="s19_k2"/>
          <p:cNvSpPr/>
          <p:nvPr/>
        </p:nvSpPr>
        <p:spPr>
          <a:xfrm>
            <a:off x="5943600" y="2788920"/>
            <a:ext cx="2651760" cy="1051560"/>
          </a:xfrm>
          <a:prstGeom prst="roundRect">
            <a:avLst>
              <a:gd name="adj" fmla="val 6957"/>
            </a:avLst>
          </a:prstGeom>
          <a:solidFill>
            <a:srgbClr val="FBEAE4"/>
          </a:solidFill>
          <a:ln w="9525">
            <a:solidFill>
              <a:srgbClr val="C75B39"/>
            </a:solidFill>
            <a:prstDash val="solid"/>
          </a:ln>
        </p:spPr>
      </p:sp>
      <p:sp>
        <p:nvSpPr>
          <p:cNvPr id="25" name="s19_k2t"/>
          <p:cNvSpPr txBox="1"/>
          <p:nvPr/>
        </p:nvSpPr>
        <p:spPr>
          <a:xfrm>
            <a:off x="6080760" y="2816352"/>
            <a:ext cx="2423160" cy="1005840"/>
          </a:xfrm>
          <a:prstGeom prst="rect">
            <a:avLst/>
          </a:prstGeom>
          <a:noFill/>
          <a:ln/>
        </p:spPr>
        <p:txBody>
          <a:bodyPr wrap="square" lIns="0" tIns="0" rIns="0" bIns="0" rtlCol="0" anchor="ctr"/>
          <a:lstStyle/>
          <a:p>
            <a:pPr marL="0" indent="0">
              <a:buNone/>
            </a:pPr>
            <a:r>
              <a:rPr lang="en-US" sz="2800" b="1" dirty="0">
                <a:solidFill>
                  <a:srgbClr val="C75B39"/>
                </a:solidFill>
                <a:latin typeface="Calibri" pitchFamily="34" charset="0"/>
                <a:ea typeface="Calibri" pitchFamily="34" charset="-122"/>
                <a:cs typeface="Calibri" pitchFamily="34" charset="-120"/>
              </a:rPr>
              <a:t>189</a:t>
            </a:r>
            <a:endParaRPr lang="en-US" sz="1400" dirty="0"/>
          </a:p>
          <a:p>
            <a:pPr marL="0" indent="0">
              <a:buNone/>
            </a:pPr>
            <a:r>
              <a:rPr lang="en-US" sz="1150" dirty="0">
                <a:solidFill>
                  <a:srgbClr val="333333"/>
                </a:solidFill>
                <a:latin typeface="Calibri" pitchFamily="34" charset="0"/>
                <a:ea typeface="Calibri" pitchFamily="34" charset="-122"/>
                <a:cs typeface="Calibri" pitchFamily="34" charset="-120"/>
              </a:rPr>
              <a:t>mistakes in total (4.7%)</a:t>
            </a:r>
            <a:endParaRPr lang="en-US" sz="1400" dirty="0"/>
          </a:p>
        </p:txBody>
      </p:sp>
      <p:sp>
        <p:nvSpPr>
          <p:cNvPr id="26" name="s19_why_bg"/>
          <p:cNvSpPr/>
          <p:nvPr/>
        </p:nvSpPr>
        <p:spPr>
          <a:xfrm>
            <a:off x="548640" y="4114800"/>
            <a:ext cx="8046720" cy="329184"/>
          </a:xfrm>
          <a:prstGeom prst="roundRect">
            <a:avLst>
              <a:gd name="adj" fmla="val 22222"/>
            </a:avLst>
          </a:prstGeom>
          <a:solidFill>
            <a:srgbClr val="E3F1F1"/>
          </a:solidFill>
          <a:ln w="9525">
            <a:solidFill>
              <a:srgbClr val="E3F1F1"/>
            </a:solidFill>
            <a:prstDash val="solid"/>
          </a:ln>
        </p:spPr>
      </p:sp>
      <p:sp>
        <p:nvSpPr>
          <p:cNvPr id="27" name="s19_why"/>
          <p:cNvSpPr txBox="1"/>
          <p:nvPr/>
        </p:nvSpPr>
        <p:spPr>
          <a:xfrm>
            <a:off x="731520" y="4114800"/>
            <a:ext cx="7772400" cy="329184"/>
          </a:xfrm>
          <a:prstGeom prst="rect">
            <a:avLst/>
          </a:prstGeom>
          <a:noFill/>
          <a:ln/>
        </p:spPr>
        <p:txBody>
          <a:bodyPr wrap="square" lIns="0" tIns="0" rIns="0" bIns="0" rtlCol="0" anchor="ctr"/>
          <a:lstStyle/>
          <a:p>
            <a:pPr marL="0" indent="0">
              <a:buNone/>
            </a:pPr>
            <a:r>
              <a:rPr lang="en-US" sz="1000" b="1" kern="0" spc="200" dirty="0">
                <a:solidFill>
                  <a:srgbClr val="2E8B8B"/>
                </a:solidFill>
                <a:latin typeface="Calibri" pitchFamily="34" charset="0"/>
                <a:ea typeface="Calibri" pitchFamily="34" charset="-122"/>
                <a:cs typeface="Calibri" pitchFamily="34" charset="-120"/>
              </a:rPr>
              <a:t>WHY IT MATTERS  </a:t>
            </a:r>
            <a:r>
              <a:rPr lang="en-US" sz="1200" dirty="0">
                <a:solidFill>
                  <a:srgbClr val="333333"/>
                </a:solidFill>
                <a:latin typeface="Calibri" pitchFamily="34" charset="0"/>
                <a:ea typeface="Calibri" pitchFamily="34" charset="-122"/>
                <a:cs typeface="Calibri" pitchFamily="34" charset="-120"/>
              </a:rPr>
              <a:t>A scoreboard of right and wrong answers, by type.</a:t>
            </a:r>
            <a:endParaRPr lang="en-US" sz="1400" dirty="0"/>
          </a:p>
        </p:txBody>
      </p:sp>
      <p:sp>
        <p:nvSpPr>
          <p:cNvPr id="2"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350" fill="hold"/>
                                        <p:tgtEl>
                                          <p:spTgt spid="13"/>
                                        </p:tgtEl>
                                        <p:attrNameLst>
                                          <p:attrName>ppt_w</p:attrName>
                                        </p:attrNameLst>
                                      </p:cBhvr>
                                      <p:tavLst>
                                        <p:tav tm="0">
                                          <p:val>
                                            <p:fltVal val="0"/>
                                          </p:val>
                                        </p:tav>
                                        <p:tav tm="100000">
                                          <p:val>
                                            <p:strVal val="#ppt_w"/>
                                          </p:val>
                                        </p:tav>
                                      </p:tavLst>
                                    </p:anim>
                                    <p:anim calcmode="lin" valueType="num">
                                      <p:cBhvr additive="base">
                                        <p:cTn id="8" dur="350" fill="hold"/>
                                        <p:tgtEl>
                                          <p:spTgt spid="13"/>
                                        </p:tgtEl>
                                        <p:attrNameLst>
                                          <p:attrName>ppt_h</p:attrName>
                                        </p:attrNameLst>
                                      </p:cBhvr>
                                      <p:tavLst>
                                        <p:tav tm="0">
                                          <p:val>
                                            <p:fltVal val="0"/>
                                          </p:val>
                                        </p:tav>
                                        <p:tav tm="100000">
                                          <p:val>
                                            <p:strVal val="#ppt_h"/>
                                          </p:val>
                                        </p:tav>
                                      </p:tavLst>
                                    </p:anim>
                                    <p:animEffect transition="in" filter="fade">
                                      <p:cBhvr>
                                        <p:cTn id="9" dur="350"/>
                                        <p:tgtEl>
                                          <p:spTgt spid="13"/>
                                        </p:tgtEl>
                                      </p:cBhvr>
                                    </p:animEffect>
                                  </p:childTnLst>
                                </p:cTn>
                              </p:par>
                              <p:par>
                                <p:cTn id="10" presetID="53" presetClass="entr" presetSubtype="16" fill="hold" nodeType="withEffect">
                                  <p:stCondLst>
                                    <p:cond delay="10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350" fill="hold"/>
                                        <p:tgtEl>
                                          <p:spTgt spid="14"/>
                                        </p:tgtEl>
                                        <p:attrNameLst>
                                          <p:attrName>ppt_w</p:attrName>
                                        </p:attrNameLst>
                                      </p:cBhvr>
                                      <p:tavLst>
                                        <p:tav tm="0">
                                          <p:val>
                                            <p:fltVal val="0"/>
                                          </p:val>
                                        </p:tav>
                                        <p:tav tm="100000">
                                          <p:val>
                                            <p:strVal val="#ppt_w"/>
                                          </p:val>
                                        </p:tav>
                                      </p:tavLst>
                                    </p:anim>
                                    <p:anim calcmode="lin" valueType="num">
                                      <p:cBhvr additive="base">
                                        <p:cTn id="13" dur="350" fill="hold"/>
                                        <p:tgtEl>
                                          <p:spTgt spid="14"/>
                                        </p:tgtEl>
                                        <p:attrNameLst>
                                          <p:attrName>ppt_h</p:attrName>
                                        </p:attrNameLst>
                                      </p:cBhvr>
                                      <p:tavLst>
                                        <p:tav tm="0">
                                          <p:val>
                                            <p:fltVal val="0"/>
                                          </p:val>
                                        </p:tav>
                                        <p:tav tm="100000">
                                          <p:val>
                                            <p:strVal val="#ppt_h"/>
                                          </p:val>
                                        </p:tav>
                                      </p:tavLst>
                                    </p:anim>
                                    <p:animEffect transition="in" filter="fade">
                                      <p:cBhvr>
                                        <p:cTn id="14" dur="350"/>
                                        <p:tgtEl>
                                          <p:spTgt spid="14"/>
                                        </p:tgtEl>
                                      </p:cBhvr>
                                    </p:animEffect>
                                  </p:childTnLst>
                                </p:cTn>
                              </p:par>
                              <p:par>
                                <p:cTn id="15" presetID="53" presetClass="entr" presetSubtype="16" fill="hold" nodeType="withEffect">
                                  <p:stCondLst>
                                    <p:cond delay="20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350" fill="hold"/>
                                        <p:tgtEl>
                                          <p:spTgt spid="15"/>
                                        </p:tgtEl>
                                        <p:attrNameLst>
                                          <p:attrName>ppt_w</p:attrName>
                                        </p:attrNameLst>
                                      </p:cBhvr>
                                      <p:tavLst>
                                        <p:tav tm="0">
                                          <p:val>
                                            <p:fltVal val="0"/>
                                          </p:val>
                                        </p:tav>
                                        <p:tav tm="100000">
                                          <p:val>
                                            <p:strVal val="#ppt_w"/>
                                          </p:val>
                                        </p:tav>
                                      </p:tavLst>
                                    </p:anim>
                                    <p:anim calcmode="lin" valueType="num">
                                      <p:cBhvr additive="base">
                                        <p:cTn id="18" dur="350" fill="hold"/>
                                        <p:tgtEl>
                                          <p:spTgt spid="15"/>
                                        </p:tgtEl>
                                        <p:attrNameLst>
                                          <p:attrName>ppt_h</p:attrName>
                                        </p:attrNameLst>
                                      </p:cBhvr>
                                      <p:tavLst>
                                        <p:tav tm="0">
                                          <p:val>
                                            <p:fltVal val="0"/>
                                          </p:val>
                                        </p:tav>
                                        <p:tav tm="100000">
                                          <p:val>
                                            <p:strVal val="#ppt_h"/>
                                          </p:val>
                                        </p:tav>
                                      </p:tavLst>
                                    </p:anim>
                                    <p:animEffect transition="in" filter="fade">
                                      <p:cBhvr>
                                        <p:cTn id="19" dur="350"/>
                                        <p:tgtEl>
                                          <p:spTgt spid="15"/>
                                        </p:tgtEl>
                                      </p:cBhvr>
                                    </p:animEffect>
                                  </p:childTnLst>
                                </p:cTn>
                              </p:par>
                              <p:par>
                                <p:cTn id="20" presetID="53" presetClass="entr" presetSubtype="16" fill="hold" nodeType="withEffect">
                                  <p:stCondLst>
                                    <p:cond delay="300"/>
                                  </p:stCondLst>
                                  <p:childTnLst>
                                    <p:set>
                                      <p:cBhvr>
                                        <p:cTn id="21" dur="1" fill="hold">
                                          <p:stCondLst>
                                            <p:cond delay="0"/>
                                          </p:stCondLst>
                                        </p:cTn>
                                        <p:tgtEl>
                                          <p:spTgt spid="16"/>
                                        </p:tgtEl>
                                        <p:attrNameLst>
                                          <p:attrName>style.visibility</p:attrName>
                                        </p:attrNameLst>
                                      </p:cBhvr>
                                      <p:to>
                                        <p:strVal val="visible"/>
                                      </p:to>
                                    </p:set>
                                    <p:anim calcmode="lin" valueType="num">
                                      <p:cBhvr additive="base">
                                        <p:cTn id="22" dur="350" fill="hold"/>
                                        <p:tgtEl>
                                          <p:spTgt spid="16"/>
                                        </p:tgtEl>
                                        <p:attrNameLst>
                                          <p:attrName>ppt_w</p:attrName>
                                        </p:attrNameLst>
                                      </p:cBhvr>
                                      <p:tavLst>
                                        <p:tav tm="0">
                                          <p:val>
                                            <p:fltVal val="0"/>
                                          </p:val>
                                        </p:tav>
                                        <p:tav tm="100000">
                                          <p:val>
                                            <p:strVal val="#ppt_w"/>
                                          </p:val>
                                        </p:tav>
                                      </p:tavLst>
                                    </p:anim>
                                    <p:anim calcmode="lin" valueType="num">
                                      <p:cBhvr additive="base">
                                        <p:cTn id="23" dur="350" fill="hold"/>
                                        <p:tgtEl>
                                          <p:spTgt spid="16"/>
                                        </p:tgtEl>
                                        <p:attrNameLst>
                                          <p:attrName>ppt_h</p:attrName>
                                        </p:attrNameLst>
                                      </p:cBhvr>
                                      <p:tavLst>
                                        <p:tav tm="0">
                                          <p:val>
                                            <p:fltVal val="0"/>
                                          </p:val>
                                        </p:tav>
                                        <p:tav tm="100000">
                                          <p:val>
                                            <p:strVal val="#ppt_h"/>
                                          </p:val>
                                        </p:tav>
                                      </p:tavLst>
                                    </p:anim>
                                    <p:animEffect transition="in" filter="fade">
                                      <p:cBhvr>
                                        <p:cTn id="24" dur="350"/>
                                        <p:tgtEl>
                                          <p:spTgt spid="16"/>
                                        </p:tgtEl>
                                      </p:cBhvr>
                                    </p:animEffect>
                                  </p:childTnLst>
                                </p:cTn>
                              </p:par>
                              <p:par>
                                <p:cTn id="25" presetID="53" presetClass="entr" presetSubtype="16" fill="hold" nodeType="withEffect">
                                  <p:stCondLst>
                                    <p:cond delay="40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350" fill="hold"/>
                                        <p:tgtEl>
                                          <p:spTgt spid="17"/>
                                        </p:tgtEl>
                                        <p:attrNameLst>
                                          <p:attrName>ppt_w</p:attrName>
                                        </p:attrNameLst>
                                      </p:cBhvr>
                                      <p:tavLst>
                                        <p:tav tm="0">
                                          <p:val>
                                            <p:fltVal val="0"/>
                                          </p:val>
                                        </p:tav>
                                        <p:tav tm="100000">
                                          <p:val>
                                            <p:strVal val="#ppt_w"/>
                                          </p:val>
                                        </p:tav>
                                      </p:tavLst>
                                    </p:anim>
                                    <p:anim calcmode="lin" valueType="num">
                                      <p:cBhvr additive="base">
                                        <p:cTn id="28" dur="350" fill="hold"/>
                                        <p:tgtEl>
                                          <p:spTgt spid="17"/>
                                        </p:tgtEl>
                                        <p:attrNameLst>
                                          <p:attrName>ppt_h</p:attrName>
                                        </p:attrNameLst>
                                      </p:cBhvr>
                                      <p:tavLst>
                                        <p:tav tm="0">
                                          <p:val>
                                            <p:fltVal val="0"/>
                                          </p:val>
                                        </p:tav>
                                        <p:tav tm="100000">
                                          <p:val>
                                            <p:strVal val="#ppt_h"/>
                                          </p:val>
                                        </p:tav>
                                      </p:tavLst>
                                    </p:anim>
                                    <p:animEffect transition="in" filter="fade">
                                      <p:cBhvr>
                                        <p:cTn id="29" dur="350"/>
                                        <p:tgtEl>
                                          <p:spTgt spid="17"/>
                                        </p:tgtEl>
                                      </p:cBhvr>
                                    </p:animEffect>
                                  </p:childTnLst>
                                </p:cTn>
                              </p:par>
                              <p:par>
                                <p:cTn id="30" presetID="53" presetClass="entr" presetSubtype="16" fill="hold" nodeType="withEffect">
                                  <p:stCondLst>
                                    <p:cond delay="500"/>
                                  </p:stCondLst>
                                  <p:childTnLst>
                                    <p:set>
                                      <p:cBhvr>
                                        <p:cTn id="31" dur="1" fill="hold">
                                          <p:stCondLst>
                                            <p:cond delay="0"/>
                                          </p:stCondLst>
                                        </p:cTn>
                                        <p:tgtEl>
                                          <p:spTgt spid="18"/>
                                        </p:tgtEl>
                                        <p:attrNameLst>
                                          <p:attrName>style.visibility</p:attrName>
                                        </p:attrNameLst>
                                      </p:cBhvr>
                                      <p:to>
                                        <p:strVal val="visible"/>
                                      </p:to>
                                    </p:set>
                                    <p:anim calcmode="lin" valueType="num">
                                      <p:cBhvr additive="base">
                                        <p:cTn id="32" dur="350" fill="hold"/>
                                        <p:tgtEl>
                                          <p:spTgt spid="18"/>
                                        </p:tgtEl>
                                        <p:attrNameLst>
                                          <p:attrName>ppt_w</p:attrName>
                                        </p:attrNameLst>
                                      </p:cBhvr>
                                      <p:tavLst>
                                        <p:tav tm="0">
                                          <p:val>
                                            <p:fltVal val="0"/>
                                          </p:val>
                                        </p:tav>
                                        <p:tav tm="100000">
                                          <p:val>
                                            <p:strVal val="#ppt_w"/>
                                          </p:val>
                                        </p:tav>
                                      </p:tavLst>
                                    </p:anim>
                                    <p:anim calcmode="lin" valueType="num">
                                      <p:cBhvr additive="base">
                                        <p:cTn id="33" dur="350" fill="hold"/>
                                        <p:tgtEl>
                                          <p:spTgt spid="18"/>
                                        </p:tgtEl>
                                        <p:attrNameLst>
                                          <p:attrName>ppt_h</p:attrName>
                                        </p:attrNameLst>
                                      </p:cBhvr>
                                      <p:tavLst>
                                        <p:tav tm="0">
                                          <p:val>
                                            <p:fltVal val="0"/>
                                          </p:val>
                                        </p:tav>
                                        <p:tav tm="100000">
                                          <p:val>
                                            <p:strVal val="#ppt_h"/>
                                          </p:val>
                                        </p:tav>
                                      </p:tavLst>
                                    </p:anim>
                                    <p:animEffect transition="in" filter="fade">
                                      <p:cBhvr>
                                        <p:cTn id="34" dur="350"/>
                                        <p:tgtEl>
                                          <p:spTgt spid="18"/>
                                        </p:tgtEl>
                                      </p:cBhvr>
                                    </p:animEffect>
                                  </p:childTnLst>
                                </p:cTn>
                              </p:par>
                              <p:par>
                                <p:cTn id="35" presetID="53" presetClass="entr" presetSubtype="16" fill="hold" nodeType="withEffect">
                                  <p:stCondLst>
                                    <p:cond delay="60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350" fill="hold"/>
                                        <p:tgtEl>
                                          <p:spTgt spid="19"/>
                                        </p:tgtEl>
                                        <p:attrNameLst>
                                          <p:attrName>ppt_w</p:attrName>
                                        </p:attrNameLst>
                                      </p:cBhvr>
                                      <p:tavLst>
                                        <p:tav tm="0">
                                          <p:val>
                                            <p:fltVal val="0"/>
                                          </p:val>
                                        </p:tav>
                                        <p:tav tm="100000">
                                          <p:val>
                                            <p:strVal val="#ppt_w"/>
                                          </p:val>
                                        </p:tav>
                                      </p:tavLst>
                                    </p:anim>
                                    <p:anim calcmode="lin" valueType="num">
                                      <p:cBhvr additive="base">
                                        <p:cTn id="38" dur="350" fill="hold"/>
                                        <p:tgtEl>
                                          <p:spTgt spid="19"/>
                                        </p:tgtEl>
                                        <p:attrNameLst>
                                          <p:attrName>ppt_h</p:attrName>
                                        </p:attrNameLst>
                                      </p:cBhvr>
                                      <p:tavLst>
                                        <p:tav tm="0">
                                          <p:val>
                                            <p:fltVal val="0"/>
                                          </p:val>
                                        </p:tav>
                                        <p:tav tm="100000">
                                          <p:val>
                                            <p:strVal val="#ppt_h"/>
                                          </p:val>
                                        </p:tav>
                                      </p:tavLst>
                                    </p:anim>
                                    <p:animEffect transition="in" filter="fade">
                                      <p:cBhvr>
                                        <p:cTn id="39" dur="350"/>
                                        <p:tgtEl>
                                          <p:spTgt spid="19"/>
                                        </p:tgtEl>
                                      </p:cBhvr>
                                    </p:animEffect>
                                  </p:childTnLst>
                                </p:cTn>
                              </p:par>
                              <p:par>
                                <p:cTn id="40" presetID="53" presetClass="entr" presetSubtype="16" fill="hold" nodeType="withEffect">
                                  <p:stCondLst>
                                    <p:cond delay="700"/>
                                  </p:stCondLst>
                                  <p:childTnLst>
                                    <p:set>
                                      <p:cBhvr>
                                        <p:cTn id="41" dur="1" fill="hold">
                                          <p:stCondLst>
                                            <p:cond delay="0"/>
                                          </p:stCondLst>
                                        </p:cTn>
                                        <p:tgtEl>
                                          <p:spTgt spid="20"/>
                                        </p:tgtEl>
                                        <p:attrNameLst>
                                          <p:attrName>style.visibility</p:attrName>
                                        </p:attrNameLst>
                                      </p:cBhvr>
                                      <p:to>
                                        <p:strVal val="visible"/>
                                      </p:to>
                                    </p:set>
                                    <p:anim calcmode="lin" valueType="num">
                                      <p:cBhvr additive="base">
                                        <p:cTn id="42" dur="350" fill="hold"/>
                                        <p:tgtEl>
                                          <p:spTgt spid="20"/>
                                        </p:tgtEl>
                                        <p:attrNameLst>
                                          <p:attrName>ppt_w</p:attrName>
                                        </p:attrNameLst>
                                      </p:cBhvr>
                                      <p:tavLst>
                                        <p:tav tm="0">
                                          <p:val>
                                            <p:fltVal val="0"/>
                                          </p:val>
                                        </p:tav>
                                        <p:tav tm="100000">
                                          <p:val>
                                            <p:strVal val="#ppt_w"/>
                                          </p:val>
                                        </p:tav>
                                      </p:tavLst>
                                    </p:anim>
                                    <p:anim calcmode="lin" valueType="num">
                                      <p:cBhvr additive="base">
                                        <p:cTn id="43" dur="350" fill="hold"/>
                                        <p:tgtEl>
                                          <p:spTgt spid="20"/>
                                        </p:tgtEl>
                                        <p:attrNameLst>
                                          <p:attrName>ppt_h</p:attrName>
                                        </p:attrNameLst>
                                      </p:cBhvr>
                                      <p:tavLst>
                                        <p:tav tm="0">
                                          <p:val>
                                            <p:fltVal val="0"/>
                                          </p:val>
                                        </p:tav>
                                        <p:tav tm="100000">
                                          <p:val>
                                            <p:strVal val="#ppt_h"/>
                                          </p:val>
                                        </p:tav>
                                      </p:tavLst>
                                    </p:anim>
                                    <p:animEffect transition="in" filter="fade">
                                      <p:cBhvr>
                                        <p:cTn id="44" dur="350"/>
                                        <p:tgtEl>
                                          <p:spTgt spid="20"/>
                                        </p:tgtEl>
                                      </p:cBhvr>
                                    </p:animEffect>
                                  </p:childTnLst>
                                </p:cTn>
                              </p:par>
                              <p:par>
                                <p:cTn id="45" presetID="53" presetClass="entr" presetSubtype="16" fill="hold" nodeType="withEffect">
                                  <p:stCondLst>
                                    <p:cond delay="800"/>
                                  </p:stCondLst>
                                  <p:childTnLst>
                                    <p:set>
                                      <p:cBhvr>
                                        <p:cTn id="46" dur="1" fill="hold">
                                          <p:stCondLst>
                                            <p:cond delay="0"/>
                                          </p:stCondLst>
                                        </p:cTn>
                                        <p:tgtEl>
                                          <p:spTgt spid="21"/>
                                        </p:tgtEl>
                                        <p:attrNameLst>
                                          <p:attrName>style.visibility</p:attrName>
                                        </p:attrNameLst>
                                      </p:cBhvr>
                                      <p:to>
                                        <p:strVal val="visible"/>
                                      </p:to>
                                    </p:set>
                                    <p:anim calcmode="lin" valueType="num">
                                      <p:cBhvr additive="base">
                                        <p:cTn id="47" dur="350" fill="hold"/>
                                        <p:tgtEl>
                                          <p:spTgt spid="21"/>
                                        </p:tgtEl>
                                        <p:attrNameLst>
                                          <p:attrName>ppt_w</p:attrName>
                                        </p:attrNameLst>
                                      </p:cBhvr>
                                      <p:tavLst>
                                        <p:tav tm="0">
                                          <p:val>
                                            <p:fltVal val="0"/>
                                          </p:val>
                                        </p:tav>
                                        <p:tav tm="100000">
                                          <p:val>
                                            <p:strVal val="#ppt_w"/>
                                          </p:val>
                                        </p:tav>
                                      </p:tavLst>
                                    </p:anim>
                                    <p:anim calcmode="lin" valueType="num">
                                      <p:cBhvr additive="base">
                                        <p:cTn id="48" dur="350" fill="hold"/>
                                        <p:tgtEl>
                                          <p:spTgt spid="21"/>
                                        </p:tgtEl>
                                        <p:attrNameLst>
                                          <p:attrName>ppt_h</p:attrName>
                                        </p:attrNameLst>
                                      </p:cBhvr>
                                      <p:tavLst>
                                        <p:tav tm="0">
                                          <p:val>
                                            <p:fltVal val="0"/>
                                          </p:val>
                                        </p:tav>
                                        <p:tav tm="100000">
                                          <p:val>
                                            <p:strVal val="#ppt_h"/>
                                          </p:val>
                                        </p:tav>
                                      </p:tavLst>
                                    </p:anim>
                                    <p:animEffect transition="in" filter="fade">
                                      <p:cBhvr>
                                        <p:cTn id="49" dur="350"/>
                                        <p:tgtEl>
                                          <p:spTgt spid="21"/>
                                        </p:tgtEl>
                                      </p:cBhvr>
                                    </p:animEffect>
                                  </p:childTnLst>
                                </p:cTn>
                              </p:par>
                              <p:par>
                                <p:cTn id="50" presetID="10" presetClass="entr" presetSubtype="0" fill="hold" nodeType="withEffect">
                                  <p:stCondLst>
                                    <p:cond delay="12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nodeType="withEffect">
                                  <p:stCondLst>
                                    <p:cond delay="130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nodeType="withEffect">
                                  <p:stCondLst>
                                    <p:cond delay="150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nodeType="withEffect">
                                  <p:stCondLst>
                                    <p:cond delay="160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Where the errors are: as percentages</a:t>
            </a:r>
            <a:endParaRPr lang="en-US" sz="2600" dirty="0"/>
          </a:p>
        </p:txBody>
      </p:sp>
      <p:sp>
        <p:nvSpPr>
          <p:cNvPr id="5" name="s19_ax"/>
          <p:cNvSpPr txBox="1"/>
          <p:nvPr/>
        </p:nvSpPr>
        <p:spPr>
          <a:xfrm>
            <a:off x="2103120" y="1188720"/>
            <a:ext cx="3429000" cy="228600"/>
          </a:xfrm>
          <a:prstGeom prst="rect">
            <a:avLst/>
          </a:prstGeom>
          <a:noFill/>
          <a:ln/>
        </p:spPr>
        <p:txBody>
          <a:bodyPr wrap="square" lIns="0" tIns="0" rIns="0" bIns="0" rtlCol="0" anchor="t"/>
          <a:lstStyle/>
          <a:p>
            <a:pPr marL="0" indent="0" algn="ctr">
              <a:buNone/>
            </a:pPr>
            <a:r>
              <a:rPr lang="en-US" sz="1200" b="1" dirty="0">
                <a:solidFill>
                  <a:srgbClr val="2E8B8B"/>
                </a:solidFill>
                <a:latin typeface="Calibri" pitchFamily="34" charset="0"/>
                <a:ea typeface="Calibri" pitchFamily="34" charset="-122"/>
                <a:cs typeface="Calibri" pitchFamily="34" charset="-120"/>
              </a:rPr>
              <a:t>Predicted by the model</a:t>
            </a:r>
            <a:endParaRPr lang="en-US" sz="1200" dirty="0"/>
          </a:p>
        </p:txBody>
      </p:sp>
      <p:sp>
        <p:nvSpPr>
          <p:cNvPr id="6" name="s19_ay"/>
          <p:cNvSpPr txBox="1"/>
          <p:nvPr/>
        </p:nvSpPr>
        <p:spPr>
          <a:xfrm>
            <a:off x="640080" y="2574950"/>
            <a:ext cx="822960" cy="274320"/>
          </a:xfrm>
          <a:prstGeom prst="rect">
            <a:avLst/>
          </a:prstGeom>
          <a:noFill/>
          <a:ln/>
        </p:spPr>
        <p:txBody>
          <a:bodyPr wrap="square" lIns="0" tIns="0" rIns="0" bIns="0" rtlCol="0" anchor="t"/>
          <a:lstStyle/>
          <a:p>
            <a:pPr marL="0" indent="0">
              <a:buNone/>
            </a:pPr>
            <a:r>
              <a:rPr lang="en-US" sz="1200" b="1" dirty="0">
                <a:solidFill>
                  <a:srgbClr val="2E8B8B"/>
                </a:solidFill>
                <a:latin typeface="Calibri" pitchFamily="34" charset="0"/>
                <a:ea typeface="Calibri" pitchFamily="34" charset="-122"/>
                <a:cs typeface="Calibri" pitchFamily="34" charset="-120"/>
              </a:rPr>
              <a:t>Actual</a:t>
            </a:r>
            <a:endParaRPr lang="en-US" sz="1200" dirty="0"/>
          </a:p>
        </p:txBody>
      </p:sp>
      <p:sp>
        <p:nvSpPr>
          <p:cNvPr id="7" name="!!ch0"/>
          <p:cNvSpPr txBox="1"/>
          <p:nvPr/>
        </p:nvSpPr>
        <p:spPr>
          <a:xfrm>
            <a:off x="2103120" y="1389888"/>
            <a:ext cx="1143000" cy="201168"/>
          </a:xfrm>
          <a:prstGeom prst="rect">
            <a:avLst/>
          </a:prstGeom>
          <a:noFill/>
          <a:ln/>
        </p:spPr>
        <p:txBody>
          <a:bodyPr wrap="square" lIns="0" tIns="0" rIns="0" bIns="0" rtlCol="0" anchor="t"/>
          <a:lstStyle/>
          <a:p>
            <a:pPr marL="0" indent="0" algn="ctr">
              <a:buNone/>
            </a:pPr>
            <a:r>
              <a:rPr lang="en-US" sz="1100" b="1" dirty="0">
                <a:solidFill>
                  <a:srgbClr val="1B3A5F"/>
                </a:solidFill>
                <a:latin typeface="Calibri" pitchFamily="34" charset="0"/>
                <a:ea typeface="Calibri" pitchFamily="34" charset="-122"/>
                <a:cs typeface="Calibri" pitchFamily="34" charset="-120"/>
              </a:rPr>
              <a:t>fatal</a:t>
            </a:r>
            <a:endParaRPr lang="en-US" sz="1100" dirty="0"/>
          </a:p>
        </p:txBody>
      </p:sp>
      <p:sp>
        <p:nvSpPr>
          <p:cNvPr id="8" name="!!ch1"/>
          <p:cNvSpPr txBox="1"/>
          <p:nvPr/>
        </p:nvSpPr>
        <p:spPr>
          <a:xfrm>
            <a:off x="3246120" y="1389888"/>
            <a:ext cx="1143000" cy="201168"/>
          </a:xfrm>
          <a:prstGeom prst="rect">
            <a:avLst/>
          </a:prstGeom>
          <a:noFill/>
          <a:ln/>
        </p:spPr>
        <p:txBody>
          <a:bodyPr wrap="square" lIns="0" tIns="0" rIns="0" bIns="0" rtlCol="0" anchor="t"/>
          <a:lstStyle/>
          <a:p>
            <a:pPr marL="0" indent="0" algn="ctr">
              <a:buNone/>
            </a:pPr>
            <a:r>
              <a:rPr lang="en-US" sz="1100" b="1" dirty="0">
                <a:solidFill>
                  <a:srgbClr val="1B3A5F"/>
                </a:solidFill>
                <a:latin typeface="Calibri" pitchFamily="34" charset="0"/>
                <a:ea typeface="Calibri" pitchFamily="34" charset="-122"/>
                <a:cs typeface="Calibri" pitchFamily="34" charset="-120"/>
              </a:rPr>
              <a:t>major</a:t>
            </a:r>
            <a:endParaRPr lang="en-US" sz="1100" dirty="0"/>
          </a:p>
        </p:txBody>
      </p:sp>
      <p:sp>
        <p:nvSpPr>
          <p:cNvPr id="9" name="!!ch2"/>
          <p:cNvSpPr txBox="1"/>
          <p:nvPr/>
        </p:nvSpPr>
        <p:spPr>
          <a:xfrm>
            <a:off x="4389120" y="1389888"/>
            <a:ext cx="1143000" cy="201168"/>
          </a:xfrm>
          <a:prstGeom prst="rect">
            <a:avLst/>
          </a:prstGeom>
          <a:noFill/>
          <a:ln/>
        </p:spPr>
        <p:txBody>
          <a:bodyPr wrap="square" lIns="0" tIns="0" rIns="0" bIns="0" rtlCol="0" anchor="t"/>
          <a:lstStyle/>
          <a:p>
            <a:pPr marL="0" indent="0" algn="ctr">
              <a:buNone/>
            </a:pPr>
            <a:r>
              <a:rPr lang="en-US" sz="1100" b="1" dirty="0">
                <a:solidFill>
                  <a:srgbClr val="1B3A5F"/>
                </a:solidFill>
                <a:latin typeface="Calibri" pitchFamily="34" charset="0"/>
                <a:ea typeface="Calibri" pitchFamily="34" charset="-122"/>
                <a:cs typeface="Calibri" pitchFamily="34" charset="-120"/>
              </a:rPr>
              <a:t>minor</a:t>
            </a:r>
            <a:endParaRPr lang="en-US" sz="1100" dirty="0"/>
          </a:p>
        </p:txBody>
      </p:sp>
      <p:sp>
        <p:nvSpPr>
          <p:cNvPr id="10" name="!!rh0"/>
          <p:cNvSpPr txBox="1"/>
          <p:nvPr/>
        </p:nvSpPr>
        <p:spPr>
          <a:xfrm>
            <a:off x="1280160" y="1600200"/>
            <a:ext cx="777240" cy="749808"/>
          </a:xfrm>
          <a:prstGeom prst="rect">
            <a:avLst/>
          </a:prstGeom>
          <a:noFill/>
          <a:ln/>
        </p:spPr>
        <p:txBody>
          <a:bodyPr wrap="square" lIns="0" tIns="0" rIns="0" bIns="0" rtlCol="0" anchor="ctr"/>
          <a:lstStyle/>
          <a:p>
            <a:pPr marL="0" indent="0" algn="r">
              <a:buNone/>
            </a:pPr>
            <a:r>
              <a:rPr lang="en-US" sz="1100" b="1" dirty="0">
                <a:solidFill>
                  <a:srgbClr val="1B3A5F"/>
                </a:solidFill>
                <a:latin typeface="Calibri" pitchFamily="34" charset="0"/>
                <a:ea typeface="Calibri" pitchFamily="34" charset="-122"/>
                <a:cs typeface="Calibri" pitchFamily="34" charset="-120"/>
              </a:rPr>
              <a:t>fatal</a:t>
            </a:r>
            <a:endParaRPr lang="en-US" sz="1100" dirty="0"/>
          </a:p>
        </p:txBody>
      </p:sp>
      <p:sp>
        <p:nvSpPr>
          <p:cNvPr id="11" name="!!rh1"/>
          <p:cNvSpPr txBox="1"/>
          <p:nvPr/>
        </p:nvSpPr>
        <p:spPr>
          <a:xfrm>
            <a:off x="1280160" y="2350008"/>
            <a:ext cx="777240" cy="749808"/>
          </a:xfrm>
          <a:prstGeom prst="rect">
            <a:avLst/>
          </a:prstGeom>
          <a:noFill/>
          <a:ln/>
        </p:spPr>
        <p:txBody>
          <a:bodyPr wrap="square" lIns="0" tIns="0" rIns="0" bIns="0" rtlCol="0" anchor="ctr"/>
          <a:lstStyle/>
          <a:p>
            <a:pPr marL="0" indent="0" algn="r">
              <a:buNone/>
            </a:pPr>
            <a:r>
              <a:rPr lang="en-US" sz="1100" b="1" dirty="0">
                <a:solidFill>
                  <a:srgbClr val="1B3A5F"/>
                </a:solidFill>
                <a:latin typeface="Calibri" pitchFamily="34" charset="0"/>
                <a:ea typeface="Calibri" pitchFamily="34" charset="-122"/>
                <a:cs typeface="Calibri" pitchFamily="34" charset="-120"/>
              </a:rPr>
              <a:t>major</a:t>
            </a:r>
            <a:endParaRPr lang="en-US" sz="1100" dirty="0"/>
          </a:p>
        </p:txBody>
      </p:sp>
      <p:sp>
        <p:nvSpPr>
          <p:cNvPr id="12" name="!!rh2"/>
          <p:cNvSpPr txBox="1"/>
          <p:nvPr/>
        </p:nvSpPr>
        <p:spPr>
          <a:xfrm>
            <a:off x="1280160" y="3099816"/>
            <a:ext cx="777240" cy="749808"/>
          </a:xfrm>
          <a:prstGeom prst="rect">
            <a:avLst/>
          </a:prstGeom>
          <a:noFill/>
          <a:ln/>
        </p:spPr>
        <p:txBody>
          <a:bodyPr wrap="square" lIns="0" tIns="0" rIns="0" bIns="0" rtlCol="0" anchor="ctr"/>
          <a:lstStyle/>
          <a:p>
            <a:pPr marL="0" indent="0" algn="r">
              <a:buNone/>
            </a:pPr>
            <a:r>
              <a:rPr lang="en-US" sz="1100" b="1" dirty="0">
                <a:solidFill>
                  <a:srgbClr val="1B3A5F"/>
                </a:solidFill>
                <a:latin typeface="Calibri" pitchFamily="34" charset="0"/>
                <a:ea typeface="Calibri" pitchFamily="34" charset="-122"/>
                <a:cs typeface="Calibri" pitchFamily="34" charset="-120"/>
              </a:rPr>
              <a:t>minor</a:t>
            </a:r>
            <a:endParaRPr lang="en-US" sz="1100" dirty="0"/>
          </a:p>
        </p:txBody>
      </p:sp>
      <p:sp>
        <p:nvSpPr>
          <p:cNvPr id="13" name="!!c00"/>
          <p:cNvSpPr txBox="1"/>
          <p:nvPr/>
        </p:nvSpPr>
        <p:spPr>
          <a:xfrm>
            <a:off x="2103120" y="1600200"/>
            <a:ext cx="1143000" cy="749808"/>
          </a:xfrm>
          <a:prstGeom prst="rect">
            <a:avLst/>
          </a:prstGeom>
          <a:solidFill>
            <a:srgbClr val="294669"/>
          </a:solidFill>
          <a:ln w="12700">
            <a:solidFill>
              <a:srgbClr val="C8D1DC"/>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93.3%</a:t>
            </a:r>
            <a:endParaRPr lang="en-US" sz="1800" dirty="0"/>
          </a:p>
        </p:txBody>
      </p:sp>
      <p:sp>
        <p:nvSpPr>
          <p:cNvPr id="14" name="!!c01"/>
          <p:cNvSpPr txBox="1"/>
          <p:nvPr/>
        </p:nvSpPr>
        <p:spPr>
          <a:xfrm>
            <a:off x="3246120" y="1600200"/>
            <a:ext cx="1143000" cy="749808"/>
          </a:xfrm>
          <a:prstGeom prst="rect">
            <a:avLst/>
          </a:prstGeom>
          <a:solidFill>
            <a:srgbClr val="F6D9CE"/>
          </a:solidFill>
          <a:ln w="12700">
            <a:solidFill>
              <a:srgbClr val="C8D1DC"/>
            </a:solidFill>
          </a:ln>
        </p:spPr>
        <p:txBody>
          <a:bodyPr wrap="square" lIns="0" tIns="0" rIns="0" bIns="0" rtlCol="0" anchor="ctr"/>
          <a:lstStyle/>
          <a:p>
            <a:pPr marL="0" indent="0" algn="ctr">
              <a:buNone/>
            </a:pPr>
            <a:r>
              <a:rPr lang="en-US" sz="1800" b="1" dirty="0">
                <a:solidFill>
                  <a:srgbClr val="C75B39"/>
                </a:solidFill>
                <a:latin typeface="Calibri" pitchFamily="34" charset="0"/>
                <a:ea typeface="Calibri" pitchFamily="34" charset="-122"/>
                <a:cs typeface="Calibri" pitchFamily="34" charset="-120"/>
              </a:rPr>
              <a:t>6.7%</a:t>
            </a:r>
            <a:endParaRPr lang="en-US" sz="1800" dirty="0"/>
          </a:p>
        </p:txBody>
      </p:sp>
      <p:sp>
        <p:nvSpPr>
          <p:cNvPr id="15" name="!!c02"/>
          <p:cNvSpPr txBox="1"/>
          <p:nvPr/>
        </p:nvSpPr>
        <p:spPr>
          <a:xfrm>
            <a:off x="4389120" y="1600200"/>
            <a:ext cx="1143000" cy="749808"/>
          </a:xfrm>
          <a:prstGeom prst="rect">
            <a:avLst/>
          </a:prstGeom>
          <a:solidFill>
            <a:srgbClr val="FFFFFF"/>
          </a:solidFill>
          <a:ln w="12700">
            <a:solidFill>
              <a:srgbClr val="C8D1DC"/>
            </a:solidFill>
          </a:ln>
        </p:spPr>
        <p:txBody>
          <a:bodyPr wrap="square" lIns="0" tIns="0" rIns="0" bIns="0" rtlCol="0" anchor="ctr"/>
          <a:lstStyle/>
          <a:p>
            <a:pPr marL="0" indent="0" algn="ctr">
              <a:buNone/>
            </a:pPr>
            <a:r>
              <a:rPr lang="en-US" sz="1800" b="1" dirty="0">
                <a:solidFill>
                  <a:srgbClr val="C75B39"/>
                </a:solidFill>
                <a:latin typeface="Calibri" pitchFamily="34" charset="0"/>
                <a:ea typeface="Calibri" pitchFamily="34" charset="-122"/>
                <a:cs typeface="Calibri" pitchFamily="34" charset="-120"/>
              </a:rPr>
              <a:t>0.0%</a:t>
            </a:r>
            <a:endParaRPr lang="en-US" sz="1800" dirty="0"/>
          </a:p>
        </p:txBody>
      </p:sp>
      <p:sp>
        <p:nvSpPr>
          <p:cNvPr id="16" name="!!c10"/>
          <p:cNvSpPr txBox="1"/>
          <p:nvPr/>
        </p:nvSpPr>
        <p:spPr>
          <a:xfrm>
            <a:off x="2103120" y="2350008"/>
            <a:ext cx="1143000" cy="749808"/>
          </a:xfrm>
          <a:prstGeom prst="rect">
            <a:avLst/>
          </a:prstGeom>
          <a:solidFill>
            <a:srgbClr val="F6D9CE"/>
          </a:solidFill>
          <a:ln w="12700">
            <a:solidFill>
              <a:srgbClr val="C8D1DC"/>
            </a:solidFill>
          </a:ln>
        </p:spPr>
        <p:txBody>
          <a:bodyPr wrap="square" lIns="0" tIns="0" rIns="0" bIns="0" rtlCol="0" anchor="ctr"/>
          <a:lstStyle/>
          <a:p>
            <a:pPr marL="0" indent="0" algn="ctr">
              <a:buNone/>
            </a:pPr>
            <a:r>
              <a:rPr lang="en-US" sz="1800" b="1" dirty="0">
                <a:solidFill>
                  <a:srgbClr val="C75B39"/>
                </a:solidFill>
                <a:latin typeface="Calibri" pitchFamily="34" charset="0"/>
                <a:ea typeface="Calibri" pitchFamily="34" charset="-122"/>
                <a:cs typeface="Calibri" pitchFamily="34" charset="-120"/>
              </a:rPr>
              <a:t>3.7%</a:t>
            </a:r>
            <a:endParaRPr lang="en-US" sz="1800" dirty="0"/>
          </a:p>
        </p:txBody>
      </p:sp>
      <p:sp>
        <p:nvSpPr>
          <p:cNvPr id="17" name="!!c11"/>
          <p:cNvSpPr txBox="1"/>
          <p:nvPr/>
        </p:nvSpPr>
        <p:spPr>
          <a:xfrm>
            <a:off x="3246120" y="2350008"/>
            <a:ext cx="1143000" cy="749808"/>
          </a:xfrm>
          <a:prstGeom prst="rect">
            <a:avLst/>
          </a:prstGeom>
          <a:solidFill>
            <a:srgbClr val="2B486A"/>
          </a:solidFill>
          <a:ln w="12700">
            <a:solidFill>
              <a:srgbClr val="C8D1DC"/>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92.2%</a:t>
            </a:r>
            <a:endParaRPr lang="en-US" sz="1800" dirty="0"/>
          </a:p>
        </p:txBody>
      </p:sp>
      <p:sp>
        <p:nvSpPr>
          <p:cNvPr id="18" name="!!c12"/>
          <p:cNvSpPr txBox="1"/>
          <p:nvPr/>
        </p:nvSpPr>
        <p:spPr>
          <a:xfrm>
            <a:off x="4389120" y="2350008"/>
            <a:ext cx="1143000" cy="749808"/>
          </a:xfrm>
          <a:prstGeom prst="rect">
            <a:avLst/>
          </a:prstGeom>
          <a:solidFill>
            <a:srgbClr val="F6D9CE"/>
          </a:solidFill>
          <a:ln w="12700">
            <a:solidFill>
              <a:srgbClr val="C8D1DC"/>
            </a:solidFill>
          </a:ln>
        </p:spPr>
        <p:txBody>
          <a:bodyPr wrap="square" lIns="0" tIns="0" rIns="0" bIns="0" rtlCol="0" anchor="ctr"/>
          <a:lstStyle/>
          <a:p>
            <a:pPr marL="0" indent="0" algn="ctr">
              <a:buNone/>
            </a:pPr>
            <a:r>
              <a:rPr lang="en-US" sz="1800" b="1" dirty="0">
                <a:solidFill>
                  <a:srgbClr val="C75B39"/>
                </a:solidFill>
                <a:latin typeface="Calibri" pitchFamily="34" charset="0"/>
                <a:ea typeface="Calibri" pitchFamily="34" charset="-122"/>
                <a:cs typeface="Calibri" pitchFamily="34" charset="-120"/>
              </a:rPr>
              <a:t>4.1%</a:t>
            </a:r>
            <a:endParaRPr lang="en-US" sz="1800" dirty="0"/>
          </a:p>
        </p:txBody>
      </p:sp>
      <p:sp>
        <p:nvSpPr>
          <p:cNvPr id="19" name="!!c20"/>
          <p:cNvSpPr txBox="1"/>
          <p:nvPr/>
        </p:nvSpPr>
        <p:spPr>
          <a:xfrm>
            <a:off x="2103120" y="3099816"/>
            <a:ext cx="1143000" cy="749808"/>
          </a:xfrm>
          <a:prstGeom prst="rect">
            <a:avLst/>
          </a:prstGeom>
          <a:solidFill>
            <a:srgbClr val="FFFFFF"/>
          </a:solidFill>
          <a:ln w="12700">
            <a:solidFill>
              <a:srgbClr val="C8D1DC"/>
            </a:solidFill>
          </a:ln>
        </p:spPr>
        <p:txBody>
          <a:bodyPr wrap="square" lIns="0" tIns="0" rIns="0" bIns="0" rtlCol="0" anchor="ctr"/>
          <a:lstStyle/>
          <a:p>
            <a:pPr marL="0" indent="0" algn="ctr">
              <a:buNone/>
            </a:pPr>
            <a:r>
              <a:rPr lang="en-US" sz="1800" b="1" dirty="0">
                <a:solidFill>
                  <a:srgbClr val="C75B39"/>
                </a:solidFill>
                <a:latin typeface="Calibri" pitchFamily="34" charset="0"/>
                <a:ea typeface="Calibri" pitchFamily="34" charset="-122"/>
                <a:cs typeface="Calibri" pitchFamily="34" charset="-120"/>
              </a:rPr>
              <a:t>0.0%</a:t>
            </a:r>
            <a:endParaRPr lang="en-US" sz="1800" dirty="0"/>
          </a:p>
        </p:txBody>
      </p:sp>
      <p:sp>
        <p:nvSpPr>
          <p:cNvPr id="20" name="!!c21"/>
          <p:cNvSpPr txBox="1"/>
          <p:nvPr/>
        </p:nvSpPr>
        <p:spPr>
          <a:xfrm>
            <a:off x="3246120" y="3099816"/>
            <a:ext cx="1143000" cy="749808"/>
          </a:xfrm>
          <a:prstGeom prst="rect">
            <a:avLst/>
          </a:prstGeom>
          <a:solidFill>
            <a:srgbClr val="FFFFFF"/>
          </a:solidFill>
          <a:ln w="12700">
            <a:solidFill>
              <a:srgbClr val="C8D1DC"/>
            </a:solidFill>
          </a:ln>
        </p:spPr>
        <p:txBody>
          <a:bodyPr wrap="square" lIns="0" tIns="0" rIns="0" bIns="0" rtlCol="0" anchor="ctr"/>
          <a:lstStyle/>
          <a:p>
            <a:pPr marL="0" indent="0" algn="ctr">
              <a:buNone/>
            </a:pPr>
            <a:r>
              <a:rPr lang="en-US" sz="1800" b="1" dirty="0">
                <a:solidFill>
                  <a:srgbClr val="C75B39"/>
                </a:solidFill>
                <a:latin typeface="Calibri" pitchFamily="34" charset="0"/>
                <a:ea typeface="Calibri" pitchFamily="34" charset="-122"/>
                <a:cs typeface="Calibri" pitchFamily="34" charset="-120"/>
              </a:rPr>
              <a:t>2.5%</a:t>
            </a:r>
            <a:endParaRPr lang="en-US" sz="1800" dirty="0"/>
          </a:p>
        </p:txBody>
      </p:sp>
      <p:sp>
        <p:nvSpPr>
          <p:cNvPr id="21" name="!!c22"/>
          <p:cNvSpPr txBox="1"/>
          <p:nvPr/>
        </p:nvSpPr>
        <p:spPr>
          <a:xfrm>
            <a:off x="4389120" y="3099816"/>
            <a:ext cx="1143000" cy="749808"/>
          </a:xfrm>
          <a:prstGeom prst="rect">
            <a:avLst/>
          </a:prstGeom>
          <a:solidFill>
            <a:srgbClr val="203F63"/>
          </a:solidFill>
          <a:ln w="12700">
            <a:solidFill>
              <a:srgbClr val="C8D1DC"/>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97.5%</a:t>
            </a:r>
            <a:endParaRPr lang="en-US" sz="1800" dirty="0"/>
          </a:p>
        </p:txBody>
      </p:sp>
      <p:sp>
        <p:nvSpPr>
          <p:cNvPr id="22" name="s20_call"/>
          <p:cNvSpPr/>
          <p:nvPr/>
        </p:nvSpPr>
        <p:spPr>
          <a:xfrm>
            <a:off x="5943600" y="1600200"/>
            <a:ext cx="2651760" cy="2240280"/>
          </a:xfrm>
          <a:prstGeom prst="roundRect">
            <a:avLst>
              <a:gd name="adj" fmla="val 3265"/>
            </a:avLst>
          </a:prstGeom>
          <a:solidFill>
            <a:srgbClr val="FBEAE4"/>
          </a:solidFill>
          <a:ln w="9525">
            <a:solidFill>
              <a:srgbClr val="C75B39"/>
            </a:solidFill>
            <a:prstDash val="solid"/>
          </a:ln>
        </p:spPr>
      </p:sp>
      <p:sp>
        <p:nvSpPr>
          <p:cNvPr id="23" name="s20_callt"/>
          <p:cNvSpPr txBox="1"/>
          <p:nvPr/>
        </p:nvSpPr>
        <p:spPr>
          <a:xfrm>
            <a:off x="6080760" y="1645920"/>
            <a:ext cx="2423160" cy="2148840"/>
          </a:xfrm>
          <a:prstGeom prst="rect">
            <a:avLst/>
          </a:prstGeom>
          <a:noFill/>
          <a:ln/>
        </p:spPr>
        <p:txBody>
          <a:bodyPr wrap="square" lIns="0" tIns="0" rIns="0" bIns="0" rtlCol="0" anchor="ctr"/>
          <a:lstStyle/>
          <a:p>
            <a:pPr marL="0" indent="0">
              <a:buNone/>
            </a:pPr>
            <a:r>
              <a:rPr lang="en-US" sz="2600" b="1" dirty="0">
                <a:solidFill>
                  <a:srgbClr val="C75B39"/>
                </a:solidFill>
                <a:latin typeface="Calibri" pitchFamily="34" charset="0"/>
                <a:ea typeface="Calibri" pitchFamily="34" charset="-122"/>
                <a:cs typeface="Calibri" pitchFamily="34" charset="-120"/>
              </a:rPr>
              <a:t>188 of 189</a:t>
            </a:r>
            <a:endParaRPr lang="en-US" sz="1400" dirty="0"/>
          </a:p>
          <a:p>
            <a:pPr marL="0" indent="0">
              <a:buNone/>
            </a:pPr>
            <a:r>
              <a:rPr lang="en-US" sz="1200" dirty="0">
                <a:solidFill>
                  <a:srgbClr val="333333"/>
                </a:solidFill>
                <a:latin typeface="Calibri" pitchFamily="34" charset="0"/>
                <a:ea typeface="Calibri" pitchFamily="34" charset="-122"/>
                <a:cs typeface="Calibri" pitchFamily="34" charset="-120"/>
              </a:rPr>
              <a:t>mistakes land in a neighboring class. Only 1 crash jumped two levels, and no fatal crash was called minor.</a:t>
            </a:r>
            <a:endParaRPr lang="en-US" sz="1400" dirty="0"/>
          </a:p>
          <a:p>
            <a:pPr marL="0" indent="0">
              <a:buNone/>
            </a:pPr>
            <a:r>
              <a:rPr lang="en-US" sz="600" dirty="0">
                <a:solidFill>
                  <a:srgbClr val="333333"/>
                </a:solidFill>
                <a:latin typeface="Calibri" pitchFamily="34" charset="0"/>
                <a:ea typeface="Calibri" pitchFamily="34" charset="-122"/>
                <a:cs typeface="Calibri" pitchFamily="34" charset="-120"/>
              </a:rPr>
              <a:t> </a:t>
            </a:r>
            <a:endParaRPr lang="en-US" sz="1400" dirty="0"/>
          </a:p>
          <a:p>
            <a:pPr marL="0" indent="0">
              <a:buNone/>
            </a:pPr>
            <a:r>
              <a:rPr lang="en-US" sz="1150" b="1" dirty="0">
                <a:solidFill>
                  <a:srgbClr val="1B3A5F"/>
                </a:solidFill>
                <a:latin typeface="Calibri" pitchFamily="34" charset="0"/>
                <a:ea typeface="Calibri" pitchFamily="34" charset="-122"/>
                <a:cs typeface="Calibri" pitchFamily="34" charset="-120"/>
              </a:rPr>
              <a:t>Weak spot: 40 of 597 fatal crashes were called major.</a:t>
            </a:r>
            <a:endParaRPr lang="en-US" sz="1400" dirty="0"/>
          </a:p>
        </p:txBody>
      </p:sp>
      <p:sp>
        <p:nvSpPr>
          <p:cNvPr id="24" name="s19_why_bg"/>
          <p:cNvSpPr/>
          <p:nvPr/>
        </p:nvSpPr>
        <p:spPr>
          <a:xfrm>
            <a:off x="548640" y="4114800"/>
            <a:ext cx="8046720" cy="329184"/>
          </a:xfrm>
          <a:prstGeom prst="roundRect">
            <a:avLst>
              <a:gd name="adj" fmla="val 22222"/>
            </a:avLst>
          </a:prstGeom>
          <a:solidFill>
            <a:srgbClr val="E3F1F1"/>
          </a:solidFill>
          <a:ln w="9525">
            <a:solidFill>
              <a:srgbClr val="E3F1F1"/>
            </a:solidFill>
            <a:prstDash val="solid"/>
          </a:ln>
        </p:spPr>
      </p:sp>
      <p:sp>
        <p:nvSpPr>
          <p:cNvPr id="25" name="s19_why"/>
          <p:cNvSpPr txBox="1"/>
          <p:nvPr/>
        </p:nvSpPr>
        <p:spPr>
          <a:xfrm>
            <a:off x="731520" y="4114800"/>
            <a:ext cx="7772400" cy="329184"/>
          </a:xfrm>
          <a:prstGeom prst="rect">
            <a:avLst/>
          </a:prstGeom>
          <a:noFill/>
          <a:ln/>
        </p:spPr>
        <p:txBody>
          <a:bodyPr wrap="square" lIns="0" tIns="0" rIns="0" bIns="0" rtlCol="0" anchor="ctr"/>
          <a:lstStyle/>
          <a:p>
            <a:pPr marL="0" indent="0">
              <a:buNone/>
            </a:pPr>
            <a:r>
              <a:rPr lang="en-US" sz="1000" b="1" kern="0" spc="200" dirty="0">
                <a:solidFill>
                  <a:srgbClr val="2E8B8B"/>
                </a:solidFill>
                <a:latin typeface="Calibri" pitchFamily="34" charset="0"/>
                <a:ea typeface="Calibri" pitchFamily="34" charset="-122"/>
                <a:cs typeface="Calibri" pitchFamily="34" charset="-120"/>
              </a:rPr>
              <a:t>WHY IT MATTERS  </a:t>
            </a:r>
            <a:r>
              <a:rPr lang="en-US" sz="1200" dirty="0">
                <a:solidFill>
                  <a:srgbClr val="333333"/>
                </a:solidFill>
                <a:latin typeface="Calibri" pitchFamily="34" charset="0"/>
                <a:ea typeface="Calibri" pitchFamily="34" charset="-122"/>
                <a:cs typeface="Calibri" pitchFamily="34" charset="-120"/>
              </a:rPr>
              <a:t>Errors behave like a blurred boundary on a severity scale.</a:t>
            </a:r>
            <a:endParaRPr lang="en-US" sz="1400" dirty="0"/>
          </a:p>
        </p:txBody>
      </p:sp>
      <p:sp>
        <p:nvSpPr>
          <p:cNvPr id="2"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60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nodeType="clickEffect">
                                  <p:stCondLst>
                                    <p:cond delay="0"/>
                                  </p:stCondLst>
                                  <p:childTnLst>
                                    <p:animEffect transition="out" filter="fade">
                                      <p:cBhvr>
                                        <p:cTn id="14" dur="600" tmFilter="0, 0; .2, .5; .8, .5; 1, 0"/>
                                        <p:tgtEl>
                                          <p:spTgt spid="22"/>
                                        </p:tgtEl>
                                      </p:cBhvr>
                                    </p:animEffect>
                                    <p:animScale>
                                      <p:cBhvr>
                                        <p:cTn id="15" dur="300" autoRev="1" fill="hold"/>
                                        <p:tgtEl>
                                          <p:spTgt spid="22"/>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What the model relies on</a:t>
            </a:r>
            <a:endParaRPr lang="en-US" sz="2600" dirty="0"/>
          </a:p>
        </p:txBody>
      </p:sp>
      <p:graphicFrame>
        <p:nvGraphicFramePr>
          <p:cNvPr id="5" name="s21_chart"/>
          <p:cNvGraphicFramePr/>
          <p:nvPr/>
        </p:nvGraphicFramePr>
        <p:xfrm>
          <a:off x="548640" y="1143000"/>
          <a:ext cx="512064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21_call"/>
          <p:cNvSpPr/>
          <p:nvPr/>
        </p:nvSpPr>
        <p:spPr>
          <a:xfrm>
            <a:off x="5943600" y="1188720"/>
            <a:ext cx="2651760" cy="1371600"/>
          </a:xfrm>
          <a:prstGeom prst="roundRect">
            <a:avLst>
              <a:gd name="adj" fmla="val 5333"/>
            </a:avLst>
          </a:prstGeom>
          <a:solidFill>
            <a:srgbClr val="FBEAE4"/>
          </a:solidFill>
          <a:ln w="9525">
            <a:solidFill>
              <a:srgbClr val="C75B39"/>
            </a:solidFill>
            <a:prstDash val="solid"/>
          </a:ln>
        </p:spPr>
      </p:sp>
      <p:sp>
        <p:nvSpPr>
          <p:cNvPr id="7" name="s21_callt"/>
          <p:cNvSpPr txBox="1"/>
          <p:nvPr/>
        </p:nvSpPr>
        <p:spPr>
          <a:xfrm>
            <a:off x="6080760" y="1216152"/>
            <a:ext cx="2423160" cy="1325880"/>
          </a:xfrm>
          <a:prstGeom prst="rect">
            <a:avLst/>
          </a:prstGeom>
          <a:noFill/>
          <a:ln/>
        </p:spPr>
        <p:txBody>
          <a:bodyPr wrap="square" lIns="0" tIns="0" rIns="0" bIns="0" rtlCol="0" anchor="ctr"/>
          <a:lstStyle/>
          <a:p>
            <a:pPr marL="0" indent="0">
              <a:buNone/>
            </a:pPr>
            <a:r>
              <a:rPr lang="en-US" sz="3200" b="1" dirty="0">
                <a:solidFill>
                  <a:srgbClr val="C75B39"/>
                </a:solidFill>
                <a:latin typeface="Calibri" pitchFamily="34" charset="0"/>
                <a:ea typeface="Calibri" pitchFamily="34" charset="-122"/>
                <a:cs typeface="Calibri" pitchFamily="34" charset="-120"/>
              </a:rPr>
              <a:t>≈ 49%</a:t>
            </a:r>
            <a:endParaRPr lang="en-US" sz="1400" dirty="0"/>
          </a:p>
          <a:p>
            <a:pPr marL="0" indent="0">
              <a:buNone/>
            </a:pPr>
            <a:r>
              <a:rPr lang="en-US" sz="1150" dirty="0">
                <a:solidFill>
                  <a:srgbClr val="333333"/>
                </a:solidFill>
                <a:latin typeface="Calibri" pitchFamily="34" charset="0"/>
                <a:ea typeface="Calibri" pitchFamily="34" charset="-122"/>
                <a:cs typeface="Calibri" pitchFamily="34" charset="-120"/>
              </a:rPr>
              <a:t>from speed features alone (mean + max + min)</a:t>
            </a:r>
            <a:endParaRPr lang="en-US" sz="1400" dirty="0"/>
          </a:p>
        </p:txBody>
      </p:sp>
      <p:sp>
        <p:nvSpPr>
          <p:cNvPr id="8" name="s21_note"/>
          <p:cNvSpPr/>
          <p:nvPr/>
        </p:nvSpPr>
        <p:spPr>
          <a:xfrm>
            <a:off x="5943600" y="2743200"/>
            <a:ext cx="2651760" cy="1691640"/>
          </a:xfrm>
          <a:prstGeom prst="roundRect">
            <a:avLst>
              <a:gd name="adj" fmla="val 4324"/>
            </a:avLst>
          </a:prstGeom>
          <a:solidFill>
            <a:srgbClr val="E6ECF3"/>
          </a:solidFill>
          <a:ln w="9525">
            <a:solidFill>
              <a:srgbClr val="D5DCE4"/>
            </a:solidFill>
            <a:prstDash val="solid"/>
          </a:ln>
        </p:spPr>
      </p:sp>
      <p:sp>
        <p:nvSpPr>
          <p:cNvPr id="9" name="s21_notet"/>
          <p:cNvSpPr txBox="1"/>
          <p:nvPr/>
        </p:nvSpPr>
        <p:spPr>
          <a:xfrm>
            <a:off x="6080760" y="2788920"/>
            <a:ext cx="2423160" cy="1600200"/>
          </a:xfrm>
          <a:prstGeom prst="rect">
            <a:avLst/>
          </a:prstGeom>
          <a:noFill/>
          <a:ln/>
        </p:spPr>
        <p:txBody>
          <a:bodyPr wrap="square" lIns="0" tIns="0" rIns="0" bIns="0" rtlCol="0" anchor="ctr"/>
          <a:lstStyle/>
          <a:p>
            <a:pPr marL="0" indent="0">
              <a:spcAft>
                <a:spcPts val="500"/>
              </a:spcAft>
              <a:buNone/>
            </a:pPr>
            <a:r>
              <a:rPr lang="en-US" sz="1300" b="1" dirty="0">
                <a:solidFill>
                  <a:srgbClr val="1B3A5F"/>
                </a:solidFill>
                <a:latin typeface="Calibri" pitchFamily="34" charset="0"/>
                <a:ea typeface="Calibri" pitchFamily="34" charset="-122"/>
                <a:cs typeface="Calibri" pitchFamily="34" charset="-120"/>
              </a:rPr>
              <a:t>Read with care</a:t>
            </a:r>
            <a:endParaRPr lang="en-US" sz="1400" dirty="0"/>
          </a:p>
          <a:p>
            <a:pPr marL="0" indent="0">
              <a:spcAft>
                <a:spcPts val="500"/>
              </a:spcAft>
              <a:buNone/>
            </a:pPr>
            <a:r>
              <a:rPr lang="en-US" sz="1150" dirty="0">
                <a:solidFill>
                  <a:srgbClr val="333333"/>
                </a:solidFill>
                <a:latin typeface="Calibri" pitchFamily="34" charset="0"/>
                <a:ea typeface="Calibri" pitchFamily="34" charset="-122"/>
                <a:cs typeface="Calibri" pitchFamily="34" charset="-120"/>
              </a:rPr>
              <a:t>Speed and airbag are measured during the collision, so this is a post-crash triage aid.</a:t>
            </a:r>
            <a:endParaRPr lang="en-US" sz="1400" dirty="0"/>
          </a:p>
          <a:p>
            <a:pPr marL="0" indent="0">
              <a:spcAft>
                <a:spcPts val="500"/>
              </a:spcAft>
              <a:buNone/>
            </a:pPr>
            <a:r>
              <a:rPr lang="en-US" sz="1150" dirty="0">
                <a:solidFill>
                  <a:srgbClr val="333333"/>
                </a:solidFill>
                <a:latin typeface="Calibri" pitchFamily="34" charset="0"/>
                <a:ea typeface="Calibri" pitchFamily="34" charset="-122"/>
                <a:cs typeface="Calibri" pitchFamily="34" charset="-120"/>
              </a:rPr>
              <a:t>City features can act as a location proxy.</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graphicEl>
                                              <a:chart seriesIdx="-3" categoryIdx="-3" bldStep="gridLegend"/>
                                            </p:graphicEl>
                                          </p:spTgt>
                                        </p:tgtEl>
                                        <p:attrNameLst>
                                          <p:attrName>style.visibility</p:attrName>
                                        </p:attrNameLst>
                                      </p:cBhvr>
                                      <p:to>
                                        <p:strVal val="visible"/>
                                      </p:to>
                                    </p:set>
                                    <p:animEffect transition="in" filter="fade">
                                      <p:cBhvr>
                                        <p:cTn id="7" dur="400"/>
                                        <p:tgtEl>
                                          <p:spTgt spid="5">
                                            <p:graphicEl>
                                              <a:chart seriesIdx="-3" categoryIdx="-3" bldStep="gridLegend"/>
                                            </p:graphicEl>
                                          </p:spTgt>
                                        </p:tgtEl>
                                      </p:cBhvr>
                                    </p:animEffect>
                                  </p:childTnLst>
                                </p:cTn>
                              </p:par>
                              <p:par>
                                <p:cTn id="8" presetID="10" presetClass="entr" presetSubtype="0" fill="hold" grpId="0" nodeType="withEffect">
                                  <p:stCondLst>
                                    <p:cond delay="400"/>
                                  </p:stCondLst>
                                  <p:childTnLst>
                                    <p:set>
                                      <p:cBhvr>
                                        <p:cTn id="9" dur="1" fill="hold">
                                          <p:stCondLst>
                                            <p:cond delay="0"/>
                                          </p:stCondLst>
                                        </p:cTn>
                                        <p:tgtEl>
                                          <p:spTgt spid="5">
                                            <p:graphicEl>
                                              <a:chart seriesIdx="-4" categoryIdx="0" bldStep="category"/>
                                            </p:graphicEl>
                                          </p:spTgt>
                                        </p:tgtEl>
                                        <p:attrNameLst>
                                          <p:attrName>style.visibility</p:attrName>
                                        </p:attrNameLst>
                                      </p:cBhvr>
                                      <p:to>
                                        <p:strVal val="visible"/>
                                      </p:to>
                                    </p:set>
                                    <p:animEffect transition="in" filter="fade">
                                      <p:cBhvr>
                                        <p:cTn id="10" dur="400"/>
                                        <p:tgtEl>
                                          <p:spTgt spid="5">
                                            <p:graphicEl>
                                              <a:chart seriesIdx="-4" categoryIdx="0" bldStep="category"/>
                                            </p:graphicEl>
                                          </p:spTgt>
                                        </p:tgtEl>
                                      </p:cBhvr>
                                    </p:animEffect>
                                  </p:childTnLst>
                                </p:cTn>
                              </p:par>
                              <p:par>
                                <p:cTn id="11" presetID="10" presetClass="entr" presetSubtype="0" fill="hold" grpId="0" nodeType="withEffect">
                                  <p:stCondLst>
                                    <p:cond delay="750"/>
                                  </p:stCondLst>
                                  <p:childTnLst>
                                    <p:set>
                                      <p:cBhvr>
                                        <p:cTn id="12" dur="1" fill="hold">
                                          <p:stCondLst>
                                            <p:cond delay="0"/>
                                          </p:stCondLst>
                                        </p:cTn>
                                        <p:tgtEl>
                                          <p:spTgt spid="5">
                                            <p:graphicEl>
                                              <a:chart seriesIdx="-4" categoryIdx="1" bldStep="category"/>
                                            </p:graphicEl>
                                          </p:spTgt>
                                        </p:tgtEl>
                                        <p:attrNameLst>
                                          <p:attrName>style.visibility</p:attrName>
                                        </p:attrNameLst>
                                      </p:cBhvr>
                                      <p:to>
                                        <p:strVal val="visible"/>
                                      </p:to>
                                    </p:set>
                                    <p:animEffect transition="in" filter="fade">
                                      <p:cBhvr>
                                        <p:cTn id="13" dur="400"/>
                                        <p:tgtEl>
                                          <p:spTgt spid="5">
                                            <p:graphicEl>
                                              <a:chart seriesIdx="-4" categoryIdx="1" bldStep="category"/>
                                            </p:graphicEl>
                                          </p:spTgt>
                                        </p:tgtEl>
                                      </p:cBhvr>
                                    </p:animEffect>
                                  </p:childTnLst>
                                </p:cTn>
                              </p:par>
                              <p:par>
                                <p:cTn id="14" presetID="10" presetClass="entr" presetSubtype="0" fill="hold" grpId="0" nodeType="withEffect">
                                  <p:stCondLst>
                                    <p:cond delay="1100"/>
                                  </p:stCondLst>
                                  <p:childTnLst>
                                    <p:set>
                                      <p:cBhvr>
                                        <p:cTn id="15" dur="1" fill="hold">
                                          <p:stCondLst>
                                            <p:cond delay="0"/>
                                          </p:stCondLst>
                                        </p:cTn>
                                        <p:tgtEl>
                                          <p:spTgt spid="5">
                                            <p:graphicEl>
                                              <a:chart seriesIdx="-4" categoryIdx="2" bldStep="category"/>
                                            </p:graphicEl>
                                          </p:spTgt>
                                        </p:tgtEl>
                                        <p:attrNameLst>
                                          <p:attrName>style.visibility</p:attrName>
                                        </p:attrNameLst>
                                      </p:cBhvr>
                                      <p:to>
                                        <p:strVal val="visible"/>
                                      </p:to>
                                    </p:set>
                                    <p:animEffect transition="in" filter="fade">
                                      <p:cBhvr>
                                        <p:cTn id="16" dur="400"/>
                                        <p:tgtEl>
                                          <p:spTgt spid="5">
                                            <p:graphicEl>
                                              <a:chart seriesIdx="-4" categoryIdx="2" bldStep="category"/>
                                            </p:graphicEl>
                                          </p:spTgt>
                                        </p:tgtEl>
                                      </p:cBhvr>
                                    </p:animEffect>
                                  </p:childTnLst>
                                </p:cTn>
                              </p:par>
                              <p:par>
                                <p:cTn id="17" presetID="10" presetClass="entr" presetSubtype="0" fill="hold" grpId="0" nodeType="withEffect">
                                  <p:stCondLst>
                                    <p:cond delay="1450"/>
                                  </p:stCondLst>
                                  <p:childTnLst>
                                    <p:set>
                                      <p:cBhvr>
                                        <p:cTn id="18" dur="1" fill="hold">
                                          <p:stCondLst>
                                            <p:cond delay="0"/>
                                          </p:stCondLst>
                                        </p:cTn>
                                        <p:tgtEl>
                                          <p:spTgt spid="5">
                                            <p:graphicEl>
                                              <a:chart seriesIdx="-4" categoryIdx="3" bldStep="category"/>
                                            </p:graphicEl>
                                          </p:spTgt>
                                        </p:tgtEl>
                                        <p:attrNameLst>
                                          <p:attrName>style.visibility</p:attrName>
                                        </p:attrNameLst>
                                      </p:cBhvr>
                                      <p:to>
                                        <p:strVal val="visible"/>
                                      </p:to>
                                    </p:set>
                                    <p:animEffect transition="in" filter="fade">
                                      <p:cBhvr>
                                        <p:cTn id="19" dur="400"/>
                                        <p:tgtEl>
                                          <p:spTgt spid="5">
                                            <p:graphicEl>
                                              <a:chart seriesIdx="-4" categoryIdx="3" bldStep="category"/>
                                            </p:graphicEl>
                                          </p:spTgt>
                                        </p:tgtEl>
                                      </p:cBhvr>
                                    </p:animEffect>
                                  </p:childTnLst>
                                </p:cTn>
                              </p:par>
                              <p:par>
                                <p:cTn id="20" presetID="10" presetClass="entr" presetSubtype="0" fill="hold" grpId="0" nodeType="withEffect">
                                  <p:stCondLst>
                                    <p:cond delay="1800"/>
                                  </p:stCondLst>
                                  <p:childTnLst>
                                    <p:set>
                                      <p:cBhvr>
                                        <p:cTn id="21" dur="1" fill="hold">
                                          <p:stCondLst>
                                            <p:cond delay="0"/>
                                          </p:stCondLst>
                                        </p:cTn>
                                        <p:tgtEl>
                                          <p:spTgt spid="5">
                                            <p:graphicEl>
                                              <a:chart seriesIdx="-4" categoryIdx="4" bldStep="category"/>
                                            </p:graphicEl>
                                          </p:spTgt>
                                        </p:tgtEl>
                                        <p:attrNameLst>
                                          <p:attrName>style.visibility</p:attrName>
                                        </p:attrNameLst>
                                      </p:cBhvr>
                                      <p:to>
                                        <p:strVal val="visible"/>
                                      </p:to>
                                    </p:set>
                                    <p:animEffect transition="in" filter="fade">
                                      <p:cBhvr>
                                        <p:cTn id="22" dur="400"/>
                                        <p:tgtEl>
                                          <p:spTgt spid="5">
                                            <p:graphicEl>
                                              <a:chart seriesIdx="-4" categoryIdx="4" bldStep="category"/>
                                            </p:graphicEl>
                                          </p:spTgt>
                                        </p:tgtEl>
                                      </p:cBhvr>
                                    </p:animEffect>
                                  </p:childTnLst>
                                </p:cTn>
                              </p:par>
                              <p:par>
                                <p:cTn id="23" presetID="10" presetClass="entr" presetSubtype="0" fill="hold" grpId="0" nodeType="withEffect">
                                  <p:stCondLst>
                                    <p:cond delay="2150"/>
                                  </p:stCondLst>
                                  <p:childTnLst>
                                    <p:set>
                                      <p:cBhvr>
                                        <p:cTn id="24" dur="1" fill="hold">
                                          <p:stCondLst>
                                            <p:cond delay="0"/>
                                          </p:stCondLst>
                                        </p:cTn>
                                        <p:tgtEl>
                                          <p:spTgt spid="5">
                                            <p:graphicEl>
                                              <a:chart seriesIdx="-4" categoryIdx="5" bldStep="category"/>
                                            </p:graphicEl>
                                          </p:spTgt>
                                        </p:tgtEl>
                                        <p:attrNameLst>
                                          <p:attrName>style.visibility</p:attrName>
                                        </p:attrNameLst>
                                      </p:cBhvr>
                                      <p:to>
                                        <p:strVal val="visible"/>
                                      </p:to>
                                    </p:set>
                                    <p:animEffect transition="in" filter="fade">
                                      <p:cBhvr>
                                        <p:cTn id="25" dur="400"/>
                                        <p:tgtEl>
                                          <p:spTgt spid="5">
                                            <p:graphicEl>
                                              <a:chart seriesIdx="-4" categoryIdx="5" bldStep="category"/>
                                            </p:graphicEl>
                                          </p:spTgt>
                                        </p:tgtEl>
                                      </p:cBhvr>
                                    </p:animEffect>
                                  </p:childTnLst>
                                </p:cTn>
                              </p:par>
                              <p:par>
                                <p:cTn id="26" presetID="10" presetClass="entr" presetSubtype="0" fill="hold" grpId="0" nodeType="withEffect">
                                  <p:stCondLst>
                                    <p:cond delay="2500"/>
                                  </p:stCondLst>
                                  <p:childTnLst>
                                    <p:set>
                                      <p:cBhvr>
                                        <p:cTn id="27" dur="1" fill="hold">
                                          <p:stCondLst>
                                            <p:cond delay="0"/>
                                          </p:stCondLst>
                                        </p:cTn>
                                        <p:tgtEl>
                                          <p:spTgt spid="5">
                                            <p:graphicEl>
                                              <a:chart seriesIdx="-4" categoryIdx="6" bldStep="category"/>
                                            </p:graphicEl>
                                          </p:spTgt>
                                        </p:tgtEl>
                                        <p:attrNameLst>
                                          <p:attrName>style.visibility</p:attrName>
                                        </p:attrNameLst>
                                      </p:cBhvr>
                                      <p:to>
                                        <p:strVal val="visible"/>
                                      </p:to>
                                    </p:set>
                                    <p:animEffect transition="in" filter="fade">
                                      <p:cBhvr>
                                        <p:cTn id="28" dur="400"/>
                                        <p:tgtEl>
                                          <p:spTgt spid="5">
                                            <p:graphicEl>
                                              <a:chart seriesIdx="-4" categoryIdx="6" bldStep="category"/>
                                            </p:graphicEl>
                                          </p:spTgt>
                                        </p:tgtEl>
                                      </p:cBhvr>
                                    </p:animEffect>
                                  </p:childTnLst>
                                </p:cTn>
                              </p:par>
                              <p:par>
                                <p:cTn id="29" presetID="10" presetClass="entr" presetSubtype="0" fill="hold" grpId="0" nodeType="withEffect">
                                  <p:stCondLst>
                                    <p:cond delay="2850"/>
                                  </p:stCondLst>
                                  <p:childTnLst>
                                    <p:set>
                                      <p:cBhvr>
                                        <p:cTn id="30" dur="1" fill="hold">
                                          <p:stCondLst>
                                            <p:cond delay="0"/>
                                          </p:stCondLst>
                                        </p:cTn>
                                        <p:tgtEl>
                                          <p:spTgt spid="5">
                                            <p:graphicEl>
                                              <a:chart seriesIdx="-4" categoryIdx="7" bldStep="category"/>
                                            </p:graphicEl>
                                          </p:spTgt>
                                        </p:tgtEl>
                                        <p:attrNameLst>
                                          <p:attrName>style.visibility</p:attrName>
                                        </p:attrNameLst>
                                      </p:cBhvr>
                                      <p:to>
                                        <p:strVal val="visible"/>
                                      </p:to>
                                    </p:set>
                                    <p:animEffect transition="in" filter="fade">
                                      <p:cBhvr>
                                        <p:cTn id="31" dur="400"/>
                                        <p:tgtEl>
                                          <p:spTgt spid="5">
                                            <p:graphicEl>
                                              <a:chart seriesIdx="-4" categoryIdx="7" bldStep="category"/>
                                            </p:graphicEl>
                                          </p:spTgt>
                                        </p:tgtEl>
                                      </p:cBhvr>
                                    </p:animEffect>
                                  </p:childTnLst>
                                </p:cTn>
                              </p:par>
                              <p:par>
                                <p:cTn id="32" presetID="10" presetClass="entr" presetSubtype="0" fill="hold" grpId="0" nodeType="withEffect">
                                  <p:stCondLst>
                                    <p:cond delay="3200"/>
                                  </p:stCondLst>
                                  <p:childTnLst>
                                    <p:set>
                                      <p:cBhvr>
                                        <p:cTn id="33" dur="1" fill="hold">
                                          <p:stCondLst>
                                            <p:cond delay="0"/>
                                          </p:stCondLst>
                                        </p:cTn>
                                        <p:tgtEl>
                                          <p:spTgt spid="5">
                                            <p:graphicEl>
                                              <a:chart seriesIdx="-4" categoryIdx="8" bldStep="category"/>
                                            </p:graphicEl>
                                          </p:spTgt>
                                        </p:tgtEl>
                                        <p:attrNameLst>
                                          <p:attrName>style.visibility</p:attrName>
                                        </p:attrNameLst>
                                      </p:cBhvr>
                                      <p:to>
                                        <p:strVal val="visible"/>
                                      </p:to>
                                    </p:set>
                                    <p:animEffect transition="in" filter="fade">
                                      <p:cBhvr>
                                        <p:cTn id="34" dur="400"/>
                                        <p:tgtEl>
                                          <p:spTgt spid="5">
                                            <p:graphicEl>
                                              <a:chart seriesIdx="-4" categoryIdx="8" bldStep="category"/>
                                            </p:graphicEl>
                                          </p:spTgt>
                                        </p:tgtEl>
                                      </p:cBhvr>
                                    </p:animEffect>
                                  </p:childTnLst>
                                </p:cTn>
                              </p:par>
                              <p:par>
                                <p:cTn id="35" presetID="10" presetClass="entr" presetSubtype="0" fill="hold" grpId="0" nodeType="withEffect">
                                  <p:stCondLst>
                                    <p:cond delay="3550"/>
                                  </p:stCondLst>
                                  <p:childTnLst>
                                    <p:set>
                                      <p:cBhvr>
                                        <p:cTn id="36" dur="1" fill="hold">
                                          <p:stCondLst>
                                            <p:cond delay="0"/>
                                          </p:stCondLst>
                                        </p:cTn>
                                        <p:tgtEl>
                                          <p:spTgt spid="5">
                                            <p:graphicEl>
                                              <a:chart seriesIdx="-4" categoryIdx="9" bldStep="category"/>
                                            </p:graphicEl>
                                          </p:spTgt>
                                        </p:tgtEl>
                                        <p:attrNameLst>
                                          <p:attrName>style.visibility</p:attrName>
                                        </p:attrNameLst>
                                      </p:cBhvr>
                                      <p:to>
                                        <p:strVal val="visible"/>
                                      </p:to>
                                    </p:set>
                                    <p:animEffect transition="in" filter="fade">
                                      <p:cBhvr>
                                        <p:cTn id="37" dur="400"/>
                                        <p:tgtEl>
                                          <p:spTgt spid="5">
                                            <p:graphicEl>
                                              <a:chart seriesIdx="-4" categoryIdx="9" bldStep="category"/>
                                            </p:graphicEl>
                                          </p:spTgt>
                                        </p:tgtEl>
                                      </p:cBhvr>
                                    </p:animEffect>
                                  </p:childTnLst>
                                </p:cTn>
                              </p:par>
                              <p:par>
                                <p:cTn id="38" presetID="53" presetClass="entr" presetSubtype="16" fill="hold" nodeType="withEffect">
                                  <p:stCondLst>
                                    <p:cond delay="230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ppt_w</p:attrName>
                                        </p:attrNameLst>
                                      </p:cBhvr>
                                      <p:tavLst>
                                        <p:tav tm="0">
                                          <p:val>
                                            <p:fltVal val="0"/>
                                          </p:val>
                                        </p:tav>
                                        <p:tav tm="100000">
                                          <p:val>
                                            <p:strVal val="#ppt_w"/>
                                          </p:val>
                                        </p:tav>
                                      </p:tavLst>
                                    </p:anim>
                                    <p:anim calcmode="lin" valueType="num">
                                      <p:cBhvr additive="base">
                                        <p:cTn id="41" dur="500" fill="hold"/>
                                        <p:tgtEl>
                                          <p:spTgt spid="6"/>
                                        </p:tgtEl>
                                        <p:attrNameLst>
                                          <p:attrName>ppt_h</p:attrName>
                                        </p:attrNameLst>
                                      </p:cBhvr>
                                      <p:tavLst>
                                        <p:tav tm="0">
                                          <p:val>
                                            <p:fltVal val="0"/>
                                          </p:val>
                                        </p:tav>
                                        <p:tav tm="100000">
                                          <p:val>
                                            <p:strVal val="#ppt_h"/>
                                          </p:val>
                                        </p:tav>
                                      </p:tavLst>
                                    </p:anim>
                                    <p:animEffect transition="in" filter="fade">
                                      <p:cBhvr>
                                        <p:cTn id="42" dur="500"/>
                                        <p:tgtEl>
                                          <p:spTgt spid="6"/>
                                        </p:tgtEl>
                                      </p:cBhvr>
                                    </p:animEffect>
                                  </p:childTnLst>
                                </p:cTn>
                              </p:par>
                              <p:par>
                                <p:cTn id="43" presetID="10" presetClass="entr" presetSubtype="0" fill="hold" nodeType="withEffect">
                                  <p:stCondLst>
                                    <p:cond delay="240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par>
                                <p:cTn id="46" presetID="10" presetClass="entr" presetSubtype="0" fill="hold" nodeType="withEffect">
                                  <p:stCondLst>
                                    <p:cond delay="270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500"/>
                                        <p:tgtEl>
                                          <p:spTgt spid="8"/>
                                        </p:tgtEl>
                                      </p:cBhvr>
                                    </p:animEffect>
                                  </p:childTnLst>
                                </p:cTn>
                              </p:par>
                              <p:par>
                                <p:cTn id="49" presetID="10" presetClass="entr" presetSubtype="0" fill="hold" nodeType="withEffect">
                                  <p:stCondLst>
                                    <p:cond delay="280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childTnLst>
                          </p:cTn>
                        </p:par>
                      </p:childTnLst>
                    </p:cTn>
                  </p:par>
                  <p:par>
                    <p:cTn id="52" fill="hold">
                      <p:stCondLst>
                        <p:cond delay="indefinite"/>
                      </p:stCondLst>
                      <p:childTnLst>
                        <p:par>
                          <p:cTn id="53" fill="hold">
                            <p:stCondLst>
                              <p:cond delay="0"/>
                            </p:stCondLst>
                            <p:childTnLst>
                              <p:par>
                                <p:cTn id="54" presetID="26" presetClass="emph" presetSubtype="0" fill="hold" nodeType="clickEffect">
                                  <p:stCondLst>
                                    <p:cond delay="0"/>
                                  </p:stCondLst>
                                  <p:childTnLst>
                                    <p:animEffect transition="out" filter="fade">
                                      <p:cBhvr>
                                        <p:cTn id="55" dur="600" tmFilter="0, 0; .2, .5; .8, .5; 1, 0"/>
                                        <p:tgtEl>
                                          <p:spTgt spid="6"/>
                                        </p:tgtEl>
                                      </p:cBhvr>
                                    </p:animEffect>
                                    <p:animScale>
                                      <p:cBhvr>
                                        <p:cTn id="56" dur="300" autoRev="1" fill="hold"/>
                                        <p:tgtEl>
                                          <p:spTgt spid="6"/>
                                        </p:tgtEl>
                                      </p:cBhvr>
                                      <p:by x="108000" y="108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Chart bld="category"/>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Limits and responsible use</a:t>
            </a:r>
            <a:endParaRPr lang="en-US" sz="2600" dirty="0"/>
          </a:p>
        </p:txBody>
      </p:sp>
      <p:graphicFrame>
        <p:nvGraphicFramePr>
          <p:cNvPr id="23" name="s22_table"/>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2816352"/>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02336">
                <a:tc>
                  <a:txBody>
                    <a:bodyPr/>
                    <a:lstStyle/>
                    <a:p>
                      <a:pPr marL="0" indent="0" algn="ctr">
                        <a:buNone/>
                      </a:pPr>
                      <a:r>
                        <a:rPr lang="en-US" sz="1100" b="1" dirty="0">
                          <a:solidFill>
                            <a:srgbClr val="FFFFFF"/>
                          </a:solidFill>
                        </a:rPr>
                        <a:t>Limitation</a:t>
                      </a:r>
                      <a:endParaRPr lang="en-US" sz="110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100" b="1" dirty="0">
                          <a:solidFill>
                            <a:srgbClr val="FFFFFF"/>
                          </a:solidFill>
                        </a:rPr>
                        <a:t>Why it matters</a:t>
                      </a:r>
                      <a:endParaRPr lang="en-US" sz="110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tc>
                  <a:txBody>
                    <a:bodyPr/>
                    <a:lstStyle/>
                    <a:p>
                      <a:pPr marL="0" indent="0" algn="ctr">
                        <a:buNone/>
                      </a:pPr>
                      <a:r>
                        <a:rPr lang="en-US" sz="1100" b="1" dirty="0">
                          <a:solidFill>
                            <a:srgbClr val="FFFFFF"/>
                          </a:solidFill>
                        </a:rPr>
                        <a:t>Mitigation</a:t>
                      </a:r>
                      <a:endParaRPr lang="en-US" sz="110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1B3A5F"/>
                    </a:solidFill>
                  </a:tcPr>
                </a:tc>
                <a:extLst>
                  <a:ext uri="{0D108BD9-81ED-4DB2-BD59-A6C34878D82A}">
                    <a16:rowId xmlns:a16="http://schemas.microsoft.com/office/drawing/2014/main" val="10000"/>
                  </a:ext>
                </a:extLst>
              </a:tr>
              <a:tr h="402336">
                <a:tc>
                  <a:txBody>
                    <a:bodyPr/>
                    <a:lstStyle/>
                    <a:p>
                      <a:pPr marL="0" indent="0">
                        <a:buNone/>
                      </a:pPr>
                      <a:r>
                        <a:rPr lang="en-US" sz="1050" b="1" dirty="0">
                          <a:solidFill>
                            <a:srgbClr val="333333"/>
                          </a:solidFill>
                        </a:rPr>
                        <a:t>Data may be curated or simulated</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050" dirty="0">
                          <a:solidFill>
                            <a:srgbClr val="333333"/>
                          </a:solidFill>
                        </a:rPr>
                        <a:t>Scores may not transfer to real records</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050" dirty="0">
                          <a:solidFill>
                            <a:srgbClr val="333333"/>
                          </a:solidFill>
                        </a:rPr>
                        <a:t>Validate on official crash data</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050" b="1" dirty="0">
                          <a:solidFill>
                            <a:srgbClr val="333333"/>
                          </a:solidFill>
                        </a:rPr>
                        <a:t>Collision-time predictors</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buNone/>
                      </a:pPr>
                      <a:r>
                        <a:rPr lang="en-US" sz="1050" dirty="0">
                          <a:solidFill>
                            <a:srgbClr val="333333"/>
                          </a:solidFill>
                        </a:rPr>
                        <a:t>Post-crash triage, not pre-crash forecast</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buNone/>
                      </a:pPr>
                      <a:r>
                        <a:rPr lang="en-US" sz="1050" dirty="0">
                          <a:solidFill>
                            <a:srgbClr val="333333"/>
                          </a:solidFill>
                        </a:rPr>
                        <a:t>Ablate speed and airbag</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2"/>
                  </a:ext>
                </a:extLst>
              </a:tr>
              <a:tr h="402336">
                <a:tc>
                  <a:txBody>
                    <a:bodyPr/>
                    <a:lstStyle/>
                    <a:p>
                      <a:pPr marL="0" indent="0">
                        <a:buNone/>
                      </a:pPr>
                      <a:r>
                        <a:rPr lang="en-US" sz="1050" b="1" dirty="0">
                          <a:solidFill>
                            <a:srgbClr val="333333"/>
                          </a:solidFill>
                        </a:rPr>
                        <a:t>7 of 9 engineered features did not run</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050" dirty="0">
                          <a:solidFill>
                            <a:srgbClr val="333333"/>
                          </a:solidFill>
                        </a:rPr>
                        <a:t>Small metric change possible</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050" dirty="0">
                          <a:solidFill>
                            <a:srgbClr val="333333"/>
                          </a:solidFill>
                        </a:rPr>
                        <a:t>Fix column names and re-run</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050" b="1" dirty="0">
                          <a:solidFill>
                            <a:srgbClr val="333333"/>
                          </a:solidFill>
                        </a:rPr>
                        <a:t>2025 is a partial year</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buNone/>
                      </a:pPr>
                      <a:r>
                        <a:rPr lang="en-US" sz="1050" dirty="0">
                          <a:solidFill>
                            <a:srgbClr val="333333"/>
                          </a:solidFill>
                        </a:rPr>
                        <a:t>Monthly pattern is an artifact</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buNone/>
                      </a:pPr>
                      <a:r>
                        <a:rPr lang="en-US" sz="1050" dirty="0">
                          <a:solidFill>
                            <a:srgbClr val="333333"/>
                          </a:solidFill>
                        </a:rPr>
                        <a:t>Flag or drop; time-based split</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4"/>
                  </a:ext>
                </a:extLst>
              </a:tr>
              <a:tr h="402336">
                <a:tc>
                  <a:txBody>
                    <a:bodyPr/>
                    <a:lstStyle/>
                    <a:p>
                      <a:pPr marL="0" indent="0">
                        <a:buNone/>
                      </a:pPr>
                      <a:r>
                        <a:rPr lang="en-US" sz="1050" b="1" dirty="0">
                          <a:solidFill>
                            <a:srgbClr val="333333"/>
                          </a:solidFill>
                        </a:rPr>
                        <a:t>Fatal recall 93.3%</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050" dirty="0">
                          <a:solidFill>
                            <a:srgbClr val="333333"/>
                          </a:solidFill>
                        </a:rPr>
                        <a:t>40 of 597 fatal called major</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tc>
                  <a:txBody>
                    <a:bodyPr/>
                    <a:lstStyle/>
                    <a:p>
                      <a:pPr marL="0" indent="0">
                        <a:buNone/>
                      </a:pPr>
                      <a:r>
                        <a:rPr lang="en-US" sz="1050" dirty="0">
                          <a:solidFill>
                            <a:srgbClr val="333333"/>
                          </a:solidFill>
                        </a:rPr>
                        <a:t>Threshold tuning, human review</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050" b="1" dirty="0">
                          <a:solidFill>
                            <a:srgbClr val="333333"/>
                          </a:solidFill>
                        </a:rPr>
                        <a:t>City acts as a proxy</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buNone/>
                      </a:pPr>
                      <a:r>
                        <a:rPr lang="en-US" sz="1050" dirty="0">
                          <a:solidFill>
                            <a:srgbClr val="333333"/>
                          </a:solidFill>
                        </a:rPr>
                        <a:t>Possible location bias</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tc>
                  <a:txBody>
                    <a:bodyPr/>
                    <a:lstStyle/>
                    <a:p>
                      <a:pPr marL="0" indent="0">
                        <a:buNone/>
                      </a:pPr>
                      <a:r>
                        <a:rPr lang="en-US" sz="1050" dirty="0">
                          <a:solidFill>
                            <a:srgbClr val="333333"/>
                          </a:solidFill>
                        </a:rPr>
                        <a:t>Drop city; audit by city</a:t>
                      </a:r>
                      <a:endParaRPr lang="en-US" sz="1050" dirty="0"/>
                    </a:p>
                  </a:txBody>
                  <a:tcPr marL="73152" marR="73152" marT="27432" marB="27432" anchor="ctr">
                    <a:lnL w="6350" cap="flat" cmpd="sng" algn="ctr">
                      <a:solidFill>
                        <a:srgbClr val="C8D1DC"/>
                      </a:solidFill>
                      <a:prstDash val="solid"/>
                      <a:round/>
                      <a:headEnd type="none" w="med" len="med"/>
                      <a:tailEnd type="none" w="med" len="med"/>
                    </a:lnL>
                    <a:lnR w="6350" cap="flat" cmpd="sng" algn="ctr">
                      <a:solidFill>
                        <a:srgbClr val="C8D1DC"/>
                      </a:solidFill>
                      <a:prstDash val="solid"/>
                      <a:round/>
                      <a:headEnd type="none" w="med" len="med"/>
                      <a:tailEnd type="none" w="med" len="med"/>
                    </a:lnR>
                    <a:lnT w="6350" cap="flat" cmpd="sng" algn="ctr">
                      <a:solidFill>
                        <a:srgbClr val="C8D1DC"/>
                      </a:solidFill>
                      <a:prstDash val="solid"/>
                      <a:round/>
                      <a:headEnd type="none" w="med" len="med"/>
                      <a:tailEnd type="none" w="med" len="med"/>
                    </a:lnT>
                    <a:lnB w="6350" cap="flat" cmpd="sng" algn="ctr">
                      <a:solidFill>
                        <a:srgbClr val="C8D1DC"/>
                      </a:solidFill>
                      <a:prstDash val="solid"/>
                      <a:round/>
                      <a:headEnd type="none" w="med" len="med"/>
                      <a:tailEnd type="none" w="med" len="med"/>
                    </a:lnB>
                    <a:solidFill>
                      <a:srgbClr val="E3F1F1"/>
                    </a:solidFill>
                  </a:tcPr>
                </a:tc>
                <a:extLst>
                  <a:ext uri="{0D108BD9-81ED-4DB2-BD59-A6C34878D82A}">
                    <a16:rowId xmlns:a16="http://schemas.microsoft.com/office/drawing/2014/main" val="10006"/>
                  </a:ext>
                </a:extLst>
              </a:tr>
            </a:tbl>
          </a:graphicData>
        </a:graphic>
      </p:graphicFrame>
      <p:sp>
        <p:nvSpPr>
          <p:cNvPr id="6" name="s22_why_bg"/>
          <p:cNvSpPr/>
          <p:nvPr/>
        </p:nvSpPr>
        <p:spPr>
          <a:xfrm>
            <a:off x="548640" y="4343400"/>
            <a:ext cx="8046720" cy="329184"/>
          </a:xfrm>
          <a:prstGeom prst="roundRect">
            <a:avLst>
              <a:gd name="adj" fmla="val 22222"/>
            </a:avLst>
          </a:prstGeom>
          <a:solidFill>
            <a:srgbClr val="E3F1F1"/>
          </a:solidFill>
          <a:ln w="9525">
            <a:solidFill>
              <a:srgbClr val="E3F1F1"/>
            </a:solidFill>
            <a:prstDash val="solid"/>
          </a:ln>
        </p:spPr>
      </p:sp>
      <p:sp>
        <p:nvSpPr>
          <p:cNvPr id="7" name="s22_why"/>
          <p:cNvSpPr txBox="1"/>
          <p:nvPr/>
        </p:nvSpPr>
        <p:spPr>
          <a:xfrm>
            <a:off x="731520" y="4343400"/>
            <a:ext cx="7772400" cy="329184"/>
          </a:xfrm>
          <a:prstGeom prst="rect">
            <a:avLst/>
          </a:prstGeom>
          <a:noFill/>
          <a:ln/>
        </p:spPr>
        <p:txBody>
          <a:bodyPr wrap="square" lIns="0" tIns="0" rIns="0" bIns="0" rtlCol="0" anchor="ctr"/>
          <a:lstStyle/>
          <a:p>
            <a:pPr marL="0" indent="0">
              <a:buNone/>
            </a:pPr>
            <a:r>
              <a:rPr lang="en-US" sz="1000" b="1" kern="0" spc="200" dirty="0">
                <a:solidFill>
                  <a:srgbClr val="2E8B8B"/>
                </a:solidFill>
                <a:latin typeface="Calibri" pitchFamily="34" charset="0"/>
                <a:ea typeface="Calibri" pitchFamily="34" charset="-122"/>
                <a:cs typeface="Calibri" pitchFamily="34" charset="-120"/>
              </a:rPr>
              <a:t>WHY IT MATTERS  </a:t>
            </a:r>
            <a:r>
              <a:rPr lang="en-US" sz="1200" dirty="0">
                <a:solidFill>
                  <a:srgbClr val="333333"/>
                </a:solidFill>
                <a:latin typeface="Calibri" pitchFamily="34" charset="0"/>
                <a:ea typeface="Calibri" pitchFamily="34" charset="-122"/>
                <a:cs typeface="Calibri" pitchFamily="34" charset="-120"/>
              </a:rPr>
              <a:t>Honest limits make a result usable, not just impressive.</a:t>
            </a:r>
            <a:endParaRPr lang="en-US" sz="14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700"/>
                                        <p:tgtEl>
                                          <p:spTgt spid="23"/>
                                        </p:tgtEl>
                                      </p:cBhvr>
                                    </p:animEffect>
                                  </p:childTnLst>
                                </p:cTn>
                              </p:par>
                              <p:par>
                                <p:cTn id="8" presetID="10" presetClass="entr" presetSubtype="0" fill="hold" nodeType="withEffect">
                                  <p:stCondLst>
                                    <p:cond delay="8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8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secnum"/>
          <p:cNvSpPr txBox="1"/>
          <p:nvPr/>
        </p:nvSpPr>
        <p:spPr>
          <a:xfrm>
            <a:off x="548640" y="438912"/>
            <a:ext cx="530352" cy="530352"/>
          </a:xfrm>
          <a:prstGeom prst="ellipse">
            <a:avLst/>
          </a:prstGeom>
          <a:solidFill>
            <a:srgbClr val="2E8B8B"/>
          </a:solidFill>
          <a:ln>
            <a:solidFill>
              <a:srgbClr val="2E8B8B"/>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4" name="!!title"/>
          <p:cNvSpPr txBox="1"/>
          <p:nvPr/>
        </p:nvSpPr>
        <p:spPr>
          <a:xfrm>
            <a:off x="1234440" y="384048"/>
            <a:ext cx="7360920" cy="640080"/>
          </a:xfrm>
          <a:prstGeom prst="rect">
            <a:avLst/>
          </a:prstGeom>
          <a:noFill/>
          <a:ln/>
        </p:spPr>
        <p:txBody>
          <a:bodyPr wrap="square" lIns="0" tIns="0" rIns="0" bIns="0" rtlCol="0" anchor="ctr"/>
          <a:lstStyle/>
          <a:p>
            <a:pPr marL="0" indent="0">
              <a:buNone/>
            </a:pPr>
            <a:r>
              <a:rPr lang="en-US" sz="2600" b="1" dirty="0">
                <a:solidFill>
                  <a:srgbClr val="1B3A5F"/>
                </a:solidFill>
                <a:latin typeface="Calibri" pitchFamily="34" charset="0"/>
                <a:ea typeface="Calibri" pitchFamily="34" charset="-122"/>
                <a:cs typeface="Calibri" pitchFamily="34" charset="-120"/>
              </a:rPr>
              <a:t>Conclusion and the road ahead</a:t>
            </a:r>
            <a:endParaRPr lang="en-US" sz="2600" dirty="0"/>
          </a:p>
        </p:txBody>
      </p:sp>
      <p:sp>
        <p:nvSpPr>
          <p:cNvPr id="5" name="s23_p1"/>
          <p:cNvSpPr txBox="1"/>
          <p:nvPr/>
        </p:nvSpPr>
        <p:spPr>
          <a:xfrm>
            <a:off x="548640" y="1280160"/>
            <a:ext cx="411480" cy="411480"/>
          </a:xfrm>
          <a:prstGeom prst="ellipse">
            <a:avLst/>
          </a:prstGeom>
          <a:solidFill>
            <a:srgbClr val="2E8B8B"/>
          </a:solidFill>
          <a:ln>
            <a:solidFill>
              <a:srgbClr val="FFFFF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s23_p1t"/>
          <p:cNvSpPr txBox="1"/>
          <p:nvPr/>
        </p:nvSpPr>
        <p:spPr>
          <a:xfrm>
            <a:off x="1097280" y="1234440"/>
            <a:ext cx="3566160" cy="502920"/>
          </a:xfrm>
          <a:prstGeom prst="rect">
            <a:avLst/>
          </a:prstGeom>
          <a:noFill/>
          <a:ln/>
        </p:spPr>
        <p:txBody>
          <a:bodyPr wrap="square" lIns="0" tIns="0" rIns="0" bIns="0" rtlCol="0" anchor="ctr"/>
          <a:lstStyle/>
          <a:p>
            <a:pPr marL="0" indent="0">
              <a:buNone/>
            </a:pPr>
            <a:r>
              <a:rPr lang="en-US" sz="1500" b="1" dirty="0">
                <a:solidFill>
                  <a:srgbClr val="1B3A5F"/>
                </a:solidFill>
                <a:latin typeface="Calibri" pitchFamily="34" charset="0"/>
                <a:ea typeface="Calibri" pitchFamily="34" charset="-122"/>
                <a:cs typeface="Calibri" pitchFamily="34" charset="-120"/>
              </a:rPr>
              <a:t>Count crashes, not people</a:t>
            </a:r>
            <a:endParaRPr lang="en-US" sz="1500" dirty="0"/>
          </a:p>
        </p:txBody>
      </p:sp>
      <p:sp>
        <p:nvSpPr>
          <p:cNvPr id="7" name="s23_p2"/>
          <p:cNvSpPr txBox="1"/>
          <p:nvPr/>
        </p:nvSpPr>
        <p:spPr>
          <a:xfrm>
            <a:off x="548640" y="1901952"/>
            <a:ext cx="411480" cy="411480"/>
          </a:xfrm>
          <a:prstGeom prst="ellipse">
            <a:avLst/>
          </a:prstGeom>
          <a:solidFill>
            <a:srgbClr val="2E8B8B"/>
          </a:solidFill>
          <a:ln>
            <a:solidFill>
              <a:srgbClr val="FFFFF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s23_p2t"/>
          <p:cNvSpPr txBox="1"/>
          <p:nvPr/>
        </p:nvSpPr>
        <p:spPr>
          <a:xfrm>
            <a:off x="1097280" y="1856232"/>
            <a:ext cx="3566160" cy="502920"/>
          </a:xfrm>
          <a:prstGeom prst="rect">
            <a:avLst/>
          </a:prstGeom>
          <a:noFill/>
          <a:ln/>
        </p:spPr>
        <p:txBody>
          <a:bodyPr wrap="square" lIns="0" tIns="0" rIns="0" bIns="0" rtlCol="0" anchor="ctr"/>
          <a:lstStyle/>
          <a:p>
            <a:pPr marL="0" indent="0">
              <a:buNone/>
            </a:pPr>
            <a:r>
              <a:rPr lang="en-US" sz="1500" b="1" dirty="0">
                <a:solidFill>
                  <a:srgbClr val="1B3A5F"/>
                </a:solidFill>
                <a:latin typeface="Calibri" pitchFamily="34" charset="0"/>
                <a:ea typeface="Calibri" pitchFamily="34" charset="-122"/>
                <a:cs typeface="Calibri" pitchFamily="34" charset="-120"/>
              </a:rPr>
              <a:t>Never peek at the answer</a:t>
            </a:r>
            <a:endParaRPr lang="en-US" sz="1500" dirty="0"/>
          </a:p>
        </p:txBody>
      </p:sp>
      <p:sp>
        <p:nvSpPr>
          <p:cNvPr id="9" name="s23_p3"/>
          <p:cNvSpPr txBox="1"/>
          <p:nvPr/>
        </p:nvSpPr>
        <p:spPr>
          <a:xfrm>
            <a:off x="548640" y="2523744"/>
            <a:ext cx="411480" cy="411480"/>
          </a:xfrm>
          <a:prstGeom prst="ellipse">
            <a:avLst/>
          </a:prstGeom>
          <a:solidFill>
            <a:srgbClr val="C75B39"/>
          </a:solidFill>
          <a:ln>
            <a:solidFill>
              <a:srgbClr val="FFFFF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0" name="s23_p3t"/>
          <p:cNvSpPr txBox="1"/>
          <p:nvPr/>
        </p:nvSpPr>
        <p:spPr>
          <a:xfrm>
            <a:off x="1097280" y="2478024"/>
            <a:ext cx="3566160" cy="502920"/>
          </a:xfrm>
          <a:prstGeom prst="rect">
            <a:avLst/>
          </a:prstGeom>
          <a:noFill/>
          <a:ln/>
        </p:spPr>
        <p:txBody>
          <a:bodyPr wrap="square" lIns="0" tIns="0" rIns="0" bIns="0" rtlCol="0" anchor="ctr"/>
          <a:lstStyle/>
          <a:p>
            <a:pPr marL="0" indent="0">
              <a:buNone/>
            </a:pPr>
            <a:r>
              <a:rPr lang="en-US" sz="1500" b="1" dirty="0">
                <a:solidFill>
                  <a:srgbClr val="1B3A5F"/>
                </a:solidFill>
                <a:latin typeface="Calibri" pitchFamily="34" charset="0"/>
                <a:ea typeface="Calibri" pitchFamily="34" charset="-122"/>
                <a:cs typeface="Calibri" pitchFamily="34" charset="-120"/>
              </a:rPr>
              <a:t>Speed decides severity, in this data</a:t>
            </a:r>
            <a:endParaRPr lang="en-US" sz="1500" dirty="0"/>
          </a:p>
        </p:txBody>
      </p:sp>
      <p:sp>
        <p:nvSpPr>
          <p:cNvPr id="11" name="s23_res"/>
          <p:cNvSpPr txBox="1"/>
          <p:nvPr/>
        </p:nvSpPr>
        <p:spPr>
          <a:xfrm>
            <a:off x="548640" y="3200400"/>
            <a:ext cx="4206240" cy="548640"/>
          </a:xfrm>
          <a:prstGeom prst="rect">
            <a:avLst/>
          </a:prstGeom>
          <a:noFill/>
          <a:ln/>
        </p:spPr>
        <p:txBody>
          <a:bodyPr wrap="square" lIns="0" tIns="0" rIns="0" bIns="0" rtlCol="0" anchor="t"/>
          <a:lstStyle/>
          <a:p>
            <a:pPr marL="0" indent="0">
              <a:buNone/>
            </a:pPr>
            <a:r>
              <a:rPr lang="en-US" sz="1300" b="1" dirty="0">
                <a:solidFill>
                  <a:srgbClr val="1B3A5F"/>
                </a:solidFill>
                <a:latin typeface="Calibri" pitchFamily="34" charset="0"/>
                <a:ea typeface="Calibri" pitchFamily="34" charset="-122"/>
                <a:cs typeface="Calibri" pitchFamily="34" charset="-120"/>
              </a:rPr>
              <a:t>Result: 95.28% accuracy · macro-F1 0.9423 · AUC 0.9946 on 4,000 unseen crashes</a:t>
            </a:r>
            <a:endParaRPr lang="en-US" sz="1300" dirty="0"/>
          </a:p>
        </p:txBody>
      </p:sp>
      <p:sp>
        <p:nvSpPr>
          <p:cNvPr id="12" name="s23_line"/>
          <p:cNvSpPr/>
          <p:nvPr/>
        </p:nvSpPr>
        <p:spPr>
          <a:xfrm>
            <a:off x="5257800" y="2286000"/>
            <a:ext cx="3291840" cy="0"/>
          </a:xfrm>
          <a:prstGeom prst="line">
            <a:avLst/>
          </a:prstGeom>
          <a:noFill/>
          <a:ln w="38100">
            <a:solidFill>
              <a:srgbClr val="B9C4D0"/>
            </a:solidFill>
            <a:prstDash val="solid"/>
          </a:ln>
        </p:spPr>
      </p:sp>
      <p:sp>
        <p:nvSpPr>
          <p:cNvPr id="13" name="s23_n1"/>
          <p:cNvSpPr/>
          <p:nvPr/>
        </p:nvSpPr>
        <p:spPr>
          <a:xfrm>
            <a:off x="5111496" y="2139696"/>
            <a:ext cx="292608" cy="292608"/>
          </a:xfrm>
          <a:prstGeom prst="ellipse">
            <a:avLst/>
          </a:prstGeom>
          <a:solidFill>
            <a:srgbClr val="1B3A5F"/>
          </a:solidFill>
          <a:ln w="19050">
            <a:solidFill>
              <a:srgbClr val="FFFFFF"/>
            </a:solidFill>
            <a:prstDash val="solid"/>
          </a:ln>
        </p:spPr>
      </p:sp>
      <p:sp>
        <p:nvSpPr>
          <p:cNvPr id="14" name="s23_nt1"/>
          <p:cNvSpPr txBox="1"/>
          <p:nvPr/>
        </p:nvSpPr>
        <p:spPr>
          <a:xfrm>
            <a:off x="4572000" y="2560320"/>
            <a:ext cx="1371600" cy="1005840"/>
          </a:xfrm>
          <a:prstGeom prst="rect">
            <a:avLst/>
          </a:prstGeom>
          <a:noFill/>
          <a:ln/>
        </p:spPr>
        <p:txBody>
          <a:bodyPr wrap="square" lIns="0" tIns="0" rIns="0" bIns="0" rtlCol="0" anchor="t"/>
          <a:lstStyle/>
          <a:p>
            <a:pPr marL="0" indent="0" algn="ctr">
              <a:buNone/>
            </a:pPr>
            <a:r>
              <a:rPr lang="en-US" sz="1300" b="1" dirty="0">
                <a:solidFill>
                  <a:srgbClr val="1B3A5F"/>
                </a:solidFill>
                <a:latin typeface="Calibri" pitchFamily="34" charset="0"/>
                <a:ea typeface="Calibri" pitchFamily="34" charset="-122"/>
                <a:cs typeface="Calibri" pitchFamily="34" charset="-120"/>
              </a:rPr>
              <a:t>Now</a:t>
            </a:r>
            <a:endParaRPr lang="en-US" sz="1400" dirty="0"/>
          </a:p>
          <a:p>
            <a:pPr marL="0" indent="0" algn="ctr">
              <a:buNone/>
            </a:pPr>
            <a:r>
              <a:rPr lang="en-US" sz="1050" dirty="0">
                <a:solidFill>
                  <a:srgbClr val="333333"/>
                </a:solidFill>
                <a:latin typeface="Calibri" pitchFamily="34" charset="0"/>
                <a:ea typeface="Calibri" pitchFamily="34" charset="-122"/>
                <a:cs typeface="Calibri" pitchFamily="34" charset="-120"/>
              </a:rPr>
              <a:t>Baseline built and tested</a:t>
            </a:r>
            <a:endParaRPr lang="en-US" sz="1400" dirty="0"/>
          </a:p>
        </p:txBody>
      </p:sp>
      <p:sp>
        <p:nvSpPr>
          <p:cNvPr id="15" name="s23_n2"/>
          <p:cNvSpPr/>
          <p:nvPr/>
        </p:nvSpPr>
        <p:spPr>
          <a:xfrm>
            <a:off x="6483096" y="2139696"/>
            <a:ext cx="292608" cy="292608"/>
          </a:xfrm>
          <a:prstGeom prst="ellipse">
            <a:avLst/>
          </a:prstGeom>
          <a:solidFill>
            <a:srgbClr val="2E8B8B"/>
          </a:solidFill>
          <a:ln w="19050">
            <a:solidFill>
              <a:srgbClr val="FFFFFF"/>
            </a:solidFill>
            <a:prstDash val="solid"/>
          </a:ln>
        </p:spPr>
      </p:sp>
      <p:sp>
        <p:nvSpPr>
          <p:cNvPr id="16" name="s23_nt2"/>
          <p:cNvSpPr txBox="1"/>
          <p:nvPr/>
        </p:nvSpPr>
        <p:spPr>
          <a:xfrm>
            <a:off x="5943600" y="2560320"/>
            <a:ext cx="1371600" cy="1005840"/>
          </a:xfrm>
          <a:prstGeom prst="rect">
            <a:avLst/>
          </a:prstGeom>
          <a:noFill/>
          <a:ln/>
        </p:spPr>
        <p:txBody>
          <a:bodyPr wrap="square" lIns="0" tIns="0" rIns="0" bIns="0" rtlCol="0" anchor="t"/>
          <a:lstStyle/>
          <a:p>
            <a:pPr marL="0" indent="0" algn="ctr">
              <a:buNone/>
            </a:pPr>
            <a:r>
              <a:rPr lang="en-US" sz="1300" b="1" dirty="0">
                <a:solidFill>
                  <a:srgbClr val="2E8B8B"/>
                </a:solidFill>
                <a:latin typeface="Calibri" pitchFamily="34" charset="0"/>
                <a:ea typeface="Calibri" pitchFamily="34" charset="-122"/>
                <a:cs typeface="Calibri" pitchFamily="34" charset="-120"/>
              </a:rPr>
              <a:t>Next</a:t>
            </a:r>
            <a:endParaRPr lang="en-US" sz="1400" dirty="0"/>
          </a:p>
          <a:p>
            <a:pPr marL="0" indent="0" algn="ctr">
              <a:buNone/>
            </a:pPr>
            <a:r>
              <a:rPr lang="en-US" sz="1050" dirty="0">
                <a:solidFill>
                  <a:srgbClr val="333333"/>
                </a:solidFill>
                <a:latin typeface="Calibri" pitchFamily="34" charset="0"/>
                <a:ea typeface="Calibri" pitchFamily="34" charset="-122"/>
                <a:cs typeface="Calibri" pitchFamily="34" charset="-120"/>
              </a:rPr>
              <a:t>Real data · pre-crash model · feature fix</a:t>
            </a:r>
            <a:endParaRPr lang="en-US" sz="1400" dirty="0"/>
          </a:p>
        </p:txBody>
      </p:sp>
      <p:sp>
        <p:nvSpPr>
          <p:cNvPr id="17" name="s23_n3"/>
          <p:cNvSpPr/>
          <p:nvPr/>
        </p:nvSpPr>
        <p:spPr>
          <a:xfrm>
            <a:off x="7854696" y="2139696"/>
            <a:ext cx="292608" cy="292608"/>
          </a:xfrm>
          <a:prstGeom prst="ellipse">
            <a:avLst/>
          </a:prstGeom>
          <a:solidFill>
            <a:srgbClr val="C75B39"/>
          </a:solidFill>
          <a:ln w="19050">
            <a:solidFill>
              <a:srgbClr val="FFFFFF"/>
            </a:solidFill>
            <a:prstDash val="solid"/>
          </a:ln>
        </p:spPr>
      </p:sp>
      <p:sp>
        <p:nvSpPr>
          <p:cNvPr id="18" name="s23_nt3"/>
          <p:cNvSpPr txBox="1"/>
          <p:nvPr/>
        </p:nvSpPr>
        <p:spPr>
          <a:xfrm>
            <a:off x="7315200" y="2560320"/>
            <a:ext cx="1371600" cy="1005840"/>
          </a:xfrm>
          <a:prstGeom prst="rect">
            <a:avLst/>
          </a:prstGeom>
          <a:noFill/>
          <a:ln/>
        </p:spPr>
        <p:txBody>
          <a:bodyPr wrap="square" lIns="0" tIns="0" rIns="0" bIns="0" rtlCol="0" anchor="t"/>
          <a:lstStyle/>
          <a:p>
            <a:pPr marL="0" indent="0" algn="ctr">
              <a:buNone/>
            </a:pPr>
            <a:r>
              <a:rPr lang="en-US" sz="1300" b="1" dirty="0">
                <a:solidFill>
                  <a:srgbClr val="C75B39"/>
                </a:solidFill>
                <a:latin typeface="Calibri" pitchFamily="34" charset="0"/>
                <a:ea typeface="Calibri" pitchFamily="34" charset="-122"/>
                <a:cs typeface="Calibri" pitchFamily="34" charset="-120"/>
              </a:rPr>
              <a:t>Later</a:t>
            </a:r>
            <a:endParaRPr lang="en-US" sz="1400" dirty="0"/>
          </a:p>
          <a:p>
            <a:pPr marL="0" indent="0" algn="ctr">
              <a:buNone/>
            </a:pPr>
            <a:r>
              <a:rPr lang="en-US" sz="1050" dirty="0">
                <a:solidFill>
                  <a:srgbClr val="333333"/>
                </a:solidFill>
                <a:latin typeface="Calibri" pitchFamily="34" charset="0"/>
                <a:ea typeface="Calibri" pitchFamily="34" charset="-122"/>
                <a:cs typeface="Calibri" pitchFamily="34" charset="-120"/>
              </a:rPr>
              <a:t>Live prediction page</a:t>
            </a:r>
            <a:endParaRPr lang="en-US" sz="1400" dirty="0"/>
          </a:p>
        </p:txBody>
      </p:sp>
      <p:sp>
        <p:nvSpPr>
          <p:cNvPr id="19" name="s23_dot"/>
          <p:cNvSpPr/>
          <p:nvPr/>
        </p:nvSpPr>
        <p:spPr>
          <a:xfrm>
            <a:off x="4846320" y="2194560"/>
            <a:ext cx="182880" cy="182880"/>
          </a:xfrm>
          <a:prstGeom prst="ellipse">
            <a:avLst/>
          </a:prstGeom>
          <a:solidFill>
            <a:srgbClr val="C75B39"/>
          </a:solidFill>
          <a:ln w="12700">
            <a:solidFill>
              <a:srgbClr val="FFFFFF"/>
            </a:solidFill>
            <a:prstDash val="solid"/>
          </a:ln>
        </p:spPr>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6B7785"/>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25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5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75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100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0-#ppt_w/2"/>
                                          </p:val>
                                        </p:tav>
                                        <p:tav tm="100000">
                                          <p:val>
                                            <p:strVal val="#ppt_x"/>
                                          </p:val>
                                        </p:tav>
                                      </p:tavLst>
                                    </p:anim>
                                    <p:anim calcmode="lin" valueType="num">
                                      <p:cBhvr additive="base">
                                        <p:cTn id="24" dur="50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125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0-#ppt_w/2"/>
                                          </p:val>
                                        </p:tav>
                                        <p:tav tm="100000">
                                          <p:val>
                                            <p:strVal val="#ppt_x"/>
                                          </p:val>
                                        </p:tav>
                                      </p:tavLst>
                                    </p:anim>
                                    <p:anim calcmode="lin" valueType="num">
                                      <p:cBhvr additive="base">
                                        <p:cTn id="28" dur="500" fill="hold"/>
                                        <p:tgtEl>
                                          <p:spTgt spid="10"/>
                                        </p:tgtEl>
                                        <p:attrNameLst>
                                          <p:attrName>ppt_y</p:attrName>
                                        </p:attrNameLst>
                                      </p:cBhvr>
                                      <p:tavLst>
                                        <p:tav tm="0">
                                          <p:val>
                                            <p:strVal val="#ppt_y"/>
                                          </p:val>
                                        </p:tav>
                                        <p:tav tm="100000">
                                          <p:val>
                                            <p:strVal val="#ppt_y"/>
                                          </p:val>
                                        </p:tav>
                                      </p:tavLst>
                                    </p:anim>
                                  </p:childTnLst>
                                </p:cTn>
                              </p:par>
                              <p:par>
                                <p:cTn id="29" presetID="10" presetClass="entr" presetSubtype="0" fill="hold" nodeType="withEffect">
                                  <p:stCondLst>
                                    <p:cond delay="18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50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par>
                                <p:cTn id="35" presetID="53" presetClass="entr" presetSubtype="16" fill="hold" nodeType="withEffect">
                                  <p:stCondLst>
                                    <p:cond delay="105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ppt_w</p:attrName>
                                        </p:attrNameLst>
                                      </p:cBhvr>
                                      <p:tavLst>
                                        <p:tav tm="0">
                                          <p:val>
                                            <p:fltVal val="0"/>
                                          </p:val>
                                        </p:tav>
                                        <p:tav tm="100000">
                                          <p:val>
                                            <p:strVal val="#ppt_w"/>
                                          </p:val>
                                        </p:tav>
                                      </p:tavLst>
                                    </p:anim>
                                    <p:anim calcmode="lin" valueType="num">
                                      <p:cBhvr additive="base">
                                        <p:cTn id="38" dur="500" fill="hold"/>
                                        <p:tgtEl>
                                          <p:spTgt spid="13"/>
                                        </p:tgtEl>
                                        <p:attrNameLst>
                                          <p:attrName>ppt_h</p:attrName>
                                        </p:attrNameLst>
                                      </p:cBhvr>
                                      <p:tavLst>
                                        <p:tav tm="0">
                                          <p:val>
                                            <p:fltVal val="0"/>
                                          </p:val>
                                        </p:tav>
                                        <p:tav tm="100000">
                                          <p:val>
                                            <p:strVal val="#ppt_h"/>
                                          </p:val>
                                        </p:tav>
                                      </p:tavLst>
                                    </p:anim>
                                    <p:animEffect transition="in" filter="fade">
                                      <p:cBhvr>
                                        <p:cTn id="39" dur="500"/>
                                        <p:tgtEl>
                                          <p:spTgt spid="13"/>
                                        </p:tgtEl>
                                      </p:cBhvr>
                                    </p:animEffect>
                                  </p:childTnLst>
                                </p:cTn>
                              </p:par>
                              <p:par>
                                <p:cTn id="40" presetID="10" presetClass="entr" presetSubtype="0" fill="hold" nodeType="withEffect">
                                  <p:stCondLst>
                                    <p:cond delay="115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53" presetClass="entr" presetSubtype="16" fill="hold" nodeType="withEffect">
                                  <p:stCondLst>
                                    <p:cond delay="130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ppt_w</p:attrName>
                                        </p:attrNameLst>
                                      </p:cBhvr>
                                      <p:tavLst>
                                        <p:tav tm="0">
                                          <p:val>
                                            <p:fltVal val="0"/>
                                          </p:val>
                                        </p:tav>
                                        <p:tav tm="100000">
                                          <p:val>
                                            <p:strVal val="#ppt_w"/>
                                          </p:val>
                                        </p:tav>
                                      </p:tavLst>
                                    </p:anim>
                                    <p:anim calcmode="lin" valueType="num">
                                      <p:cBhvr additive="base">
                                        <p:cTn id="46" dur="500" fill="hold"/>
                                        <p:tgtEl>
                                          <p:spTgt spid="15"/>
                                        </p:tgtEl>
                                        <p:attrNameLst>
                                          <p:attrName>ppt_h</p:attrName>
                                        </p:attrNameLst>
                                      </p:cBhvr>
                                      <p:tavLst>
                                        <p:tav tm="0">
                                          <p:val>
                                            <p:fltVal val="0"/>
                                          </p:val>
                                        </p:tav>
                                        <p:tav tm="100000">
                                          <p:val>
                                            <p:strVal val="#ppt_h"/>
                                          </p:val>
                                        </p:tav>
                                      </p:tavLst>
                                    </p:anim>
                                    <p:animEffect transition="in" filter="fade">
                                      <p:cBhvr>
                                        <p:cTn id="47" dur="500"/>
                                        <p:tgtEl>
                                          <p:spTgt spid="15"/>
                                        </p:tgtEl>
                                      </p:cBhvr>
                                    </p:animEffect>
                                  </p:childTnLst>
                                </p:cTn>
                              </p:par>
                              <p:par>
                                <p:cTn id="48" presetID="10" presetClass="entr" presetSubtype="0" fill="hold" nodeType="withEffect">
                                  <p:stCondLst>
                                    <p:cond delay="140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500"/>
                                        <p:tgtEl>
                                          <p:spTgt spid="16"/>
                                        </p:tgtEl>
                                      </p:cBhvr>
                                    </p:animEffect>
                                  </p:childTnLst>
                                </p:cTn>
                              </p:par>
                              <p:par>
                                <p:cTn id="51" presetID="53" presetClass="entr" presetSubtype="16" fill="hold" nodeType="withEffect">
                                  <p:stCondLst>
                                    <p:cond delay="155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00" fill="hold"/>
                                        <p:tgtEl>
                                          <p:spTgt spid="17"/>
                                        </p:tgtEl>
                                        <p:attrNameLst>
                                          <p:attrName>ppt_w</p:attrName>
                                        </p:attrNameLst>
                                      </p:cBhvr>
                                      <p:tavLst>
                                        <p:tav tm="0">
                                          <p:val>
                                            <p:fltVal val="0"/>
                                          </p:val>
                                        </p:tav>
                                        <p:tav tm="100000">
                                          <p:val>
                                            <p:strVal val="#ppt_w"/>
                                          </p:val>
                                        </p:tav>
                                      </p:tavLst>
                                    </p:anim>
                                    <p:anim calcmode="lin" valueType="num">
                                      <p:cBhvr additive="base">
                                        <p:cTn id="54" dur="500" fill="hold"/>
                                        <p:tgtEl>
                                          <p:spTgt spid="17"/>
                                        </p:tgtEl>
                                        <p:attrNameLst>
                                          <p:attrName>ppt_h</p:attrName>
                                        </p:attrNameLst>
                                      </p:cBhvr>
                                      <p:tavLst>
                                        <p:tav tm="0">
                                          <p:val>
                                            <p:fltVal val="0"/>
                                          </p:val>
                                        </p:tav>
                                        <p:tav tm="100000">
                                          <p:val>
                                            <p:strVal val="#ppt_h"/>
                                          </p:val>
                                        </p:tav>
                                      </p:tavLst>
                                    </p:anim>
                                    <p:animEffect transition="in" filter="fade">
                                      <p:cBhvr>
                                        <p:cTn id="55" dur="500"/>
                                        <p:tgtEl>
                                          <p:spTgt spid="17"/>
                                        </p:tgtEl>
                                      </p:cBhvr>
                                    </p:animEffect>
                                  </p:childTnLst>
                                </p:cTn>
                              </p:par>
                              <p:par>
                                <p:cTn id="56" presetID="10" presetClass="entr" presetSubtype="0" fill="hold" nodeType="withEffect">
                                  <p:stCondLst>
                                    <p:cond delay="165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0" presetClass="path" presetSubtype="0" accel="50000" decel="50000" fill="hold" nodeType="clickEffect">
                                  <p:stCondLst>
                                    <p:cond delay="0"/>
                                  </p:stCondLst>
                                  <p:childTnLst>
                                    <p:animMotion origin="layout" path="M 0 0 L 0.345 0 E" pathEditMode="relative" rAng="0" ptsTypes="AA">
                                      <p:cBhvr>
                                        <p:cTn id="62" dur="3000" fill="hold"/>
                                        <p:tgtEl>
                                          <p:spTgt spid="19"/>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3" name="Image 0" descr="Abstract data artwork"/>
          <p:cNvPicPr>
            <a:picLocks noChangeAspect="1"/>
          </p:cNvPicPr>
          <p:nvPr/>
        </p:nvPicPr>
        <p:blipFill>
          <a:blip r:embed="rId3">
            <a:alphaModFix amt="30000"/>
          </a:blip>
          <a:srcRect/>
          <a:stretch/>
        </p:blipFill>
        <p:spPr>
          <a:xfrm>
            <a:off x="0" y="0"/>
            <a:ext cx="9144000" cy="5143500"/>
          </a:xfrm>
          <a:prstGeom prst="rect">
            <a:avLst/>
          </a:prstGeom>
        </p:spPr>
      </p:pic>
      <p:sp>
        <p:nvSpPr>
          <p:cNvPr id="4" name="!!title"/>
          <p:cNvSpPr txBox="1"/>
          <p:nvPr/>
        </p:nvSpPr>
        <p:spPr>
          <a:xfrm>
            <a:off x="731520" y="914400"/>
            <a:ext cx="7680960" cy="100584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Thank you</a:t>
            </a:r>
            <a:endParaRPr lang="en-US" sz="5400" dirty="0"/>
          </a:p>
        </p:txBody>
      </p:sp>
      <p:sp>
        <p:nvSpPr>
          <p:cNvPr id="5" name="!!subtitle"/>
          <p:cNvSpPr txBox="1"/>
          <p:nvPr/>
        </p:nvSpPr>
        <p:spPr>
          <a:xfrm>
            <a:off x="731520" y="1920240"/>
            <a:ext cx="7498080" cy="457200"/>
          </a:xfrm>
          <a:prstGeom prst="rect">
            <a:avLst/>
          </a:prstGeom>
          <a:noFill/>
          <a:ln/>
        </p:spPr>
        <p:txBody>
          <a:bodyPr wrap="square" lIns="0" tIns="0" rIns="0" bIns="0" rtlCol="0" anchor="t"/>
          <a:lstStyle/>
          <a:p>
            <a:pPr marL="0" indent="0">
              <a:buNone/>
            </a:pPr>
            <a:r>
              <a:rPr lang="en-US" sz="2200" dirty="0">
                <a:solidFill>
                  <a:srgbClr val="7FC4C4"/>
                </a:solidFill>
                <a:latin typeface="Calibri" pitchFamily="34" charset="0"/>
                <a:ea typeface="Calibri" pitchFamily="34" charset="-122"/>
                <a:cs typeface="Calibri" pitchFamily="34" charset="-120"/>
              </a:rPr>
              <a:t>Questions and discussion</a:t>
            </a:r>
            <a:endParaRPr lang="en-US" sz="2200" dirty="0"/>
          </a:p>
        </p:txBody>
      </p:sp>
      <p:sp>
        <p:nvSpPr>
          <p:cNvPr id="6" name="s24_card"/>
          <p:cNvSpPr/>
          <p:nvPr/>
        </p:nvSpPr>
        <p:spPr>
          <a:xfrm>
            <a:off x="731520" y="2743200"/>
            <a:ext cx="7680960" cy="1463040"/>
          </a:xfrm>
          <a:prstGeom prst="roundRect">
            <a:avLst>
              <a:gd name="adj" fmla="val 5000"/>
            </a:avLst>
          </a:prstGeom>
          <a:solidFill>
            <a:srgbClr val="0F2440"/>
          </a:solidFill>
          <a:ln w="9525">
            <a:solidFill>
              <a:srgbClr val="2E8B8B"/>
            </a:solidFill>
            <a:prstDash val="solid"/>
          </a:ln>
        </p:spPr>
      </p:sp>
      <p:sp>
        <p:nvSpPr>
          <p:cNvPr id="7" name="s24_c1"/>
          <p:cNvSpPr txBox="1"/>
          <p:nvPr/>
        </p:nvSpPr>
        <p:spPr>
          <a:xfrm>
            <a:off x="960120" y="2880360"/>
            <a:ext cx="3657600" cy="11887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Aniket Tayade</a:t>
            </a:r>
            <a:endParaRPr lang="en-US" sz="1400" dirty="0"/>
          </a:p>
          <a:p>
            <a:pPr marL="0" indent="0">
              <a:buNone/>
            </a:pPr>
            <a:r>
              <a:rPr lang="en-US" sz="1200" dirty="0">
                <a:solidFill>
                  <a:srgbClr val="B9C9DA"/>
                </a:solidFill>
                <a:latin typeface="Calibri" pitchFamily="34" charset="0"/>
                <a:ea typeface="Calibri" pitchFamily="34" charset="-122"/>
                <a:cs typeface="Calibri" pitchFamily="34" charset="-120"/>
              </a:rPr>
              <a:t>M.Sc. Computer Science · MIT Arts, Commerce and Science College, Pune</a:t>
            </a:r>
            <a:endParaRPr lang="en-US" sz="1400" dirty="0"/>
          </a:p>
        </p:txBody>
      </p:sp>
      <p:sp>
        <p:nvSpPr>
          <p:cNvPr id="8" name="s24_c2"/>
          <p:cNvSpPr txBox="1"/>
          <p:nvPr/>
        </p:nvSpPr>
        <p:spPr>
          <a:xfrm>
            <a:off x="5257800" y="2880360"/>
            <a:ext cx="3520440" cy="1188720"/>
          </a:xfrm>
          <a:prstGeom prst="rect">
            <a:avLst/>
          </a:prstGeom>
          <a:noFill/>
          <a:ln/>
        </p:spPr>
        <p:txBody>
          <a:bodyPr wrap="square" lIns="0" tIns="0" rIns="0" bIns="0" rtlCol="0" anchor="ctr"/>
          <a:lstStyle/>
          <a:p>
            <a:pPr marL="0" indent="0">
              <a:spcAft>
                <a:spcPts val="400"/>
              </a:spcAft>
              <a:buNone/>
            </a:pPr>
            <a:r>
              <a:rPr lang="en-US" sz="1300" dirty="0">
                <a:solidFill>
                  <a:srgbClr val="FFFFFF"/>
                </a:solidFill>
                <a:latin typeface="Calibri" pitchFamily="34" charset="0"/>
                <a:ea typeface="Calibri" pitchFamily="34" charset="-122"/>
                <a:cs typeface="Calibri" pitchFamily="34" charset="-120"/>
              </a:rPr>
              <a:t>tayadeanni@gmail.com</a:t>
            </a:r>
            <a:endParaRPr lang="en-US" sz="1300" dirty="0"/>
          </a:p>
          <a:p>
            <a:pPr marL="0" indent="0">
              <a:spcAft>
                <a:spcPts val="400"/>
              </a:spcAft>
              <a:buNone/>
            </a:pPr>
            <a:r>
              <a:rPr lang="en-US" sz="1300" dirty="0">
                <a:solidFill>
                  <a:srgbClr val="FFFFFF"/>
                </a:solidFill>
                <a:latin typeface="Calibri" pitchFamily="34" charset="0"/>
                <a:ea typeface="Calibri" pitchFamily="34" charset="-122"/>
                <a:cs typeface="Calibri" pitchFamily="34" charset="-120"/>
              </a:rPr>
              <a:t>aniket-tayade-nine.vercel.app</a:t>
            </a:r>
            <a:endParaRPr lang="en-US" sz="1300" dirty="0"/>
          </a:p>
          <a:p>
            <a:pPr marL="0" indent="0">
              <a:spcAft>
                <a:spcPts val="400"/>
              </a:spcAft>
              <a:buNone/>
            </a:pPr>
            <a:r>
              <a:rPr lang="en-US" sz="1300" dirty="0">
                <a:solidFill>
                  <a:srgbClr val="FFFFFF"/>
                </a:solidFill>
                <a:latin typeface="Calibri" pitchFamily="34" charset="0"/>
                <a:ea typeface="Calibri" pitchFamily="34" charset="-122"/>
                <a:cs typeface="Calibri" pitchFamily="34" charset="-120"/>
              </a:rPr>
              <a:t>LinkedIn / GitHub: aniket-tayade</a:t>
            </a:r>
            <a:endParaRPr lang="en-US" sz="1300" dirty="0"/>
          </a:p>
        </p:txBody>
      </p:sp>
      <p:sp>
        <p:nvSpPr>
          <p:cNvPr id="25" name="Slide Number Placeholder 0"/>
          <p:cNvSpPr>
            <a:spLocks noGrp="1"/>
          </p:cNvSpPr>
          <p:nvPr>
            <p:ph type="sldNum" sz="quarter" idx="4294967295"/>
          </p:nvPr>
        </p:nvSpPr>
        <p:spPr>
          <a:xfrm>
            <a:off x="8229600" y="4846320"/>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rgbClr val="9FB4CC"/>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600" fill="hold"/>
                                        <p:tgtEl>
                                          <p:spTgt spid="4"/>
                                        </p:tgtEl>
                                        <p:attrNameLst>
                                          <p:attrName>ppt_w</p:attrName>
                                        </p:attrNameLst>
                                      </p:cBhvr>
                                      <p:tavLst>
                                        <p:tav tm="0">
                                          <p:val>
                                            <p:fltVal val="0"/>
                                          </p:val>
                                        </p:tav>
                                        <p:tav tm="100000">
                                          <p:val>
                                            <p:strVal val="#ppt_w"/>
                                          </p:val>
                                        </p:tav>
                                      </p:tavLst>
                                    </p:anim>
                                    <p:anim calcmode="lin" valueType="num">
                                      <p:cBhvr additive="base">
                                        <p:cTn id="8" dur="600" fill="hold"/>
                                        <p:tgtEl>
                                          <p:spTgt spid="4"/>
                                        </p:tgtEl>
                                        <p:attrNameLst>
                                          <p:attrName>ppt_h</p:attrName>
                                        </p:attrNameLst>
                                      </p:cBhvr>
                                      <p:tavLst>
                                        <p:tav tm="0">
                                          <p:val>
                                            <p:fltVal val="0"/>
                                          </p:val>
                                        </p:tav>
                                        <p:tav tm="100000">
                                          <p:val>
                                            <p:strVal val="#ppt_h"/>
                                          </p:val>
                                        </p:tav>
                                      </p:tavLst>
                                    </p:anim>
                                    <p:animEffect transition="in" filter="fade">
                                      <p:cBhvr>
                                        <p:cTn id="9" dur="600"/>
                                        <p:tgtEl>
                                          <p:spTgt spid="4"/>
                                        </p:tgtEl>
                                      </p:cBhvr>
                                    </p:animEffect>
                                  </p:childTnLst>
                                </p:cTn>
                              </p:par>
                              <p:par>
                                <p:cTn id="10" presetID="10" presetClass="entr" presetSubtype="0" fill="hold" nodeType="withEffect">
                                  <p:stCondLst>
                                    <p:cond delay="5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nodeType="withEffect">
                                  <p:stCondLst>
                                    <p:cond delay="9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10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nodeType="withEffect">
                                  <p:stCondLst>
                                    <p:cond delay="120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3463</Words>
  <Application>Microsoft Office PowerPoint</Application>
  <PresentationFormat>On-screen Show (16:9)</PresentationFormat>
  <Paragraphs>531</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Indian Road Accident Severity Prediction</dc:title>
  <dc:subject>Machine Learning project: academic presentation</dc:subject>
  <dc:creator>Aniket Tayade</dc:creator>
  <cp:lastModifiedBy>Windows User</cp:lastModifiedBy>
  <cp:revision>4</cp:revision>
  <dcterms:created xsi:type="dcterms:W3CDTF">2026-09-21T09:19:07Z</dcterms:created>
  <dcterms:modified xsi:type="dcterms:W3CDTF">2026-09-27T17:41:08Z</dcterms:modified>
</cp:coreProperties>
</file>